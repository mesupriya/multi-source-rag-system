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89289" autoAdjust="0"/>
  </p:normalViewPr>
  <p:slideViewPr>
    <p:cSldViewPr snapToGrid="0">
      <p:cViewPr varScale="1">
        <p:scale>
          <a:sx n="66" d="100"/>
          <a:sy n="66" d="100"/>
        </p:scale>
        <p:origin x="5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E93452-1CE2-4F26-AB59-080758C5EE8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B7E49A5-A456-4D41-BB58-70961B3B6642}">
      <dgm:prSet/>
      <dgm:spPr/>
      <dgm:t>
        <a:bodyPr/>
        <a:lstStyle/>
        <a:p>
          <a:r>
            <a:rPr lang="en-US" b="1"/>
            <a:t>About the Dataset</a:t>
          </a:r>
          <a:endParaRPr lang="en-US"/>
        </a:p>
      </dgm:t>
    </dgm:pt>
    <dgm:pt modelId="{22B185DF-76B9-4424-8ED3-CE727DD78AE3}" type="parTrans" cxnId="{F8FF4C87-D4DB-4349-A35F-EE3F638669B9}">
      <dgm:prSet/>
      <dgm:spPr/>
      <dgm:t>
        <a:bodyPr/>
        <a:lstStyle/>
        <a:p>
          <a:endParaRPr lang="en-US"/>
        </a:p>
      </dgm:t>
    </dgm:pt>
    <dgm:pt modelId="{FD0FA48D-9530-41D1-A462-E333414C1719}" type="sibTrans" cxnId="{F8FF4C87-D4DB-4349-A35F-EE3F638669B9}">
      <dgm:prSet/>
      <dgm:spPr/>
      <dgm:t>
        <a:bodyPr/>
        <a:lstStyle/>
        <a:p>
          <a:endParaRPr lang="en-US"/>
        </a:p>
      </dgm:t>
    </dgm:pt>
    <dgm:pt modelId="{3349BC32-3685-44B1-995C-63C240FB2DB6}">
      <dgm:prSet/>
      <dgm:spPr/>
      <dgm:t>
        <a:bodyPr/>
        <a:lstStyle/>
        <a:p>
          <a:r>
            <a:rPr lang="en-US" b="1"/>
            <a:t>Source:</a:t>
          </a:r>
          <a:r>
            <a:rPr lang="en-US"/>
            <a:t> </a:t>
          </a:r>
          <a:r>
            <a:rPr lang="en-US" i="1"/>
            <a:t>The Mahabharata</a:t>
          </a:r>
          <a:r>
            <a:rPr lang="en-US"/>
            <a:t> – English translation used for analysisSource: sacred-texts.com-</a:t>
          </a:r>
        </a:p>
      </dgm:t>
    </dgm:pt>
    <dgm:pt modelId="{CD6946B3-AF03-4D04-9496-919DC33A0EF2}" type="parTrans" cxnId="{55CFED74-2CAC-4324-8182-EF40E5E7FD8F}">
      <dgm:prSet/>
      <dgm:spPr/>
      <dgm:t>
        <a:bodyPr/>
        <a:lstStyle/>
        <a:p>
          <a:endParaRPr lang="en-US"/>
        </a:p>
      </dgm:t>
    </dgm:pt>
    <dgm:pt modelId="{9B08A3AC-DF82-4FAA-AAC8-41252FCEE53E}" type="sibTrans" cxnId="{55CFED74-2CAC-4324-8182-EF40E5E7FD8F}">
      <dgm:prSet/>
      <dgm:spPr/>
      <dgm:t>
        <a:bodyPr/>
        <a:lstStyle/>
        <a:p>
          <a:endParaRPr lang="en-US"/>
        </a:p>
      </dgm:t>
    </dgm:pt>
    <dgm:pt modelId="{F9E000BE-1767-4DBD-B7B8-D7A9B00B4BD6}">
      <dgm:prSet/>
      <dgm:spPr/>
      <dgm:t>
        <a:bodyPr/>
        <a:lstStyle/>
        <a:p>
          <a:r>
            <a:rPr lang="en-US" b="1"/>
            <a:t>Total Verses:</a:t>
          </a:r>
          <a:r>
            <a:rPr lang="en-US"/>
            <a:t> 14,388</a:t>
          </a:r>
        </a:p>
      </dgm:t>
    </dgm:pt>
    <dgm:pt modelId="{88F1BDCC-7BA1-4704-B849-A546D150B622}" type="parTrans" cxnId="{54504BF9-4020-450C-9BFF-CCBE3CE80104}">
      <dgm:prSet/>
      <dgm:spPr/>
      <dgm:t>
        <a:bodyPr/>
        <a:lstStyle/>
        <a:p>
          <a:endParaRPr lang="en-US"/>
        </a:p>
      </dgm:t>
    </dgm:pt>
    <dgm:pt modelId="{3BD9C68F-891F-46B1-9389-CF6D0A90F017}" type="sibTrans" cxnId="{54504BF9-4020-450C-9BFF-CCBE3CE80104}">
      <dgm:prSet/>
      <dgm:spPr/>
      <dgm:t>
        <a:bodyPr/>
        <a:lstStyle/>
        <a:p>
          <a:endParaRPr lang="en-US"/>
        </a:p>
      </dgm:t>
    </dgm:pt>
    <dgm:pt modelId="{A39CFA5A-F1D1-44F8-A6D5-49CA46789C0A}">
      <dgm:prSet/>
      <dgm:spPr/>
      <dgm:t>
        <a:bodyPr/>
        <a:lstStyle/>
        <a:p>
          <a:r>
            <a:rPr lang="en-US" b="1"/>
            <a:t>Structure:</a:t>
          </a:r>
          <a:r>
            <a:rPr lang="en-US"/>
            <a:t> Divided into </a:t>
          </a:r>
          <a:r>
            <a:rPr lang="en-US" b="1"/>
            <a:t>18 Parvas (Books)</a:t>
          </a:r>
          <a:r>
            <a:rPr lang="en-US"/>
            <a:t>, each containing chapters and sub-sections</a:t>
          </a:r>
        </a:p>
      </dgm:t>
    </dgm:pt>
    <dgm:pt modelId="{F3CB4FC5-C143-4BAF-9680-63A331AD7556}" type="parTrans" cxnId="{FA703863-1E45-44C2-89F0-B6AA07B45BB1}">
      <dgm:prSet/>
      <dgm:spPr/>
      <dgm:t>
        <a:bodyPr/>
        <a:lstStyle/>
        <a:p>
          <a:endParaRPr lang="en-US"/>
        </a:p>
      </dgm:t>
    </dgm:pt>
    <dgm:pt modelId="{B49B5576-60DE-4839-B789-F593347B6985}" type="sibTrans" cxnId="{FA703863-1E45-44C2-89F0-B6AA07B45BB1}">
      <dgm:prSet/>
      <dgm:spPr/>
      <dgm:t>
        <a:bodyPr/>
        <a:lstStyle/>
        <a:p>
          <a:endParaRPr lang="en-US"/>
        </a:p>
      </dgm:t>
    </dgm:pt>
    <dgm:pt modelId="{41094334-1C88-4FE5-8454-DD0554FE3024}">
      <dgm:prSet/>
      <dgm:spPr/>
      <dgm:t>
        <a:bodyPr/>
        <a:lstStyle/>
        <a:p>
          <a:r>
            <a:rPr lang="en-US" b="1"/>
            <a:t>Document Count:</a:t>
          </a:r>
          <a:r>
            <a:rPr lang="en-US"/>
            <a:t> 1,574 text files created from the verses</a:t>
          </a:r>
        </a:p>
      </dgm:t>
    </dgm:pt>
    <dgm:pt modelId="{43D7817A-0F11-44B7-A3B0-926E21467463}" type="parTrans" cxnId="{349C7C6D-8661-4155-98D5-C5F140A146D5}">
      <dgm:prSet/>
      <dgm:spPr/>
      <dgm:t>
        <a:bodyPr/>
        <a:lstStyle/>
        <a:p>
          <a:endParaRPr lang="en-US"/>
        </a:p>
      </dgm:t>
    </dgm:pt>
    <dgm:pt modelId="{F11154A7-0F7B-475C-8EE5-6D453A3DE81A}" type="sibTrans" cxnId="{349C7C6D-8661-4155-98D5-C5F140A146D5}">
      <dgm:prSet/>
      <dgm:spPr/>
      <dgm:t>
        <a:bodyPr/>
        <a:lstStyle/>
        <a:p>
          <a:endParaRPr lang="en-US"/>
        </a:p>
      </dgm:t>
    </dgm:pt>
    <dgm:pt modelId="{0A340A7E-F806-4678-BCCF-C15F45051646}">
      <dgm:prSet/>
      <dgm:spPr/>
      <dgm:t>
        <a:bodyPr/>
        <a:lstStyle/>
        <a:p>
          <a:r>
            <a:rPr lang="en-US" b="1"/>
            <a:t>Word Count:</a:t>
          </a:r>
          <a:r>
            <a:rPr lang="en-US"/>
            <a:t> ~1.8 million words</a:t>
          </a:r>
        </a:p>
      </dgm:t>
    </dgm:pt>
    <dgm:pt modelId="{6134D3C7-E892-4E6D-AF93-57301EA149F6}" type="parTrans" cxnId="{EEAC2BCC-3B87-45EE-ADE9-7F09EC073B04}">
      <dgm:prSet/>
      <dgm:spPr/>
      <dgm:t>
        <a:bodyPr/>
        <a:lstStyle/>
        <a:p>
          <a:endParaRPr lang="en-US"/>
        </a:p>
      </dgm:t>
    </dgm:pt>
    <dgm:pt modelId="{1509C367-70AB-439E-A3A3-4A4171552260}" type="sibTrans" cxnId="{EEAC2BCC-3B87-45EE-ADE9-7F09EC073B04}">
      <dgm:prSet/>
      <dgm:spPr/>
      <dgm:t>
        <a:bodyPr/>
        <a:lstStyle/>
        <a:p>
          <a:endParaRPr lang="en-US"/>
        </a:p>
      </dgm:t>
    </dgm:pt>
    <dgm:pt modelId="{FB4899FC-C864-4073-8E65-F21F3BD3D8C7}" type="pres">
      <dgm:prSet presAssocID="{37E93452-1CE2-4F26-AB59-080758C5EE85}" presName="root" presStyleCnt="0">
        <dgm:presLayoutVars>
          <dgm:dir/>
          <dgm:resizeHandles val="exact"/>
        </dgm:presLayoutVars>
      </dgm:prSet>
      <dgm:spPr/>
    </dgm:pt>
    <dgm:pt modelId="{5E03808A-E845-410D-A614-BDA9B5D17BFA}" type="pres">
      <dgm:prSet presAssocID="{2B7E49A5-A456-4D41-BB58-70961B3B6642}" presName="compNode" presStyleCnt="0"/>
      <dgm:spPr/>
    </dgm:pt>
    <dgm:pt modelId="{A7AB3249-37B9-416F-905A-E11C457BBAAD}" type="pres">
      <dgm:prSet presAssocID="{2B7E49A5-A456-4D41-BB58-70961B3B6642}" presName="bgRect" presStyleLbl="bgShp" presStyleIdx="0" presStyleCnt="6"/>
      <dgm:spPr/>
    </dgm:pt>
    <dgm:pt modelId="{9F6729E7-3235-45E0-A56B-05DFAC0F9EF4}" type="pres">
      <dgm:prSet presAssocID="{2B7E49A5-A456-4D41-BB58-70961B3B6642}"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4C7BAB4C-5C29-4DE6-81C7-224F409ECC7F}" type="pres">
      <dgm:prSet presAssocID="{2B7E49A5-A456-4D41-BB58-70961B3B6642}" presName="spaceRect" presStyleCnt="0"/>
      <dgm:spPr/>
    </dgm:pt>
    <dgm:pt modelId="{4D1FE38D-A030-4DCB-9752-61C1CFFEE65F}" type="pres">
      <dgm:prSet presAssocID="{2B7E49A5-A456-4D41-BB58-70961B3B6642}" presName="parTx" presStyleLbl="revTx" presStyleIdx="0" presStyleCnt="6">
        <dgm:presLayoutVars>
          <dgm:chMax val="0"/>
          <dgm:chPref val="0"/>
        </dgm:presLayoutVars>
      </dgm:prSet>
      <dgm:spPr/>
    </dgm:pt>
    <dgm:pt modelId="{4BE3494A-B78E-453E-9CFD-BEF34AD9844B}" type="pres">
      <dgm:prSet presAssocID="{FD0FA48D-9530-41D1-A462-E333414C1719}" presName="sibTrans" presStyleCnt="0"/>
      <dgm:spPr/>
    </dgm:pt>
    <dgm:pt modelId="{796E6F16-A2F4-45F6-BC29-A6D319CDBFD9}" type="pres">
      <dgm:prSet presAssocID="{3349BC32-3685-44B1-995C-63C240FB2DB6}" presName="compNode" presStyleCnt="0"/>
      <dgm:spPr/>
    </dgm:pt>
    <dgm:pt modelId="{34C81B8C-447A-4F98-A87C-34829083191D}" type="pres">
      <dgm:prSet presAssocID="{3349BC32-3685-44B1-995C-63C240FB2DB6}" presName="bgRect" presStyleLbl="bgShp" presStyleIdx="1" presStyleCnt="6"/>
      <dgm:spPr/>
    </dgm:pt>
    <dgm:pt modelId="{CCBFE7FC-78A7-4CDE-A46C-89C95D78054B}" type="pres">
      <dgm:prSet presAssocID="{3349BC32-3685-44B1-995C-63C240FB2DB6}"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stle scene"/>
        </a:ext>
      </dgm:extLst>
    </dgm:pt>
    <dgm:pt modelId="{584040DE-8A60-4BE3-A10C-BDC81246EA32}" type="pres">
      <dgm:prSet presAssocID="{3349BC32-3685-44B1-995C-63C240FB2DB6}" presName="spaceRect" presStyleCnt="0"/>
      <dgm:spPr/>
    </dgm:pt>
    <dgm:pt modelId="{5D34100A-429A-44E4-91EA-5F71DA46488A}" type="pres">
      <dgm:prSet presAssocID="{3349BC32-3685-44B1-995C-63C240FB2DB6}" presName="parTx" presStyleLbl="revTx" presStyleIdx="1" presStyleCnt="6">
        <dgm:presLayoutVars>
          <dgm:chMax val="0"/>
          <dgm:chPref val="0"/>
        </dgm:presLayoutVars>
      </dgm:prSet>
      <dgm:spPr/>
    </dgm:pt>
    <dgm:pt modelId="{0F49FD27-054A-49E2-B964-332A3DC29F06}" type="pres">
      <dgm:prSet presAssocID="{9B08A3AC-DF82-4FAA-AAC8-41252FCEE53E}" presName="sibTrans" presStyleCnt="0"/>
      <dgm:spPr/>
    </dgm:pt>
    <dgm:pt modelId="{60405985-CB6B-49B5-8745-C1B771FD0D80}" type="pres">
      <dgm:prSet presAssocID="{F9E000BE-1767-4DBD-B7B8-D7A9B00B4BD6}" presName="compNode" presStyleCnt="0"/>
      <dgm:spPr/>
    </dgm:pt>
    <dgm:pt modelId="{81DC2B2B-F6CA-4304-A479-C01F6D670124}" type="pres">
      <dgm:prSet presAssocID="{F9E000BE-1767-4DBD-B7B8-D7A9B00B4BD6}" presName="bgRect" presStyleLbl="bgShp" presStyleIdx="2" presStyleCnt="6"/>
      <dgm:spPr/>
    </dgm:pt>
    <dgm:pt modelId="{426DD545-8D78-4F78-879B-39A0E0F9243C}" type="pres">
      <dgm:prSet presAssocID="{F9E000BE-1767-4DBD-B7B8-D7A9B00B4BD6}"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Quotes"/>
        </a:ext>
      </dgm:extLst>
    </dgm:pt>
    <dgm:pt modelId="{4AF40C98-8733-4475-8225-E57B5602A693}" type="pres">
      <dgm:prSet presAssocID="{F9E000BE-1767-4DBD-B7B8-D7A9B00B4BD6}" presName="spaceRect" presStyleCnt="0"/>
      <dgm:spPr/>
    </dgm:pt>
    <dgm:pt modelId="{1499C02E-445D-4EFC-B902-DA63E157A9E3}" type="pres">
      <dgm:prSet presAssocID="{F9E000BE-1767-4DBD-B7B8-D7A9B00B4BD6}" presName="parTx" presStyleLbl="revTx" presStyleIdx="2" presStyleCnt="6">
        <dgm:presLayoutVars>
          <dgm:chMax val="0"/>
          <dgm:chPref val="0"/>
        </dgm:presLayoutVars>
      </dgm:prSet>
      <dgm:spPr/>
    </dgm:pt>
    <dgm:pt modelId="{26C88632-4DD7-43DB-83AC-EB65525A1D8E}" type="pres">
      <dgm:prSet presAssocID="{3BD9C68F-891F-46B1-9389-CF6D0A90F017}" presName="sibTrans" presStyleCnt="0"/>
      <dgm:spPr/>
    </dgm:pt>
    <dgm:pt modelId="{D672AFC4-289A-405A-8102-29ABECE95AB7}" type="pres">
      <dgm:prSet presAssocID="{A39CFA5A-F1D1-44F8-A6D5-49CA46789C0A}" presName="compNode" presStyleCnt="0"/>
      <dgm:spPr/>
    </dgm:pt>
    <dgm:pt modelId="{2554BE5B-5723-454F-A818-009C2B7668E3}" type="pres">
      <dgm:prSet presAssocID="{A39CFA5A-F1D1-44F8-A6D5-49CA46789C0A}" presName="bgRect" presStyleLbl="bgShp" presStyleIdx="3" presStyleCnt="6"/>
      <dgm:spPr/>
    </dgm:pt>
    <dgm:pt modelId="{C144B2B9-6732-47B5-892F-64FEEBC85E32}" type="pres">
      <dgm:prSet presAssocID="{A39CFA5A-F1D1-44F8-A6D5-49CA46789C0A}"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52C31379-697E-454F-AE6B-6EEFFD8F9AD0}" type="pres">
      <dgm:prSet presAssocID="{A39CFA5A-F1D1-44F8-A6D5-49CA46789C0A}" presName="spaceRect" presStyleCnt="0"/>
      <dgm:spPr/>
    </dgm:pt>
    <dgm:pt modelId="{0A93328D-2866-4F55-ACE8-1E15594E9E11}" type="pres">
      <dgm:prSet presAssocID="{A39CFA5A-F1D1-44F8-A6D5-49CA46789C0A}" presName="parTx" presStyleLbl="revTx" presStyleIdx="3" presStyleCnt="6">
        <dgm:presLayoutVars>
          <dgm:chMax val="0"/>
          <dgm:chPref val="0"/>
        </dgm:presLayoutVars>
      </dgm:prSet>
      <dgm:spPr/>
    </dgm:pt>
    <dgm:pt modelId="{FFD340FB-5BDB-4D3D-AEDA-E96FB0740D44}" type="pres">
      <dgm:prSet presAssocID="{B49B5576-60DE-4839-B789-F593347B6985}" presName="sibTrans" presStyleCnt="0"/>
      <dgm:spPr/>
    </dgm:pt>
    <dgm:pt modelId="{EC327CC2-29B0-4D5F-A4E3-593684320046}" type="pres">
      <dgm:prSet presAssocID="{41094334-1C88-4FE5-8454-DD0554FE3024}" presName="compNode" presStyleCnt="0"/>
      <dgm:spPr/>
    </dgm:pt>
    <dgm:pt modelId="{26EE18DC-05CA-4F60-8FC0-62CC90B98739}" type="pres">
      <dgm:prSet presAssocID="{41094334-1C88-4FE5-8454-DD0554FE3024}" presName="bgRect" presStyleLbl="bgShp" presStyleIdx="4" presStyleCnt="6"/>
      <dgm:spPr/>
    </dgm:pt>
    <dgm:pt modelId="{CA759B64-BFCC-42F7-968C-E08E32B6F19C}" type="pres">
      <dgm:prSet presAssocID="{41094334-1C88-4FE5-8454-DD0554FE3024}"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E4DCD28E-23D7-4408-9A7C-0CE09CF026E8}" type="pres">
      <dgm:prSet presAssocID="{41094334-1C88-4FE5-8454-DD0554FE3024}" presName="spaceRect" presStyleCnt="0"/>
      <dgm:spPr/>
    </dgm:pt>
    <dgm:pt modelId="{E55E97D2-17B2-48A3-A822-67A0148BD139}" type="pres">
      <dgm:prSet presAssocID="{41094334-1C88-4FE5-8454-DD0554FE3024}" presName="parTx" presStyleLbl="revTx" presStyleIdx="4" presStyleCnt="6">
        <dgm:presLayoutVars>
          <dgm:chMax val="0"/>
          <dgm:chPref val="0"/>
        </dgm:presLayoutVars>
      </dgm:prSet>
      <dgm:spPr/>
    </dgm:pt>
    <dgm:pt modelId="{2A190AD1-174C-4D5F-8411-CB5048311FB3}" type="pres">
      <dgm:prSet presAssocID="{F11154A7-0F7B-475C-8EE5-6D453A3DE81A}" presName="sibTrans" presStyleCnt="0"/>
      <dgm:spPr/>
    </dgm:pt>
    <dgm:pt modelId="{B2B24218-1757-4FF5-9140-44ADD0F4E74E}" type="pres">
      <dgm:prSet presAssocID="{0A340A7E-F806-4678-BCCF-C15F45051646}" presName="compNode" presStyleCnt="0"/>
      <dgm:spPr/>
    </dgm:pt>
    <dgm:pt modelId="{5341B274-195F-4BB6-A6A7-C38F81D5ECD1}" type="pres">
      <dgm:prSet presAssocID="{0A340A7E-F806-4678-BCCF-C15F45051646}" presName="bgRect" presStyleLbl="bgShp" presStyleIdx="5" presStyleCnt="6"/>
      <dgm:spPr/>
    </dgm:pt>
    <dgm:pt modelId="{69AFF7DE-04F8-4427-A8D2-69EDA1D2842D}" type="pres">
      <dgm:prSet presAssocID="{0A340A7E-F806-4678-BCCF-C15F45051646}"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Book"/>
        </a:ext>
      </dgm:extLst>
    </dgm:pt>
    <dgm:pt modelId="{F4F41BB1-DEB0-4CFA-B6D3-E8CE817B3069}" type="pres">
      <dgm:prSet presAssocID="{0A340A7E-F806-4678-BCCF-C15F45051646}" presName="spaceRect" presStyleCnt="0"/>
      <dgm:spPr/>
    </dgm:pt>
    <dgm:pt modelId="{A3EF096C-6FEB-480B-BEB4-59B99428B40B}" type="pres">
      <dgm:prSet presAssocID="{0A340A7E-F806-4678-BCCF-C15F45051646}" presName="parTx" presStyleLbl="revTx" presStyleIdx="5" presStyleCnt="6">
        <dgm:presLayoutVars>
          <dgm:chMax val="0"/>
          <dgm:chPref val="0"/>
        </dgm:presLayoutVars>
      </dgm:prSet>
      <dgm:spPr/>
    </dgm:pt>
  </dgm:ptLst>
  <dgm:cxnLst>
    <dgm:cxn modelId="{B3004D11-BF3C-4206-8BAD-6F071C1A3B44}" type="presOf" srcId="{3349BC32-3685-44B1-995C-63C240FB2DB6}" destId="{5D34100A-429A-44E4-91EA-5F71DA46488A}" srcOrd="0" destOrd="0" presId="urn:microsoft.com/office/officeart/2018/2/layout/IconVerticalSolidList"/>
    <dgm:cxn modelId="{9851A141-E5DF-44A5-8DBD-D134DA3285DE}" type="presOf" srcId="{37E93452-1CE2-4F26-AB59-080758C5EE85}" destId="{FB4899FC-C864-4073-8E65-F21F3BD3D8C7}" srcOrd="0" destOrd="0" presId="urn:microsoft.com/office/officeart/2018/2/layout/IconVerticalSolidList"/>
    <dgm:cxn modelId="{FA703863-1E45-44C2-89F0-B6AA07B45BB1}" srcId="{37E93452-1CE2-4F26-AB59-080758C5EE85}" destId="{A39CFA5A-F1D1-44F8-A6D5-49CA46789C0A}" srcOrd="3" destOrd="0" parTransId="{F3CB4FC5-C143-4BAF-9680-63A331AD7556}" sibTransId="{B49B5576-60DE-4839-B789-F593347B6985}"/>
    <dgm:cxn modelId="{349C7C6D-8661-4155-98D5-C5F140A146D5}" srcId="{37E93452-1CE2-4F26-AB59-080758C5EE85}" destId="{41094334-1C88-4FE5-8454-DD0554FE3024}" srcOrd="4" destOrd="0" parTransId="{43D7817A-0F11-44B7-A3B0-926E21467463}" sibTransId="{F11154A7-0F7B-475C-8EE5-6D453A3DE81A}"/>
    <dgm:cxn modelId="{55CFED74-2CAC-4324-8182-EF40E5E7FD8F}" srcId="{37E93452-1CE2-4F26-AB59-080758C5EE85}" destId="{3349BC32-3685-44B1-995C-63C240FB2DB6}" srcOrd="1" destOrd="0" parTransId="{CD6946B3-AF03-4D04-9496-919DC33A0EF2}" sibTransId="{9B08A3AC-DF82-4FAA-AAC8-41252FCEE53E}"/>
    <dgm:cxn modelId="{C159127B-DE63-4A40-8AB6-01EC979BCD7D}" type="presOf" srcId="{0A340A7E-F806-4678-BCCF-C15F45051646}" destId="{A3EF096C-6FEB-480B-BEB4-59B99428B40B}" srcOrd="0" destOrd="0" presId="urn:microsoft.com/office/officeart/2018/2/layout/IconVerticalSolidList"/>
    <dgm:cxn modelId="{FBBEED7C-F885-4A4D-BADF-E77128FEB777}" type="presOf" srcId="{F9E000BE-1767-4DBD-B7B8-D7A9B00B4BD6}" destId="{1499C02E-445D-4EFC-B902-DA63E157A9E3}" srcOrd="0" destOrd="0" presId="urn:microsoft.com/office/officeart/2018/2/layout/IconVerticalSolidList"/>
    <dgm:cxn modelId="{F8FF4C87-D4DB-4349-A35F-EE3F638669B9}" srcId="{37E93452-1CE2-4F26-AB59-080758C5EE85}" destId="{2B7E49A5-A456-4D41-BB58-70961B3B6642}" srcOrd="0" destOrd="0" parTransId="{22B185DF-76B9-4424-8ED3-CE727DD78AE3}" sibTransId="{FD0FA48D-9530-41D1-A462-E333414C1719}"/>
    <dgm:cxn modelId="{EEAC2BCC-3B87-45EE-ADE9-7F09EC073B04}" srcId="{37E93452-1CE2-4F26-AB59-080758C5EE85}" destId="{0A340A7E-F806-4678-BCCF-C15F45051646}" srcOrd="5" destOrd="0" parTransId="{6134D3C7-E892-4E6D-AF93-57301EA149F6}" sibTransId="{1509C367-70AB-439E-A3A3-4A4171552260}"/>
    <dgm:cxn modelId="{A2CAC6D3-40C8-40CD-9CB1-1D642CE6D47E}" type="presOf" srcId="{A39CFA5A-F1D1-44F8-A6D5-49CA46789C0A}" destId="{0A93328D-2866-4F55-ACE8-1E15594E9E11}" srcOrd="0" destOrd="0" presId="urn:microsoft.com/office/officeart/2018/2/layout/IconVerticalSolidList"/>
    <dgm:cxn modelId="{6E7360E9-47B3-4786-B5AA-A3BEADAA16BC}" type="presOf" srcId="{2B7E49A5-A456-4D41-BB58-70961B3B6642}" destId="{4D1FE38D-A030-4DCB-9752-61C1CFFEE65F}" srcOrd="0" destOrd="0" presId="urn:microsoft.com/office/officeart/2018/2/layout/IconVerticalSolidList"/>
    <dgm:cxn modelId="{606B7EF1-912C-4696-B340-4BF652907A35}" type="presOf" srcId="{41094334-1C88-4FE5-8454-DD0554FE3024}" destId="{E55E97D2-17B2-48A3-A822-67A0148BD139}" srcOrd="0" destOrd="0" presId="urn:microsoft.com/office/officeart/2018/2/layout/IconVerticalSolidList"/>
    <dgm:cxn modelId="{54504BF9-4020-450C-9BFF-CCBE3CE80104}" srcId="{37E93452-1CE2-4F26-AB59-080758C5EE85}" destId="{F9E000BE-1767-4DBD-B7B8-D7A9B00B4BD6}" srcOrd="2" destOrd="0" parTransId="{88F1BDCC-7BA1-4704-B849-A546D150B622}" sibTransId="{3BD9C68F-891F-46B1-9389-CF6D0A90F017}"/>
    <dgm:cxn modelId="{1E2F2149-3D2A-47BA-BA12-4D0A810747E9}" type="presParOf" srcId="{FB4899FC-C864-4073-8E65-F21F3BD3D8C7}" destId="{5E03808A-E845-410D-A614-BDA9B5D17BFA}" srcOrd="0" destOrd="0" presId="urn:microsoft.com/office/officeart/2018/2/layout/IconVerticalSolidList"/>
    <dgm:cxn modelId="{B88C1A58-66F8-4823-9D83-A947816D5BB2}" type="presParOf" srcId="{5E03808A-E845-410D-A614-BDA9B5D17BFA}" destId="{A7AB3249-37B9-416F-905A-E11C457BBAAD}" srcOrd="0" destOrd="0" presId="urn:microsoft.com/office/officeart/2018/2/layout/IconVerticalSolidList"/>
    <dgm:cxn modelId="{85A584FF-0446-408B-BCC3-DF4BA660009A}" type="presParOf" srcId="{5E03808A-E845-410D-A614-BDA9B5D17BFA}" destId="{9F6729E7-3235-45E0-A56B-05DFAC0F9EF4}" srcOrd="1" destOrd="0" presId="urn:microsoft.com/office/officeart/2018/2/layout/IconVerticalSolidList"/>
    <dgm:cxn modelId="{7122EC01-A428-4EF6-8A67-CD4D54146A49}" type="presParOf" srcId="{5E03808A-E845-410D-A614-BDA9B5D17BFA}" destId="{4C7BAB4C-5C29-4DE6-81C7-224F409ECC7F}" srcOrd="2" destOrd="0" presId="urn:microsoft.com/office/officeart/2018/2/layout/IconVerticalSolidList"/>
    <dgm:cxn modelId="{934B1932-3D9E-4270-AE82-50350BA6AF43}" type="presParOf" srcId="{5E03808A-E845-410D-A614-BDA9B5D17BFA}" destId="{4D1FE38D-A030-4DCB-9752-61C1CFFEE65F}" srcOrd="3" destOrd="0" presId="urn:microsoft.com/office/officeart/2018/2/layout/IconVerticalSolidList"/>
    <dgm:cxn modelId="{2BB70480-CC73-488A-93BE-9E4AF0E45994}" type="presParOf" srcId="{FB4899FC-C864-4073-8E65-F21F3BD3D8C7}" destId="{4BE3494A-B78E-453E-9CFD-BEF34AD9844B}" srcOrd="1" destOrd="0" presId="urn:microsoft.com/office/officeart/2018/2/layout/IconVerticalSolidList"/>
    <dgm:cxn modelId="{55D2A23F-3A9F-419D-98C0-8062C362EEDE}" type="presParOf" srcId="{FB4899FC-C864-4073-8E65-F21F3BD3D8C7}" destId="{796E6F16-A2F4-45F6-BC29-A6D319CDBFD9}" srcOrd="2" destOrd="0" presId="urn:microsoft.com/office/officeart/2018/2/layout/IconVerticalSolidList"/>
    <dgm:cxn modelId="{865A255F-DF8F-4F80-B4F4-287BA6AC3EC6}" type="presParOf" srcId="{796E6F16-A2F4-45F6-BC29-A6D319CDBFD9}" destId="{34C81B8C-447A-4F98-A87C-34829083191D}" srcOrd="0" destOrd="0" presId="urn:microsoft.com/office/officeart/2018/2/layout/IconVerticalSolidList"/>
    <dgm:cxn modelId="{AF642B3F-AFD9-48CB-BE3C-7BD401237DD5}" type="presParOf" srcId="{796E6F16-A2F4-45F6-BC29-A6D319CDBFD9}" destId="{CCBFE7FC-78A7-4CDE-A46C-89C95D78054B}" srcOrd="1" destOrd="0" presId="urn:microsoft.com/office/officeart/2018/2/layout/IconVerticalSolidList"/>
    <dgm:cxn modelId="{58385D6D-4041-408C-8B31-E9A4B58CF537}" type="presParOf" srcId="{796E6F16-A2F4-45F6-BC29-A6D319CDBFD9}" destId="{584040DE-8A60-4BE3-A10C-BDC81246EA32}" srcOrd="2" destOrd="0" presId="urn:microsoft.com/office/officeart/2018/2/layout/IconVerticalSolidList"/>
    <dgm:cxn modelId="{13E13246-2652-4BC3-A97D-9C1C5D618738}" type="presParOf" srcId="{796E6F16-A2F4-45F6-BC29-A6D319CDBFD9}" destId="{5D34100A-429A-44E4-91EA-5F71DA46488A}" srcOrd="3" destOrd="0" presId="urn:microsoft.com/office/officeart/2018/2/layout/IconVerticalSolidList"/>
    <dgm:cxn modelId="{6A1AA18D-BA94-4F39-9470-EB5604487C6A}" type="presParOf" srcId="{FB4899FC-C864-4073-8E65-F21F3BD3D8C7}" destId="{0F49FD27-054A-49E2-B964-332A3DC29F06}" srcOrd="3" destOrd="0" presId="urn:microsoft.com/office/officeart/2018/2/layout/IconVerticalSolidList"/>
    <dgm:cxn modelId="{2F76E8DD-FD89-4BDE-86CC-70A94B356FFC}" type="presParOf" srcId="{FB4899FC-C864-4073-8E65-F21F3BD3D8C7}" destId="{60405985-CB6B-49B5-8745-C1B771FD0D80}" srcOrd="4" destOrd="0" presId="urn:microsoft.com/office/officeart/2018/2/layout/IconVerticalSolidList"/>
    <dgm:cxn modelId="{20229628-B5A9-4DDB-BB34-38F5D28AD926}" type="presParOf" srcId="{60405985-CB6B-49B5-8745-C1B771FD0D80}" destId="{81DC2B2B-F6CA-4304-A479-C01F6D670124}" srcOrd="0" destOrd="0" presId="urn:microsoft.com/office/officeart/2018/2/layout/IconVerticalSolidList"/>
    <dgm:cxn modelId="{3B1E4D5C-2C0C-46D0-9C15-6EB2F70BD2AF}" type="presParOf" srcId="{60405985-CB6B-49B5-8745-C1B771FD0D80}" destId="{426DD545-8D78-4F78-879B-39A0E0F9243C}" srcOrd="1" destOrd="0" presId="urn:microsoft.com/office/officeart/2018/2/layout/IconVerticalSolidList"/>
    <dgm:cxn modelId="{9F1756CC-4258-475C-89B5-55FE4571BEEA}" type="presParOf" srcId="{60405985-CB6B-49B5-8745-C1B771FD0D80}" destId="{4AF40C98-8733-4475-8225-E57B5602A693}" srcOrd="2" destOrd="0" presId="urn:microsoft.com/office/officeart/2018/2/layout/IconVerticalSolidList"/>
    <dgm:cxn modelId="{738BAD8F-2DA9-4D02-8A41-215D484A07F7}" type="presParOf" srcId="{60405985-CB6B-49B5-8745-C1B771FD0D80}" destId="{1499C02E-445D-4EFC-B902-DA63E157A9E3}" srcOrd="3" destOrd="0" presId="urn:microsoft.com/office/officeart/2018/2/layout/IconVerticalSolidList"/>
    <dgm:cxn modelId="{32A4C0F6-3212-463B-9C53-9AE39692E553}" type="presParOf" srcId="{FB4899FC-C864-4073-8E65-F21F3BD3D8C7}" destId="{26C88632-4DD7-43DB-83AC-EB65525A1D8E}" srcOrd="5" destOrd="0" presId="urn:microsoft.com/office/officeart/2018/2/layout/IconVerticalSolidList"/>
    <dgm:cxn modelId="{8B0E1A3B-0DB8-4662-B036-A1A53C51DB67}" type="presParOf" srcId="{FB4899FC-C864-4073-8E65-F21F3BD3D8C7}" destId="{D672AFC4-289A-405A-8102-29ABECE95AB7}" srcOrd="6" destOrd="0" presId="urn:microsoft.com/office/officeart/2018/2/layout/IconVerticalSolidList"/>
    <dgm:cxn modelId="{824D485A-CF88-4876-816C-BB3EC0D8AB92}" type="presParOf" srcId="{D672AFC4-289A-405A-8102-29ABECE95AB7}" destId="{2554BE5B-5723-454F-A818-009C2B7668E3}" srcOrd="0" destOrd="0" presId="urn:microsoft.com/office/officeart/2018/2/layout/IconVerticalSolidList"/>
    <dgm:cxn modelId="{7668065F-6B7B-4362-AA54-E73674C71EF0}" type="presParOf" srcId="{D672AFC4-289A-405A-8102-29ABECE95AB7}" destId="{C144B2B9-6732-47B5-892F-64FEEBC85E32}" srcOrd="1" destOrd="0" presId="urn:microsoft.com/office/officeart/2018/2/layout/IconVerticalSolidList"/>
    <dgm:cxn modelId="{3A6495ED-5BF7-49EC-869E-67A0A6399092}" type="presParOf" srcId="{D672AFC4-289A-405A-8102-29ABECE95AB7}" destId="{52C31379-697E-454F-AE6B-6EEFFD8F9AD0}" srcOrd="2" destOrd="0" presId="urn:microsoft.com/office/officeart/2018/2/layout/IconVerticalSolidList"/>
    <dgm:cxn modelId="{46420F1B-35BF-4D2C-A659-163240105CDF}" type="presParOf" srcId="{D672AFC4-289A-405A-8102-29ABECE95AB7}" destId="{0A93328D-2866-4F55-ACE8-1E15594E9E11}" srcOrd="3" destOrd="0" presId="urn:microsoft.com/office/officeart/2018/2/layout/IconVerticalSolidList"/>
    <dgm:cxn modelId="{166099B1-5BB9-4065-AC98-B8508D40AEC3}" type="presParOf" srcId="{FB4899FC-C864-4073-8E65-F21F3BD3D8C7}" destId="{FFD340FB-5BDB-4D3D-AEDA-E96FB0740D44}" srcOrd="7" destOrd="0" presId="urn:microsoft.com/office/officeart/2018/2/layout/IconVerticalSolidList"/>
    <dgm:cxn modelId="{D16C82B1-A5CC-454F-AD55-91600505F728}" type="presParOf" srcId="{FB4899FC-C864-4073-8E65-F21F3BD3D8C7}" destId="{EC327CC2-29B0-4D5F-A4E3-593684320046}" srcOrd="8" destOrd="0" presId="urn:microsoft.com/office/officeart/2018/2/layout/IconVerticalSolidList"/>
    <dgm:cxn modelId="{EE5D8C69-37EC-4AF7-A3C0-0D7245808D2A}" type="presParOf" srcId="{EC327CC2-29B0-4D5F-A4E3-593684320046}" destId="{26EE18DC-05CA-4F60-8FC0-62CC90B98739}" srcOrd="0" destOrd="0" presId="urn:microsoft.com/office/officeart/2018/2/layout/IconVerticalSolidList"/>
    <dgm:cxn modelId="{070134A1-D8C8-4C70-A6AB-5D397BC11BEB}" type="presParOf" srcId="{EC327CC2-29B0-4D5F-A4E3-593684320046}" destId="{CA759B64-BFCC-42F7-968C-E08E32B6F19C}" srcOrd="1" destOrd="0" presId="urn:microsoft.com/office/officeart/2018/2/layout/IconVerticalSolidList"/>
    <dgm:cxn modelId="{686B4165-C975-443E-A6B6-EB35CF7C7EE6}" type="presParOf" srcId="{EC327CC2-29B0-4D5F-A4E3-593684320046}" destId="{E4DCD28E-23D7-4408-9A7C-0CE09CF026E8}" srcOrd="2" destOrd="0" presId="urn:microsoft.com/office/officeart/2018/2/layout/IconVerticalSolidList"/>
    <dgm:cxn modelId="{4EFA08B0-1A49-4B4C-A1D3-26782EBE7DA7}" type="presParOf" srcId="{EC327CC2-29B0-4D5F-A4E3-593684320046}" destId="{E55E97D2-17B2-48A3-A822-67A0148BD139}" srcOrd="3" destOrd="0" presId="urn:microsoft.com/office/officeart/2018/2/layout/IconVerticalSolidList"/>
    <dgm:cxn modelId="{5D1CCFF3-48BB-4225-AC18-868DFB224955}" type="presParOf" srcId="{FB4899FC-C864-4073-8E65-F21F3BD3D8C7}" destId="{2A190AD1-174C-4D5F-8411-CB5048311FB3}" srcOrd="9" destOrd="0" presId="urn:microsoft.com/office/officeart/2018/2/layout/IconVerticalSolidList"/>
    <dgm:cxn modelId="{611C457A-C8E5-4367-998F-B2287948AE95}" type="presParOf" srcId="{FB4899FC-C864-4073-8E65-F21F3BD3D8C7}" destId="{B2B24218-1757-4FF5-9140-44ADD0F4E74E}" srcOrd="10" destOrd="0" presId="urn:microsoft.com/office/officeart/2018/2/layout/IconVerticalSolidList"/>
    <dgm:cxn modelId="{D4522086-06D6-4C6F-82CB-40968FBC9342}" type="presParOf" srcId="{B2B24218-1757-4FF5-9140-44ADD0F4E74E}" destId="{5341B274-195F-4BB6-A6A7-C38F81D5ECD1}" srcOrd="0" destOrd="0" presId="urn:microsoft.com/office/officeart/2018/2/layout/IconVerticalSolidList"/>
    <dgm:cxn modelId="{C5FD82CD-93A6-49E0-B511-B69794DAB455}" type="presParOf" srcId="{B2B24218-1757-4FF5-9140-44ADD0F4E74E}" destId="{69AFF7DE-04F8-4427-A8D2-69EDA1D2842D}" srcOrd="1" destOrd="0" presId="urn:microsoft.com/office/officeart/2018/2/layout/IconVerticalSolidList"/>
    <dgm:cxn modelId="{409AD507-37A9-4143-9753-BFC7BEAA951D}" type="presParOf" srcId="{B2B24218-1757-4FF5-9140-44ADD0F4E74E}" destId="{F4F41BB1-DEB0-4CFA-B6D3-E8CE817B3069}" srcOrd="2" destOrd="0" presId="urn:microsoft.com/office/officeart/2018/2/layout/IconVerticalSolidList"/>
    <dgm:cxn modelId="{970DA7E1-1A97-4DFA-934C-1C51C729D6D9}" type="presParOf" srcId="{B2B24218-1757-4FF5-9140-44ADD0F4E74E}" destId="{A3EF096C-6FEB-480B-BEB4-59B99428B40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962D15-1E77-4A30-88EC-7657955E386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C92AA0A-960E-4EB0-9E2F-1C7266D69825}">
      <dgm:prSet/>
      <dgm:spPr/>
      <dgm:t>
        <a:bodyPr/>
        <a:lstStyle/>
        <a:p>
          <a:r>
            <a:rPr lang="en-US" b="1" i="0" baseline="0" dirty="0"/>
            <a:t>Corpus Scale &amp; Distribution</a:t>
          </a:r>
          <a:r>
            <a:rPr lang="en-US" b="0" i="0" baseline="0" dirty="0"/>
            <a:t>: Processed 1,574 documents across 16 Parvas with balanced representation—</a:t>
          </a:r>
          <a:r>
            <a:rPr lang="en-US" b="0" i="0" baseline="0" dirty="0" err="1"/>
            <a:t>Udyoga</a:t>
          </a:r>
          <a:r>
            <a:rPr lang="en-US" b="0" i="0" baseline="0" dirty="0"/>
            <a:t> Parva (Book 5) contains the most documents (311), followed by Adi Parva (Book 1, 235 docs) and Bhishma Parva (Book 6, 199 docs), ensuring diverse content coverage from origin stories to philosophical teachings </a:t>
          </a:r>
          <a:endParaRPr lang="en-US" dirty="0"/>
        </a:p>
      </dgm:t>
    </dgm:pt>
    <dgm:pt modelId="{63503D5D-E721-434D-B5CC-3BCC44F4C66B}" type="parTrans" cxnId="{3E8C17EB-7EB7-4578-AF4C-D2492A402A6D}">
      <dgm:prSet/>
      <dgm:spPr/>
      <dgm:t>
        <a:bodyPr/>
        <a:lstStyle/>
        <a:p>
          <a:endParaRPr lang="en-US"/>
        </a:p>
      </dgm:t>
    </dgm:pt>
    <dgm:pt modelId="{D1639DCC-7514-40B1-BA9D-3E18A6729CEF}" type="sibTrans" cxnId="{3E8C17EB-7EB7-4578-AF4C-D2492A402A6D}">
      <dgm:prSet/>
      <dgm:spPr/>
      <dgm:t>
        <a:bodyPr/>
        <a:lstStyle/>
        <a:p>
          <a:endParaRPr lang="en-US"/>
        </a:p>
      </dgm:t>
    </dgm:pt>
    <dgm:pt modelId="{2C716686-BD19-40A9-84BA-2B7F80824FDC}">
      <dgm:prSet/>
      <dgm:spPr/>
      <dgm:t>
        <a:bodyPr/>
        <a:lstStyle/>
        <a:p>
          <a:r>
            <a:rPr lang="en-US" b="1" i="0" baseline="0" dirty="0"/>
            <a:t>Text Normalization &amp; Standardization</a:t>
          </a:r>
          <a:r>
            <a:rPr lang="en-US" b="0" i="0" baseline="0" dirty="0"/>
            <a:t>: Applied multi-stage cleaning pipeline including HTML removal, lowercase conversion, special character filtering, and Sanskrit name standardization (e.g., </a:t>
          </a:r>
          <a:r>
            <a:rPr lang="en-US" b="0" i="0" baseline="0" dirty="0" err="1"/>
            <a:t>kṛṣṇa</a:t>
          </a:r>
          <a:r>
            <a:rPr lang="en-US" b="0" i="0" baseline="0" dirty="0"/>
            <a:t>/</a:t>
          </a:r>
          <a:r>
            <a:rPr lang="en-US" b="0" i="0" baseline="0" dirty="0" err="1"/>
            <a:t>krsna</a:t>
          </a:r>
          <a:r>
            <a:rPr lang="en-US" b="0" i="0" baseline="0" dirty="0"/>
            <a:t> → </a:t>
          </a:r>
          <a:r>
            <a:rPr lang="en-US" b="0" i="0" baseline="0" dirty="0" err="1"/>
            <a:t>krishna</a:t>
          </a:r>
          <a:r>
            <a:rPr lang="en-US" b="0" i="0" baseline="0" dirty="0"/>
            <a:t>) to create uniform text representations with mean document length of 1,121 words (6,598 characters) </a:t>
          </a:r>
          <a:endParaRPr lang="en-US" dirty="0"/>
        </a:p>
      </dgm:t>
    </dgm:pt>
    <dgm:pt modelId="{632C7B1C-244E-490B-865F-4B5CE29E4002}" type="parTrans" cxnId="{19DE949F-0BED-410E-BCFC-95F95DCDF086}">
      <dgm:prSet/>
      <dgm:spPr/>
      <dgm:t>
        <a:bodyPr/>
        <a:lstStyle/>
        <a:p>
          <a:endParaRPr lang="en-US"/>
        </a:p>
      </dgm:t>
    </dgm:pt>
    <dgm:pt modelId="{9DCF8BDF-92DC-41EC-80CE-644332DA6F03}" type="sibTrans" cxnId="{19DE949F-0BED-410E-BCFC-95F95DCDF086}">
      <dgm:prSet/>
      <dgm:spPr/>
      <dgm:t>
        <a:bodyPr/>
        <a:lstStyle/>
        <a:p>
          <a:endParaRPr lang="en-US"/>
        </a:p>
      </dgm:t>
    </dgm:pt>
    <dgm:pt modelId="{BA468735-DBBC-487A-A4A4-7D08CFC8D9EB}">
      <dgm:prSet/>
      <dgm:spPr/>
      <dgm:t>
        <a:bodyPr/>
        <a:lstStyle/>
        <a:p>
          <a:r>
            <a:rPr lang="en-US" b="1" i="0" baseline="0" dirty="0"/>
            <a:t>Dual Indexing for Hybrid Retrieval</a:t>
          </a:r>
          <a:r>
            <a:rPr lang="en-US" b="0" i="0" baseline="0" dirty="0"/>
            <a:t>: Built complementary search indices—BM25 with 29,230 unique terms for keyword-based entity matching, and FAISS with 384-dimensional MiniLM-L6-v2 embeddings for semantic similarity, enabling adaptive retrieval strategies based on query characteristics </a:t>
          </a:r>
          <a:endParaRPr lang="en-US" dirty="0"/>
        </a:p>
      </dgm:t>
    </dgm:pt>
    <dgm:pt modelId="{1B6202D3-3731-4151-A1EA-1643AEAA4E8E}" type="parTrans" cxnId="{6A961908-1B6C-4945-9FB9-DB19EA817160}">
      <dgm:prSet/>
      <dgm:spPr/>
      <dgm:t>
        <a:bodyPr/>
        <a:lstStyle/>
        <a:p>
          <a:endParaRPr lang="en-US"/>
        </a:p>
      </dgm:t>
    </dgm:pt>
    <dgm:pt modelId="{00FF93EF-EC2E-4713-99BA-551D27B4BAFD}" type="sibTrans" cxnId="{6A961908-1B6C-4945-9FB9-DB19EA817160}">
      <dgm:prSet/>
      <dgm:spPr/>
      <dgm:t>
        <a:bodyPr/>
        <a:lstStyle/>
        <a:p>
          <a:endParaRPr lang="en-US"/>
        </a:p>
      </dgm:t>
    </dgm:pt>
    <dgm:pt modelId="{0E14FD40-3DD8-4F2B-BB35-12EEE6F5E05E}" type="pres">
      <dgm:prSet presAssocID="{16962D15-1E77-4A30-88EC-7657955E3869}" presName="root" presStyleCnt="0">
        <dgm:presLayoutVars>
          <dgm:dir/>
          <dgm:resizeHandles val="exact"/>
        </dgm:presLayoutVars>
      </dgm:prSet>
      <dgm:spPr/>
    </dgm:pt>
    <dgm:pt modelId="{DF1EFDC7-360A-4D4C-965C-FDEF8F183B4B}" type="pres">
      <dgm:prSet presAssocID="{0C92AA0A-960E-4EB0-9E2F-1C7266D69825}" presName="compNode" presStyleCnt="0"/>
      <dgm:spPr/>
    </dgm:pt>
    <dgm:pt modelId="{ECC295E0-3734-4C9E-B918-70E800AD7669}" type="pres">
      <dgm:prSet presAssocID="{0C92AA0A-960E-4EB0-9E2F-1C7266D69825}" presName="bgRect" presStyleLbl="bgShp" presStyleIdx="0" presStyleCnt="3"/>
      <dgm:spPr/>
    </dgm:pt>
    <dgm:pt modelId="{2A918AC8-35D0-43FB-8387-960D53A4A553}" type="pres">
      <dgm:prSet presAssocID="{0C92AA0A-960E-4EB0-9E2F-1C7266D6982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74761CB6-CB94-4513-9981-3C50F5CC562F}" type="pres">
      <dgm:prSet presAssocID="{0C92AA0A-960E-4EB0-9E2F-1C7266D69825}" presName="spaceRect" presStyleCnt="0"/>
      <dgm:spPr/>
    </dgm:pt>
    <dgm:pt modelId="{87B6DF98-3FE8-482A-ABAB-48141611E36F}" type="pres">
      <dgm:prSet presAssocID="{0C92AA0A-960E-4EB0-9E2F-1C7266D69825}" presName="parTx" presStyleLbl="revTx" presStyleIdx="0" presStyleCnt="3">
        <dgm:presLayoutVars>
          <dgm:chMax val="0"/>
          <dgm:chPref val="0"/>
        </dgm:presLayoutVars>
      </dgm:prSet>
      <dgm:spPr/>
    </dgm:pt>
    <dgm:pt modelId="{68F7639D-A905-4520-869C-5840A3294B92}" type="pres">
      <dgm:prSet presAssocID="{D1639DCC-7514-40B1-BA9D-3E18A6729CEF}" presName="sibTrans" presStyleCnt="0"/>
      <dgm:spPr/>
    </dgm:pt>
    <dgm:pt modelId="{08F2B8E3-EAD7-4FDA-81CE-2516695FD736}" type="pres">
      <dgm:prSet presAssocID="{2C716686-BD19-40A9-84BA-2B7F80824FDC}" presName="compNode" presStyleCnt="0"/>
      <dgm:spPr/>
    </dgm:pt>
    <dgm:pt modelId="{2C2C56C6-3792-4401-834F-706B9FB26CCA}" type="pres">
      <dgm:prSet presAssocID="{2C716686-BD19-40A9-84BA-2B7F80824FDC}" presName="bgRect" presStyleLbl="bgShp" presStyleIdx="1" presStyleCnt="3"/>
      <dgm:spPr/>
    </dgm:pt>
    <dgm:pt modelId="{8CFA4EDE-EF6C-4B80-A1EE-36EB094DE1CA}" type="pres">
      <dgm:prSet presAssocID="{2C716686-BD19-40A9-84BA-2B7F80824FD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FA9A903B-AB29-452D-AEE9-E257EE10BCDA}" type="pres">
      <dgm:prSet presAssocID="{2C716686-BD19-40A9-84BA-2B7F80824FDC}" presName="spaceRect" presStyleCnt="0"/>
      <dgm:spPr/>
    </dgm:pt>
    <dgm:pt modelId="{C95C4DCA-F2E6-4B03-94E5-8B0354C7D599}" type="pres">
      <dgm:prSet presAssocID="{2C716686-BD19-40A9-84BA-2B7F80824FDC}" presName="parTx" presStyleLbl="revTx" presStyleIdx="1" presStyleCnt="3">
        <dgm:presLayoutVars>
          <dgm:chMax val="0"/>
          <dgm:chPref val="0"/>
        </dgm:presLayoutVars>
      </dgm:prSet>
      <dgm:spPr/>
    </dgm:pt>
    <dgm:pt modelId="{52321D57-88D8-464E-A010-BC6643DD4A1B}" type="pres">
      <dgm:prSet presAssocID="{9DCF8BDF-92DC-41EC-80CE-644332DA6F03}" presName="sibTrans" presStyleCnt="0"/>
      <dgm:spPr/>
    </dgm:pt>
    <dgm:pt modelId="{FC13E230-A90B-4DE9-AAA2-D8B4FB5FAA48}" type="pres">
      <dgm:prSet presAssocID="{BA468735-DBBC-487A-A4A4-7D08CFC8D9EB}" presName="compNode" presStyleCnt="0"/>
      <dgm:spPr/>
    </dgm:pt>
    <dgm:pt modelId="{9B7B338F-0A16-49ED-A660-1DC7471759AB}" type="pres">
      <dgm:prSet presAssocID="{BA468735-DBBC-487A-A4A4-7D08CFC8D9EB}" presName="bgRect" presStyleLbl="bgShp" presStyleIdx="2" presStyleCnt="3"/>
      <dgm:spPr/>
    </dgm:pt>
    <dgm:pt modelId="{76A3E79E-180C-4697-BE69-88916E7B68F9}" type="pres">
      <dgm:prSet presAssocID="{BA468735-DBBC-487A-A4A4-7D08CFC8D9E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esearch"/>
        </a:ext>
      </dgm:extLst>
    </dgm:pt>
    <dgm:pt modelId="{A5895B67-7383-4FD5-85E7-CEF5E8E2387F}" type="pres">
      <dgm:prSet presAssocID="{BA468735-DBBC-487A-A4A4-7D08CFC8D9EB}" presName="spaceRect" presStyleCnt="0"/>
      <dgm:spPr/>
    </dgm:pt>
    <dgm:pt modelId="{45244E1A-3324-4EDB-8D14-8C51C289EF4F}" type="pres">
      <dgm:prSet presAssocID="{BA468735-DBBC-487A-A4A4-7D08CFC8D9EB}" presName="parTx" presStyleLbl="revTx" presStyleIdx="2" presStyleCnt="3">
        <dgm:presLayoutVars>
          <dgm:chMax val="0"/>
          <dgm:chPref val="0"/>
        </dgm:presLayoutVars>
      </dgm:prSet>
      <dgm:spPr/>
    </dgm:pt>
  </dgm:ptLst>
  <dgm:cxnLst>
    <dgm:cxn modelId="{6A961908-1B6C-4945-9FB9-DB19EA817160}" srcId="{16962D15-1E77-4A30-88EC-7657955E3869}" destId="{BA468735-DBBC-487A-A4A4-7D08CFC8D9EB}" srcOrd="2" destOrd="0" parTransId="{1B6202D3-3731-4151-A1EA-1643AEAA4E8E}" sibTransId="{00FF93EF-EC2E-4713-99BA-551D27B4BAFD}"/>
    <dgm:cxn modelId="{A5586646-5F5D-40C4-BEFF-960628C7ADCF}" type="presOf" srcId="{16962D15-1E77-4A30-88EC-7657955E3869}" destId="{0E14FD40-3DD8-4F2B-BB35-12EEE6F5E05E}" srcOrd="0" destOrd="0" presId="urn:microsoft.com/office/officeart/2018/2/layout/IconVerticalSolidList"/>
    <dgm:cxn modelId="{19DE949F-0BED-410E-BCFC-95F95DCDF086}" srcId="{16962D15-1E77-4A30-88EC-7657955E3869}" destId="{2C716686-BD19-40A9-84BA-2B7F80824FDC}" srcOrd="1" destOrd="0" parTransId="{632C7B1C-244E-490B-865F-4B5CE29E4002}" sibTransId="{9DCF8BDF-92DC-41EC-80CE-644332DA6F03}"/>
    <dgm:cxn modelId="{243F89A3-499A-4E97-ACA8-7F4449D94FB7}" type="presOf" srcId="{0C92AA0A-960E-4EB0-9E2F-1C7266D69825}" destId="{87B6DF98-3FE8-482A-ABAB-48141611E36F}" srcOrd="0" destOrd="0" presId="urn:microsoft.com/office/officeart/2018/2/layout/IconVerticalSolidList"/>
    <dgm:cxn modelId="{0326DCC2-4F6F-4B8A-B7CE-7BE92F3FA6F1}" type="presOf" srcId="{BA468735-DBBC-487A-A4A4-7D08CFC8D9EB}" destId="{45244E1A-3324-4EDB-8D14-8C51C289EF4F}" srcOrd="0" destOrd="0" presId="urn:microsoft.com/office/officeart/2018/2/layout/IconVerticalSolidList"/>
    <dgm:cxn modelId="{3E8C17EB-7EB7-4578-AF4C-D2492A402A6D}" srcId="{16962D15-1E77-4A30-88EC-7657955E3869}" destId="{0C92AA0A-960E-4EB0-9E2F-1C7266D69825}" srcOrd="0" destOrd="0" parTransId="{63503D5D-E721-434D-B5CC-3BCC44F4C66B}" sibTransId="{D1639DCC-7514-40B1-BA9D-3E18A6729CEF}"/>
    <dgm:cxn modelId="{C91485F6-5809-4BB8-9BBF-01598A8B0F04}" type="presOf" srcId="{2C716686-BD19-40A9-84BA-2B7F80824FDC}" destId="{C95C4DCA-F2E6-4B03-94E5-8B0354C7D599}" srcOrd="0" destOrd="0" presId="urn:microsoft.com/office/officeart/2018/2/layout/IconVerticalSolidList"/>
    <dgm:cxn modelId="{42F0D9C4-0371-499F-B3A3-FE967B3DD399}" type="presParOf" srcId="{0E14FD40-3DD8-4F2B-BB35-12EEE6F5E05E}" destId="{DF1EFDC7-360A-4D4C-965C-FDEF8F183B4B}" srcOrd="0" destOrd="0" presId="urn:microsoft.com/office/officeart/2018/2/layout/IconVerticalSolidList"/>
    <dgm:cxn modelId="{022573F4-42D4-44FB-8FBC-929004CFEF16}" type="presParOf" srcId="{DF1EFDC7-360A-4D4C-965C-FDEF8F183B4B}" destId="{ECC295E0-3734-4C9E-B918-70E800AD7669}" srcOrd="0" destOrd="0" presId="urn:microsoft.com/office/officeart/2018/2/layout/IconVerticalSolidList"/>
    <dgm:cxn modelId="{64D8569F-2EC6-48C4-A53E-E609B1EA0D55}" type="presParOf" srcId="{DF1EFDC7-360A-4D4C-965C-FDEF8F183B4B}" destId="{2A918AC8-35D0-43FB-8387-960D53A4A553}" srcOrd="1" destOrd="0" presId="urn:microsoft.com/office/officeart/2018/2/layout/IconVerticalSolidList"/>
    <dgm:cxn modelId="{3B7CCEC2-78CA-497A-BF74-D9FD1B9ACE89}" type="presParOf" srcId="{DF1EFDC7-360A-4D4C-965C-FDEF8F183B4B}" destId="{74761CB6-CB94-4513-9981-3C50F5CC562F}" srcOrd="2" destOrd="0" presId="urn:microsoft.com/office/officeart/2018/2/layout/IconVerticalSolidList"/>
    <dgm:cxn modelId="{02F4C2D2-1FA2-4B4B-8659-03046FE0A4BE}" type="presParOf" srcId="{DF1EFDC7-360A-4D4C-965C-FDEF8F183B4B}" destId="{87B6DF98-3FE8-482A-ABAB-48141611E36F}" srcOrd="3" destOrd="0" presId="urn:microsoft.com/office/officeart/2018/2/layout/IconVerticalSolidList"/>
    <dgm:cxn modelId="{46E2CFE6-DD43-4257-A4E0-9DD8B7EC55C0}" type="presParOf" srcId="{0E14FD40-3DD8-4F2B-BB35-12EEE6F5E05E}" destId="{68F7639D-A905-4520-869C-5840A3294B92}" srcOrd="1" destOrd="0" presId="urn:microsoft.com/office/officeart/2018/2/layout/IconVerticalSolidList"/>
    <dgm:cxn modelId="{96979150-C061-42E9-94B8-4B5725A35D8C}" type="presParOf" srcId="{0E14FD40-3DD8-4F2B-BB35-12EEE6F5E05E}" destId="{08F2B8E3-EAD7-4FDA-81CE-2516695FD736}" srcOrd="2" destOrd="0" presId="urn:microsoft.com/office/officeart/2018/2/layout/IconVerticalSolidList"/>
    <dgm:cxn modelId="{EFE1E52B-B598-489B-B85A-FEF86D2C7248}" type="presParOf" srcId="{08F2B8E3-EAD7-4FDA-81CE-2516695FD736}" destId="{2C2C56C6-3792-4401-834F-706B9FB26CCA}" srcOrd="0" destOrd="0" presId="urn:microsoft.com/office/officeart/2018/2/layout/IconVerticalSolidList"/>
    <dgm:cxn modelId="{775E5D25-6AB1-48D5-90F4-07CB450743B5}" type="presParOf" srcId="{08F2B8E3-EAD7-4FDA-81CE-2516695FD736}" destId="{8CFA4EDE-EF6C-4B80-A1EE-36EB094DE1CA}" srcOrd="1" destOrd="0" presId="urn:microsoft.com/office/officeart/2018/2/layout/IconVerticalSolidList"/>
    <dgm:cxn modelId="{18AB92FC-7096-49EC-9333-586312ED14F0}" type="presParOf" srcId="{08F2B8E3-EAD7-4FDA-81CE-2516695FD736}" destId="{FA9A903B-AB29-452D-AEE9-E257EE10BCDA}" srcOrd="2" destOrd="0" presId="urn:microsoft.com/office/officeart/2018/2/layout/IconVerticalSolidList"/>
    <dgm:cxn modelId="{7706A332-A492-4D22-A294-F437080C4AB9}" type="presParOf" srcId="{08F2B8E3-EAD7-4FDA-81CE-2516695FD736}" destId="{C95C4DCA-F2E6-4B03-94E5-8B0354C7D599}" srcOrd="3" destOrd="0" presId="urn:microsoft.com/office/officeart/2018/2/layout/IconVerticalSolidList"/>
    <dgm:cxn modelId="{917F1D22-7ECE-4D96-BF5F-A139655B5BE0}" type="presParOf" srcId="{0E14FD40-3DD8-4F2B-BB35-12EEE6F5E05E}" destId="{52321D57-88D8-464E-A010-BC6643DD4A1B}" srcOrd="3" destOrd="0" presId="urn:microsoft.com/office/officeart/2018/2/layout/IconVerticalSolidList"/>
    <dgm:cxn modelId="{AB62DE3E-D1CA-47B5-AF42-DB2F7F6C8D04}" type="presParOf" srcId="{0E14FD40-3DD8-4F2B-BB35-12EEE6F5E05E}" destId="{FC13E230-A90B-4DE9-AAA2-D8B4FB5FAA48}" srcOrd="4" destOrd="0" presId="urn:microsoft.com/office/officeart/2018/2/layout/IconVerticalSolidList"/>
    <dgm:cxn modelId="{D454E650-08D8-4D27-97C3-6B4C4774C82E}" type="presParOf" srcId="{FC13E230-A90B-4DE9-AAA2-D8B4FB5FAA48}" destId="{9B7B338F-0A16-49ED-A660-1DC7471759AB}" srcOrd="0" destOrd="0" presId="urn:microsoft.com/office/officeart/2018/2/layout/IconVerticalSolidList"/>
    <dgm:cxn modelId="{6F29D4F3-1291-49AB-B82A-B8DCF49E2A13}" type="presParOf" srcId="{FC13E230-A90B-4DE9-AAA2-D8B4FB5FAA48}" destId="{76A3E79E-180C-4697-BE69-88916E7B68F9}" srcOrd="1" destOrd="0" presId="urn:microsoft.com/office/officeart/2018/2/layout/IconVerticalSolidList"/>
    <dgm:cxn modelId="{EBEAD2A8-C5DB-49D9-A9C5-94FE01AD8219}" type="presParOf" srcId="{FC13E230-A90B-4DE9-AAA2-D8B4FB5FAA48}" destId="{A5895B67-7383-4FD5-85E7-CEF5E8E2387F}" srcOrd="2" destOrd="0" presId="urn:microsoft.com/office/officeart/2018/2/layout/IconVerticalSolidList"/>
    <dgm:cxn modelId="{53CF7866-AE94-4A4C-9361-B55A4EC39033}" type="presParOf" srcId="{FC13E230-A90B-4DE9-AAA2-D8B4FB5FAA48}" destId="{45244E1A-3324-4EDB-8D14-8C51C289EF4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AB3249-37B9-416F-905A-E11C457BBAAD}">
      <dsp:nvSpPr>
        <dsp:cNvPr id="0" name=""/>
        <dsp:cNvSpPr/>
      </dsp:nvSpPr>
      <dsp:spPr>
        <a:xfrm>
          <a:off x="0" y="1808"/>
          <a:ext cx="6245265" cy="7704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6729E7-3235-45E0-A56B-05DFAC0F9EF4}">
      <dsp:nvSpPr>
        <dsp:cNvPr id="0" name=""/>
        <dsp:cNvSpPr/>
      </dsp:nvSpPr>
      <dsp:spPr>
        <a:xfrm>
          <a:off x="233059" y="175158"/>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1FE38D-A030-4DCB-9752-61C1CFFEE65F}">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b="1" kern="1200"/>
            <a:t>About the Dataset</a:t>
          </a:r>
          <a:endParaRPr lang="en-US" sz="1900" kern="1200"/>
        </a:p>
      </dsp:txBody>
      <dsp:txXfrm>
        <a:off x="889864" y="1808"/>
        <a:ext cx="5355400" cy="770445"/>
      </dsp:txXfrm>
    </dsp:sp>
    <dsp:sp modelId="{34C81B8C-447A-4F98-A87C-34829083191D}">
      <dsp:nvSpPr>
        <dsp:cNvPr id="0" name=""/>
        <dsp:cNvSpPr/>
      </dsp:nvSpPr>
      <dsp:spPr>
        <a:xfrm>
          <a:off x="0" y="964865"/>
          <a:ext cx="6245265" cy="77044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BFE7FC-78A7-4CDE-A46C-89C95D78054B}">
      <dsp:nvSpPr>
        <dsp:cNvPr id="0" name=""/>
        <dsp:cNvSpPr/>
      </dsp:nvSpPr>
      <dsp:spPr>
        <a:xfrm>
          <a:off x="233059" y="1138215"/>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34100A-429A-44E4-91EA-5F71DA46488A}">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b="1" kern="1200"/>
            <a:t>Source:</a:t>
          </a:r>
          <a:r>
            <a:rPr lang="en-US" sz="1900" kern="1200"/>
            <a:t> </a:t>
          </a:r>
          <a:r>
            <a:rPr lang="en-US" sz="1900" i="1" kern="1200"/>
            <a:t>The Mahabharata</a:t>
          </a:r>
          <a:r>
            <a:rPr lang="en-US" sz="1900" kern="1200"/>
            <a:t> – English translation used for analysisSource: sacred-texts.com-</a:t>
          </a:r>
        </a:p>
      </dsp:txBody>
      <dsp:txXfrm>
        <a:off x="889864" y="964865"/>
        <a:ext cx="5355400" cy="770445"/>
      </dsp:txXfrm>
    </dsp:sp>
    <dsp:sp modelId="{81DC2B2B-F6CA-4304-A479-C01F6D670124}">
      <dsp:nvSpPr>
        <dsp:cNvPr id="0" name=""/>
        <dsp:cNvSpPr/>
      </dsp:nvSpPr>
      <dsp:spPr>
        <a:xfrm>
          <a:off x="0" y="1927922"/>
          <a:ext cx="6245265" cy="77044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6DD545-8D78-4F78-879B-39A0E0F9243C}">
      <dsp:nvSpPr>
        <dsp:cNvPr id="0" name=""/>
        <dsp:cNvSpPr/>
      </dsp:nvSpPr>
      <dsp:spPr>
        <a:xfrm>
          <a:off x="233059" y="2101272"/>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99C02E-445D-4EFC-B902-DA63E157A9E3}">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b="1" kern="1200"/>
            <a:t>Total Verses:</a:t>
          </a:r>
          <a:r>
            <a:rPr lang="en-US" sz="1900" kern="1200"/>
            <a:t> 14,388</a:t>
          </a:r>
        </a:p>
      </dsp:txBody>
      <dsp:txXfrm>
        <a:off x="889864" y="1927922"/>
        <a:ext cx="5355400" cy="770445"/>
      </dsp:txXfrm>
    </dsp:sp>
    <dsp:sp modelId="{2554BE5B-5723-454F-A818-009C2B7668E3}">
      <dsp:nvSpPr>
        <dsp:cNvPr id="0" name=""/>
        <dsp:cNvSpPr/>
      </dsp:nvSpPr>
      <dsp:spPr>
        <a:xfrm>
          <a:off x="0" y="2890979"/>
          <a:ext cx="6245265" cy="77044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44B2B9-6732-47B5-892F-64FEEBC85E32}">
      <dsp:nvSpPr>
        <dsp:cNvPr id="0" name=""/>
        <dsp:cNvSpPr/>
      </dsp:nvSpPr>
      <dsp:spPr>
        <a:xfrm>
          <a:off x="233059" y="3064329"/>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93328D-2866-4F55-ACE8-1E15594E9E11}">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b="1" kern="1200"/>
            <a:t>Structure:</a:t>
          </a:r>
          <a:r>
            <a:rPr lang="en-US" sz="1900" kern="1200"/>
            <a:t> Divided into </a:t>
          </a:r>
          <a:r>
            <a:rPr lang="en-US" sz="1900" b="1" kern="1200"/>
            <a:t>18 Parvas (Books)</a:t>
          </a:r>
          <a:r>
            <a:rPr lang="en-US" sz="1900" kern="1200"/>
            <a:t>, each containing chapters and sub-sections</a:t>
          </a:r>
        </a:p>
      </dsp:txBody>
      <dsp:txXfrm>
        <a:off x="889864" y="2890979"/>
        <a:ext cx="5355400" cy="770445"/>
      </dsp:txXfrm>
    </dsp:sp>
    <dsp:sp modelId="{26EE18DC-05CA-4F60-8FC0-62CC90B98739}">
      <dsp:nvSpPr>
        <dsp:cNvPr id="0" name=""/>
        <dsp:cNvSpPr/>
      </dsp:nvSpPr>
      <dsp:spPr>
        <a:xfrm>
          <a:off x="0" y="3854036"/>
          <a:ext cx="6245265" cy="77044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759B64-BFCC-42F7-968C-E08E32B6F19C}">
      <dsp:nvSpPr>
        <dsp:cNvPr id="0" name=""/>
        <dsp:cNvSpPr/>
      </dsp:nvSpPr>
      <dsp:spPr>
        <a:xfrm>
          <a:off x="233059" y="4027386"/>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5E97D2-17B2-48A3-A822-67A0148BD139}">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b="1" kern="1200"/>
            <a:t>Document Count:</a:t>
          </a:r>
          <a:r>
            <a:rPr lang="en-US" sz="1900" kern="1200"/>
            <a:t> 1,574 text files created from the verses</a:t>
          </a:r>
        </a:p>
      </dsp:txBody>
      <dsp:txXfrm>
        <a:off x="889864" y="3854036"/>
        <a:ext cx="5355400" cy="770445"/>
      </dsp:txXfrm>
    </dsp:sp>
    <dsp:sp modelId="{5341B274-195F-4BB6-A6A7-C38F81D5ECD1}">
      <dsp:nvSpPr>
        <dsp:cNvPr id="0" name=""/>
        <dsp:cNvSpPr/>
      </dsp:nvSpPr>
      <dsp:spPr>
        <a:xfrm>
          <a:off x="0" y="4817093"/>
          <a:ext cx="6245265" cy="7704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AFF7DE-04F8-4427-A8D2-69EDA1D2842D}">
      <dsp:nvSpPr>
        <dsp:cNvPr id="0" name=""/>
        <dsp:cNvSpPr/>
      </dsp:nvSpPr>
      <dsp:spPr>
        <a:xfrm>
          <a:off x="233059" y="4990443"/>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EF096C-6FEB-480B-BEB4-59B99428B40B}">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90000"/>
            </a:lnSpc>
            <a:spcBef>
              <a:spcPct val="0"/>
            </a:spcBef>
            <a:spcAft>
              <a:spcPct val="35000"/>
            </a:spcAft>
            <a:buNone/>
          </a:pPr>
          <a:r>
            <a:rPr lang="en-US" sz="1900" b="1" kern="1200"/>
            <a:t>Word Count:</a:t>
          </a:r>
          <a:r>
            <a:rPr lang="en-US" sz="1900" kern="1200"/>
            <a:t> ~1.8 million words</a:t>
          </a:r>
        </a:p>
      </dsp:txBody>
      <dsp:txXfrm>
        <a:off x="889864" y="4817093"/>
        <a:ext cx="5355400" cy="770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C295E0-3734-4C9E-B918-70E800AD7669}">
      <dsp:nvSpPr>
        <dsp:cNvPr id="0" name=""/>
        <dsp:cNvSpPr/>
      </dsp:nvSpPr>
      <dsp:spPr>
        <a:xfrm>
          <a:off x="0" y="5118"/>
          <a:ext cx="6589260" cy="15179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918AC8-35D0-43FB-8387-960D53A4A553}">
      <dsp:nvSpPr>
        <dsp:cNvPr id="0" name=""/>
        <dsp:cNvSpPr/>
      </dsp:nvSpPr>
      <dsp:spPr>
        <a:xfrm>
          <a:off x="459193" y="346667"/>
          <a:ext cx="835712" cy="83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B6DF98-3FE8-482A-ABAB-48141611E36F}">
      <dsp:nvSpPr>
        <dsp:cNvPr id="0" name=""/>
        <dsp:cNvSpPr/>
      </dsp:nvSpPr>
      <dsp:spPr>
        <a:xfrm>
          <a:off x="1754098" y="5118"/>
          <a:ext cx="4695661" cy="1519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11" tIns="160811" rIns="160811" bIns="160811"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Corpus Scale &amp; Distribution</a:t>
          </a:r>
          <a:r>
            <a:rPr lang="en-US" sz="1400" b="0" i="0" kern="1200" baseline="0" dirty="0"/>
            <a:t>: Processed 1,574 documents across 16 Parvas with balanced representation—</a:t>
          </a:r>
          <a:r>
            <a:rPr lang="en-US" sz="1400" b="0" i="0" kern="1200" baseline="0" dirty="0" err="1"/>
            <a:t>Udyoga</a:t>
          </a:r>
          <a:r>
            <a:rPr lang="en-US" sz="1400" b="0" i="0" kern="1200" baseline="0" dirty="0"/>
            <a:t> Parva (Book 5) contains the most documents (311), followed by Adi Parva (Book 1, 235 docs) and Bhishma Parva (Book 6, 199 docs), ensuring diverse content coverage from origin stories to philosophical teachings </a:t>
          </a:r>
          <a:endParaRPr lang="en-US" sz="1400" kern="1200" dirty="0"/>
        </a:p>
      </dsp:txBody>
      <dsp:txXfrm>
        <a:off x="1754098" y="5118"/>
        <a:ext cx="4695661" cy="1519477"/>
      </dsp:txXfrm>
    </dsp:sp>
    <dsp:sp modelId="{2C2C56C6-3792-4401-834F-706B9FB26CCA}">
      <dsp:nvSpPr>
        <dsp:cNvPr id="0" name=""/>
        <dsp:cNvSpPr/>
      </dsp:nvSpPr>
      <dsp:spPr>
        <a:xfrm>
          <a:off x="0" y="1862257"/>
          <a:ext cx="6589260" cy="15179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FA4EDE-EF6C-4B80-A1EE-36EB094DE1CA}">
      <dsp:nvSpPr>
        <dsp:cNvPr id="0" name=""/>
        <dsp:cNvSpPr/>
      </dsp:nvSpPr>
      <dsp:spPr>
        <a:xfrm>
          <a:off x="459193" y="2203806"/>
          <a:ext cx="835712" cy="83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5C4DCA-F2E6-4B03-94E5-8B0354C7D599}">
      <dsp:nvSpPr>
        <dsp:cNvPr id="0" name=""/>
        <dsp:cNvSpPr/>
      </dsp:nvSpPr>
      <dsp:spPr>
        <a:xfrm>
          <a:off x="1754098" y="1862257"/>
          <a:ext cx="4695661" cy="1519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11" tIns="160811" rIns="160811" bIns="160811"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Text Normalization &amp; Standardization</a:t>
          </a:r>
          <a:r>
            <a:rPr lang="en-US" sz="1400" b="0" i="0" kern="1200" baseline="0" dirty="0"/>
            <a:t>: Applied multi-stage cleaning pipeline including HTML removal, lowercase conversion, special character filtering, and Sanskrit name standardization (e.g., </a:t>
          </a:r>
          <a:r>
            <a:rPr lang="en-US" sz="1400" b="0" i="0" kern="1200" baseline="0" dirty="0" err="1"/>
            <a:t>kṛṣṇa</a:t>
          </a:r>
          <a:r>
            <a:rPr lang="en-US" sz="1400" b="0" i="0" kern="1200" baseline="0" dirty="0"/>
            <a:t>/</a:t>
          </a:r>
          <a:r>
            <a:rPr lang="en-US" sz="1400" b="0" i="0" kern="1200" baseline="0" dirty="0" err="1"/>
            <a:t>krsna</a:t>
          </a:r>
          <a:r>
            <a:rPr lang="en-US" sz="1400" b="0" i="0" kern="1200" baseline="0" dirty="0"/>
            <a:t> → </a:t>
          </a:r>
          <a:r>
            <a:rPr lang="en-US" sz="1400" b="0" i="0" kern="1200" baseline="0" dirty="0" err="1"/>
            <a:t>krishna</a:t>
          </a:r>
          <a:r>
            <a:rPr lang="en-US" sz="1400" b="0" i="0" kern="1200" baseline="0" dirty="0"/>
            <a:t>) to create uniform text representations with mean document length of 1,121 words (6,598 characters) </a:t>
          </a:r>
          <a:endParaRPr lang="en-US" sz="1400" kern="1200" dirty="0"/>
        </a:p>
      </dsp:txBody>
      <dsp:txXfrm>
        <a:off x="1754098" y="1862257"/>
        <a:ext cx="4695661" cy="1519477"/>
      </dsp:txXfrm>
    </dsp:sp>
    <dsp:sp modelId="{9B7B338F-0A16-49ED-A660-1DC7471759AB}">
      <dsp:nvSpPr>
        <dsp:cNvPr id="0" name=""/>
        <dsp:cNvSpPr/>
      </dsp:nvSpPr>
      <dsp:spPr>
        <a:xfrm>
          <a:off x="0" y="3719396"/>
          <a:ext cx="6589260" cy="15179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A3E79E-180C-4697-BE69-88916E7B68F9}">
      <dsp:nvSpPr>
        <dsp:cNvPr id="0" name=""/>
        <dsp:cNvSpPr/>
      </dsp:nvSpPr>
      <dsp:spPr>
        <a:xfrm>
          <a:off x="459193" y="4060945"/>
          <a:ext cx="835712" cy="83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244E1A-3324-4EDB-8D14-8C51C289EF4F}">
      <dsp:nvSpPr>
        <dsp:cNvPr id="0" name=""/>
        <dsp:cNvSpPr/>
      </dsp:nvSpPr>
      <dsp:spPr>
        <a:xfrm>
          <a:off x="1754098" y="3719396"/>
          <a:ext cx="4695661" cy="1519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811" tIns="160811" rIns="160811" bIns="160811"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Dual Indexing for Hybrid Retrieval</a:t>
          </a:r>
          <a:r>
            <a:rPr lang="en-US" sz="1400" b="0" i="0" kern="1200" baseline="0" dirty="0"/>
            <a:t>: Built complementary search indices—BM25 with 29,230 unique terms for keyword-based entity matching, and FAISS with 384-dimensional MiniLM-L6-v2 embeddings for semantic similarity, enabling adaptive retrieval strategies based on query characteristics </a:t>
          </a:r>
          <a:endParaRPr lang="en-US" sz="1400" kern="1200" dirty="0"/>
        </a:p>
      </dsp:txBody>
      <dsp:txXfrm>
        <a:off x="1754098" y="3719396"/>
        <a:ext cx="4695661" cy="151947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C628B3-EC05-46D3-B78C-A0588AEAAFD2}"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50BC43-469B-4F6F-9DF9-AA0B60D17C27}" type="slidenum">
              <a:rPr lang="en-US" smtClean="0"/>
              <a:t>‹#›</a:t>
            </a:fld>
            <a:endParaRPr lang="en-US"/>
          </a:p>
        </p:txBody>
      </p:sp>
    </p:spTree>
    <p:extLst>
      <p:ext uri="{BB962C8B-B14F-4D97-AF65-F5344CB8AC3E}">
        <p14:creationId xmlns:p14="http://schemas.microsoft.com/office/powerpoint/2010/main" val="1358432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2</a:t>
            </a:fld>
            <a:endParaRPr lang="en-US"/>
          </a:p>
        </p:txBody>
      </p:sp>
    </p:spTree>
    <p:extLst>
      <p:ext uri="{BB962C8B-B14F-4D97-AF65-F5344CB8AC3E}">
        <p14:creationId xmlns:p14="http://schemas.microsoft.com/office/powerpoint/2010/main" val="2222583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i="1" dirty="0"/>
              <a:t>Mahabharata</a:t>
            </a:r>
            <a:r>
              <a:rPr lang="en-US" dirty="0"/>
              <a:t> is not just a book — it’s a universe of human thought, emotion, and wisdom.</a:t>
            </a:r>
            <a:br>
              <a:rPr lang="en-US" dirty="0"/>
            </a:br>
            <a:r>
              <a:rPr lang="en-US" dirty="0"/>
              <a:t>It is one of the oldest and most profound epics in human history, deeply rooted in Hindu culture.</a:t>
            </a:r>
            <a:br>
              <a:rPr lang="en-US" dirty="0"/>
            </a:br>
            <a:r>
              <a:rPr lang="en-US" dirty="0"/>
              <a:t>With over one hundred thousand Sanskrit verses spread across eighteen Parvas, it explores everything from mythology and philosophy to war, politics, and the moral struggles of life.</a:t>
            </a:r>
          </a:p>
          <a:p>
            <a:r>
              <a:rPr lang="en-US" dirty="0"/>
              <a:t>To give you an idea of its scale — the </a:t>
            </a:r>
            <a:r>
              <a:rPr lang="en-US" i="1" dirty="0"/>
              <a:t>Mahabharata</a:t>
            </a:r>
            <a:r>
              <a:rPr lang="en-US" dirty="0"/>
              <a:t> contains nearly 1.8 million words. That’s almost ten times longer than </a:t>
            </a:r>
            <a:r>
              <a:rPr lang="en-US" i="1" dirty="0"/>
              <a:t>The Iliad</a:t>
            </a:r>
            <a:r>
              <a:rPr lang="en-US" dirty="0"/>
              <a:t> and </a:t>
            </a:r>
            <a:r>
              <a:rPr lang="en-US" i="1" dirty="0"/>
              <a:t>The Odyssey</a:t>
            </a:r>
            <a:r>
              <a:rPr lang="en-US" dirty="0"/>
              <a:t> combined. It’s a masterpiece that has shaped Indian civilization for over two thousand years.</a:t>
            </a:r>
          </a:p>
          <a:p>
            <a:r>
              <a:rPr lang="en-US" dirty="0"/>
              <a:t>But here’s the challenge — its vastness makes it almost impossible to study deeply. Finding one specific idea or passage can take hours, even days. Traditional keyword searches can’t understand its deeper meanings, and even modern AI models often misinterpret cultural nuances.</a:t>
            </a:r>
          </a:p>
          <a:p>
            <a:r>
              <a:rPr lang="en-US" dirty="0"/>
              <a:t>That’s where our project comes in.</a:t>
            </a:r>
            <a:br>
              <a:rPr lang="en-US" dirty="0"/>
            </a:br>
            <a:r>
              <a:rPr lang="en-US" dirty="0"/>
              <a:t>We’ve built an </a:t>
            </a:r>
            <a:r>
              <a:rPr lang="en-US" b="1" dirty="0"/>
              <a:t>Adaptive Multi-Hop Retrieval-Augmented Generation System</a:t>
            </a:r>
            <a:r>
              <a:rPr lang="en-US" dirty="0"/>
              <a:t> — a smart AI framework that can understand questions, retrieve meaningful verses, connect ideas across the text, and even integrate real-time scholarly information from the web.</a:t>
            </a:r>
          </a:p>
          <a:p>
            <a:r>
              <a:rPr lang="en-US" dirty="0"/>
              <a:t>In essence, we’re using the power of artificial intelligence to make ancient wisdom accessible again — bridging 2,500 years of human knowledge with the intelligence of today.</a:t>
            </a:r>
          </a:p>
          <a:p>
            <a:r>
              <a:rPr lang="en-US" dirty="0"/>
              <a:t>This is not just about technology. It’s about preserving culture, empowering education, and proving that AI can be both intelligent and respectful of human heritage.</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3</a:t>
            </a:fld>
            <a:endParaRPr lang="en-US"/>
          </a:p>
        </p:txBody>
      </p:sp>
    </p:spTree>
    <p:extLst>
      <p:ext uri="{BB962C8B-B14F-4D97-AF65-F5344CB8AC3E}">
        <p14:creationId xmlns:p14="http://schemas.microsoft.com/office/powerpoint/2010/main" val="592842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i="1" dirty="0"/>
              <a:t>Mahabharata</a:t>
            </a:r>
            <a:r>
              <a:rPr lang="en-US" dirty="0"/>
              <a:t> is not just long — it’s enormous.</a:t>
            </a:r>
            <a:br>
              <a:rPr lang="en-US" dirty="0"/>
            </a:br>
            <a:r>
              <a:rPr lang="en-US" dirty="0"/>
              <a:t>With more than one hundred thousand verses and eighteen Parvas, it represents centuries of cultural, moral, and philosophical knowledge. But this very scale also creates a huge problem.</a:t>
            </a:r>
          </a:p>
          <a:p>
            <a:r>
              <a:rPr lang="en-US" dirty="0"/>
              <a:t>For researchers, students, and even technology itself, finding specific information inside this text is extremely difficult. Traditional keyword searches cannot understand deeper meanings — for example, when two verses describe the same concept using different words. Manual reading, on the other hand, could take years to cover even a fraction of the epic.</a:t>
            </a:r>
          </a:p>
          <a:p>
            <a:r>
              <a:rPr lang="en-US" dirty="0"/>
              <a:t>Even today’s large language models — which seem intelligent — often struggle with ancient or culturally complex texts. They may produce answers that sound fluent but are factually wrong or culturally insensitive.</a:t>
            </a:r>
          </a:p>
          <a:p>
            <a:r>
              <a:rPr lang="en-US" dirty="0"/>
              <a:t>That’s why our motivation was clear. We needed to design an AI system that does more than just “search.”</a:t>
            </a:r>
            <a:br>
              <a:rPr lang="en-US" dirty="0"/>
            </a:br>
            <a:r>
              <a:rPr lang="en-US" dirty="0"/>
              <a:t>We wanted a system that could truly </a:t>
            </a:r>
            <a:r>
              <a:rPr lang="en-US" b="1" dirty="0"/>
              <a:t>understand context</a:t>
            </a:r>
            <a:r>
              <a:rPr lang="en-US" dirty="0"/>
              <a:t>, </a:t>
            </a:r>
            <a:r>
              <a:rPr lang="en-US" b="1" dirty="0"/>
              <a:t>connect ideas across different sections</a:t>
            </a:r>
            <a:r>
              <a:rPr lang="en-US" dirty="0"/>
              <a:t>, and </a:t>
            </a:r>
            <a:r>
              <a:rPr lang="en-US" b="1" dirty="0"/>
              <a:t>preserve the authenticity of the original source</a:t>
            </a:r>
            <a:r>
              <a:rPr lang="en-US" dirty="0"/>
              <a:t>.</a:t>
            </a:r>
          </a:p>
          <a:p>
            <a:r>
              <a:rPr lang="en-US" dirty="0"/>
              <a:t>Our project aims to build this bridge — between human heritage and modern computation.</a:t>
            </a:r>
            <a:br>
              <a:rPr lang="en-US" dirty="0"/>
            </a:br>
            <a:r>
              <a:rPr lang="en-US" dirty="0"/>
              <a:t>The goal is to make the </a:t>
            </a:r>
            <a:r>
              <a:rPr lang="en-US" i="1" dirty="0"/>
              <a:t>Mahabharata</a:t>
            </a:r>
            <a:r>
              <a:rPr lang="en-US" dirty="0"/>
              <a:t> accessible in a new, intelligent way, so that scholars, students, and even AI models can explore it meaningfully and responsibly.</a:t>
            </a:r>
          </a:p>
          <a:p>
            <a:r>
              <a:rPr lang="en-US" dirty="0"/>
              <a:t>In simple terms, this project is not only about technology — it’s about keeping ancient wisdom alive in the digital era.</a:t>
            </a:r>
          </a:p>
          <a:p>
            <a:r>
              <a:rPr lang="en-US" dirty="0"/>
              <a:t>On the next slide, I’ll show how our </a:t>
            </a:r>
            <a:r>
              <a:rPr lang="en-US" b="1" dirty="0"/>
              <a:t>Adaptive Multi-Hop Retrieval-Augmented Generation system</a:t>
            </a:r>
            <a:r>
              <a:rPr lang="en-US" dirty="0"/>
              <a:t> was designed to achieve that — through intelligent retrieval, reasoning, and answer generation.</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4</a:t>
            </a:fld>
            <a:endParaRPr lang="en-US"/>
          </a:p>
        </p:txBody>
      </p:sp>
    </p:spTree>
    <p:extLst>
      <p:ext uri="{BB962C8B-B14F-4D97-AF65-F5344CB8AC3E}">
        <p14:creationId xmlns:p14="http://schemas.microsoft.com/office/powerpoint/2010/main" val="3373508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begins with a </a:t>
            </a:r>
            <a:r>
              <a:rPr lang="en-US" b="1" dirty="0"/>
              <a:t>user query</a:t>
            </a:r>
            <a:r>
              <a:rPr lang="en-US" dirty="0"/>
              <a:t>, written in natural language. The query first passes through the </a:t>
            </a:r>
            <a:r>
              <a:rPr lang="en-US" b="1" dirty="0"/>
              <a:t>Query Classifier</a:t>
            </a:r>
            <a:r>
              <a:rPr lang="en-US" dirty="0"/>
              <a:t>, which identifies the type of question being asked — whether it’s </a:t>
            </a:r>
            <a:r>
              <a:rPr lang="en-US" i="1" dirty="0"/>
              <a:t>entity-focused</a:t>
            </a:r>
            <a:r>
              <a:rPr lang="en-US" dirty="0"/>
              <a:t>, </a:t>
            </a:r>
            <a:r>
              <a:rPr lang="en-US" i="1" dirty="0"/>
              <a:t>simple conceptual</a:t>
            </a:r>
            <a:r>
              <a:rPr lang="en-US" dirty="0"/>
              <a:t>, or </a:t>
            </a:r>
            <a:r>
              <a:rPr lang="en-US" i="1" dirty="0"/>
              <a:t>multi-hop</a:t>
            </a:r>
            <a:r>
              <a:rPr lang="en-US" dirty="0"/>
              <a:t>.</a:t>
            </a:r>
          </a:p>
          <a:p>
            <a:r>
              <a:rPr lang="en-US" dirty="0"/>
              <a:t>Depending on that classification, the system routes the query to the appropriate </a:t>
            </a:r>
            <a:r>
              <a:rPr lang="en-US" b="1" dirty="0"/>
              <a:t>retrieval strategy</a:t>
            </a:r>
            <a:r>
              <a:rPr lang="en-US" dirty="0"/>
              <a:t>.</a:t>
            </a:r>
          </a:p>
          <a:p>
            <a:r>
              <a:rPr lang="en-US" dirty="0"/>
              <a:t>For </a:t>
            </a:r>
            <a:r>
              <a:rPr lang="en-US" b="1" dirty="0"/>
              <a:t>entity-based queries</a:t>
            </a:r>
            <a:r>
              <a:rPr lang="en-US" dirty="0"/>
              <a:t> like “Who was Arjuna?”, we use </a:t>
            </a:r>
            <a:r>
              <a:rPr lang="en-US" b="1" dirty="0"/>
              <a:t>BM25</a:t>
            </a:r>
            <a:r>
              <a:rPr lang="en-US" dirty="0"/>
              <a:t>, a keyword-based search optimized for exact matches.</a:t>
            </a:r>
          </a:p>
          <a:p>
            <a:r>
              <a:rPr lang="en-US" dirty="0"/>
              <a:t>For </a:t>
            </a:r>
            <a:r>
              <a:rPr lang="en-US" b="1" dirty="0"/>
              <a:t>conceptual questions</a:t>
            </a:r>
            <a:r>
              <a:rPr lang="en-US" dirty="0"/>
              <a:t> such as “What is dharma?”, we use </a:t>
            </a:r>
            <a:r>
              <a:rPr lang="en-US" b="1" dirty="0"/>
              <a:t>FAISS</a:t>
            </a:r>
            <a:r>
              <a:rPr lang="en-US" dirty="0"/>
              <a:t>, a semantic retriever that understands meaning and context.</a:t>
            </a:r>
          </a:p>
          <a:p>
            <a:r>
              <a:rPr lang="en-US" dirty="0"/>
              <a:t>And for </a:t>
            </a:r>
            <a:r>
              <a:rPr lang="en-US" b="1" dirty="0"/>
              <a:t>multi-hop questions</a:t>
            </a:r>
            <a:r>
              <a:rPr lang="en-US" dirty="0"/>
              <a:t>, which require connecting multiple ideas — for example, “What vow did Bhishma take and why?” — the system uses a </a:t>
            </a:r>
            <a:r>
              <a:rPr lang="en-US" b="1" dirty="0"/>
              <a:t>hybrid retrieval</a:t>
            </a:r>
            <a:r>
              <a:rPr lang="en-US" dirty="0"/>
              <a:t> that combines both BM25 and FAISS results.</a:t>
            </a:r>
          </a:p>
          <a:p>
            <a:r>
              <a:rPr lang="en-US" dirty="0"/>
              <a:t>All searches are performed over the </a:t>
            </a:r>
            <a:r>
              <a:rPr lang="en-US" b="1" dirty="0"/>
              <a:t>Mahabharata corpus</a:t>
            </a:r>
            <a:r>
              <a:rPr lang="en-US" dirty="0"/>
              <a:t>, which contains 1,574 preprocessed documents. Each document is indexed in both BM25 and FAISS databases for fast, accurate retrieval.</a:t>
            </a:r>
          </a:p>
          <a:p>
            <a:r>
              <a:rPr lang="en-US" dirty="0"/>
              <a:t>Optionally, the system can perform </a:t>
            </a:r>
            <a:r>
              <a:rPr lang="en-US" b="1" dirty="0"/>
              <a:t>web enhancement</a:t>
            </a:r>
            <a:r>
              <a:rPr lang="en-US" dirty="0"/>
              <a:t> through the </a:t>
            </a:r>
            <a:r>
              <a:rPr lang="en-US" b="1" dirty="0" err="1"/>
              <a:t>Tavily</a:t>
            </a:r>
            <a:r>
              <a:rPr lang="en-US" b="1" dirty="0"/>
              <a:t> API</a:t>
            </a:r>
            <a:r>
              <a:rPr lang="en-US" dirty="0"/>
              <a:t>, which retrieves scholarly web sources. These are filtered using a smaller </a:t>
            </a:r>
            <a:r>
              <a:rPr lang="en-US" b="1" dirty="0" err="1"/>
              <a:t>LLaMA</a:t>
            </a:r>
            <a:r>
              <a:rPr lang="en-US" b="1" dirty="0"/>
              <a:t> 3.1-8B model</a:t>
            </a:r>
            <a:r>
              <a:rPr lang="en-US" dirty="0"/>
              <a:t> to extract only relevant information, adding modern interpretation or supporting evidence to the ancient text.</a:t>
            </a:r>
          </a:p>
          <a:p>
            <a:r>
              <a:rPr lang="en-US" dirty="0"/>
              <a:t>Once the relevant verses and web data are collected, they’re passed into the </a:t>
            </a:r>
            <a:r>
              <a:rPr lang="en-US" b="1" dirty="0"/>
              <a:t>context assembly</a:t>
            </a:r>
            <a:r>
              <a:rPr lang="en-US" dirty="0"/>
              <a:t> stage, and then into our main </a:t>
            </a:r>
            <a:r>
              <a:rPr lang="en-US" b="1" dirty="0"/>
              <a:t>LLM generation engine — </a:t>
            </a:r>
            <a:r>
              <a:rPr lang="en-US" b="1" dirty="0" err="1"/>
              <a:t>LLaMA</a:t>
            </a:r>
            <a:r>
              <a:rPr lang="en-US" b="1" dirty="0"/>
              <a:t> 3.3-70B</a:t>
            </a:r>
            <a:r>
              <a:rPr lang="en-US" dirty="0"/>
              <a:t> running on the </a:t>
            </a:r>
            <a:r>
              <a:rPr lang="en-US" b="1" dirty="0" err="1"/>
              <a:t>Groq</a:t>
            </a:r>
            <a:r>
              <a:rPr lang="en-US" b="1" dirty="0"/>
              <a:t> API</a:t>
            </a:r>
            <a:r>
              <a:rPr lang="en-US" dirty="0"/>
              <a:t>.</a:t>
            </a:r>
          </a:p>
          <a:p>
            <a:r>
              <a:rPr lang="en-US" dirty="0"/>
              <a:t>Finally, the model generates a </a:t>
            </a:r>
            <a:r>
              <a:rPr lang="en-US" b="1" dirty="0"/>
              <a:t>well-structured, citation-grounded answer</a:t>
            </a:r>
            <a:r>
              <a:rPr lang="en-US" dirty="0"/>
              <a:t>, clearly referencing each dataset or web source used.</a:t>
            </a:r>
          </a:p>
          <a:p>
            <a:r>
              <a:rPr lang="en-US" dirty="0"/>
              <a:t>In short, this architecture allows our system to understand a question, retrieve meaningful context intelligently, enhance it with real knowledge, and generate reliable answers — effectively </a:t>
            </a:r>
            <a:r>
              <a:rPr lang="en-US" b="1" dirty="0"/>
              <a:t>bridging ancient wisdom with modern AI reasoning.</a:t>
            </a:r>
            <a:endParaRPr lang="en-US" dirty="0"/>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5</a:t>
            </a:fld>
            <a:endParaRPr lang="en-US"/>
          </a:p>
        </p:txBody>
      </p:sp>
    </p:spTree>
    <p:extLst>
      <p:ext uri="{BB962C8B-B14F-4D97-AF65-F5344CB8AC3E}">
        <p14:creationId xmlns:p14="http://schemas.microsoft.com/office/powerpoint/2010/main" val="362572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begins by </a:t>
            </a:r>
            <a:r>
              <a:rPr lang="en-US" b="1" dirty="0"/>
              <a:t>understanding the user’s question</a:t>
            </a:r>
            <a:r>
              <a:rPr lang="en-US" dirty="0"/>
              <a:t> using a smart classifier that identifies whether it’s asking about a person, a concept, or a complex reasoning-based idea.</a:t>
            </a:r>
            <a:br>
              <a:rPr lang="en-US" dirty="0"/>
            </a:br>
            <a:r>
              <a:rPr lang="en-US" dirty="0"/>
              <a:t>This allows the model to choose the most suitable retrieval method for accurate results.</a:t>
            </a:r>
          </a:p>
          <a:p>
            <a:r>
              <a:rPr lang="en-US" dirty="0"/>
              <a:t>Once the query type is recognized, the </a:t>
            </a:r>
            <a:r>
              <a:rPr lang="en-US" b="1" dirty="0"/>
              <a:t>adaptive retrieval engine</a:t>
            </a:r>
            <a:r>
              <a:rPr lang="en-US" dirty="0"/>
              <a:t> searches through the </a:t>
            </a:r>
            <a:r>
              <a:rPr lang="en-US" i="1" dirty="0"/>
              <a:t>Mahabharata</a:t>
            </a:r>
            <a:r>
              <a:rPr lang="en-US" dirty="0"/>
              <a:t> dataset containing </a:t>
            </a:r>
            <a:r>
              <a:rPr lang="en-US" b="1" dirty="0"/>
              <a:t>14,388 verses across 1,574 documents</a:t>
            </a:r>
            <a:r>
              <a:rPr lang="en-US" dirty="0"/>
              <a:t>.</a:t>
            </a:r>
            <a:br>
              <a:rPr lang="en-US" dirty="0"/>
            </a:br>
            <a:r>
              <a:rPr lang="en-US" dirty="0"/>
              <a:t>It uses:</a:t>
            </a:r>
          </a:p>
          <a:p>
            <a:r>
              <a:rPr lang="en-US" b="1" dirty="0"/>
              <a:t>BM25</a:t>
            </a:r>
            <a:r>
              <a:rPr lang="en-US" dirty="0"/>
              <a:t> for keyword-based precision,</a:t>
            </a:r>
          </a:p>
          <a:p>
            <a:r>
              <a:rPr lang="en-US" b="1" dirty="0"/>
              <a:t>FAISS</a:t>
            </a:r>
            <a:r>
              <a:rPr lang="en-US" dirty="0"/>
              <a:t> for semantic understanding, and</a:t>
            </a:r>
          </a:p>
          <a:p>
            <a:r>
              <a:rPr lang="en-US" dirty="0"/>
              <a:t>a </a:t>
            </a:r>
            <a:r>
              <a:rPr lang="en-US" b="1" dirty="0"/>
              <a:t>hybrid approach</a:t>
            </a:r>
            <a:r>
              <a:rPr lang="en-US" dirty="0"/>
              <a:t> for deeper, connected reasoning.</a:t>
            </a:r>
          </a:p>
          <a:p>
            <a:r>
              <a:rPr lang="en-US" dirty="0"/>
              <a:t>To ensure depth and modern context, the system also performs a </a:t>
            </a:r>
            <a:r>
              <a:rPr lang="en-US" b="1" dirty="0"/>
              <a:t>web search</a:t>
            </a:r>
            <a:r>
              <a:rPr lang="en-US" dirty="0"/>
              <a:t> using the </a:t>
            </a:r>
            <a:r>
              <a:rPr lang="en-US" b="1" dirty="0" err="1"/>
              <a:t>Tavily</a:t>
            </a:r>
            <a:r>
              <a:rPr lang="en-US" b="1" dirty="0"/>
              <a:t> API</a:t>
            </a:r>
            <a:r>
              <a:rPr lang="en-US" dirty="0"/>
              <a:t> and filters reliable information through </a:t>
            </a:r>
            <a:r>
              <a:rPr lang="en-US" b="1" dirty="0" err="1"/>
              <a:t>LLaMA</a:t>
            </a:r>
            <a:r>
              <a:rPr lang="en-US" b="1" dirty="0"/>
              <a:t> 3.1-8B</a:t>
            </a:r>
            <a:r>
              <a:rPr lang="en-US" dirty="0"/>
              <a:t>, keeping only verified facts.</a:t>
            </a:r>
          </a:p>
          <a:p>
            <a:r>
              <a:rPr lang="en-US" dirty="0"/>
              <a:t>Finally, the </a:t>
            </a:r>
            <a:r>
              <a:rPr lang="en-US" b="1" dirty="0" err="1"/>
              <a:t>LLaMA</a:t>
            </a:r>
            <a:r>
              <a:rPr lang="en-US" b="1" dirty="0"/>
              <a:t> 3.3-70B model</a:t>
            </a:r>
            <a:r>
              <a:rPr lang="en-US" dirty="0"/>
              <a:t> combines retrieved verses and web knowledge to generate a </a:t>
            </a:r>
            <a:r>
              <a:rPr lang="en-US" b="1" dirty="0"/>
              <a:t>clear, citation-backed answer</a:t>
            </a:r>
            <a:r>
              <a:rPr lang="en-US" dirty="0"/>
              <a:t> — showing exactly where each fact comes from.</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7</a:t>
            </a:fld>
            <a:endParaRPr lang="en-US"/>
          </a:p>
        </p:txBody>
      </p:sp>
    </p:spTree>
    <p:extLst>
      <p:ext uri="{BB962C8B-B14F-4D97-AF65-F5344CB8AC3E}">
        <p14:creationId xmlns:p14="http://schemas.microsoft.com/office/powerpoint/2010/main" val="941098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our data preprocessing pipeline, which forms the foundation of our RAG system."</a:t>
            </a:r>
          </a:p>
          <a:p>
            <a:br>
              <a:rPr lang="en-US" dirty="0"/>
            </a:br>
            <a:endParaRPr lang="en-US" dirty="0"/>
          </a:p>
          <a:p>
            <a:r>
              <a:rPr lang="en-US" b="1" dirty="0"/>
              <a:t>Point 1 - Corpus Scale (15 seconds):</a:t>
            </a:r>
          </a:p>
          <a:p>
            <a:r>
              <a:rPr lang="en-US" dirty="0"/>
              <a:t>"We processed </a:t>
            </a:r>
            <a:r>
              <a:rPr lang="en-US" b="1" dirty="0"/>
              <a:t>1,574 documents</a:t>
            </a:r>
            <a:r>
              <a:rPr lang="en-US" dirty="0"/>
              <a:t> spanning </a:t>
            </a:r>
            <a:r>
              <a:rPr lang="en-US" b="1" dirty="0"/>
              <a:t>16 Parvas</a:t>
            </a:r>
            <a:r>
              <a:rPr lang="en-US" dirty="0"/>
              <a:t> from the Mahabharata. As you can see in the distribution chart, </a:t>
            </a:r>
            <a:r>
              <a:rPr lang="en-US" dirty="0" err="1"/>
              <a:t>Udyoga</a:t>
            </a:r>
            <a:r>
              <a:rPr lang="en-US" dirty="0"/>
              <a:t> Parva contains the most documents with 311, followed by Adi Parva with 235, and Bhishma Parva with 199. This balanced representation ensures we have diverse content—from origin stories in Adi Parva to philosophical teachings in Bhishma Parva."</a:t>
            </a:r>
          </a:p>
          <a:p>
            <a:r>
              <a:rPr lang="en-US" b="1" dirty="0"/>
              <a:t>[SHOW CODE BLOCK #1 NOW]</a:t>
            </a:r>
            <a:endParaRPr lang="en-US" dirty="0"/>
          </a:p>
          <a:p>
            <a:br>
              <a:rPr lang="en-US" dirty="0"/>
            </a:br>
            <a:endParaRPr lang="en-US" dirty="0"/>
          </a:p>
          <a:p>
            <a:r>
              <a:rPr lang="en-US" b="1" dirty="0"/>
              <a:t>Point 2 - Text Normalization (20 seconds):</a:t>
            </a:r>
          </a:p>
          <a:p>
            <a:r>
              <a:rPr lang="en-US" dirty="0"/>
              <a:t>"Our multi-stage cleaning pipeline handles the unique challenges of ancient Sanskrit texts translated to English. We remove HTML artifacts, convert to lowercase, filter special characters, and—critically—standardize Sanskrit name variants. For example, Krishna might appear as k-r-s-n-a, k-r-</a:t>
            </a:r>
            <a:r>
              <a:rPr lang="en-US" dirty="0" err="1"/>
              <a:t>i</a:t>
            </a:r>
            <a:r>
              <a:rPr lang="en-US" dirty="0"/>
              <a:t>-s-h-n-a, or with diacritical marks, and we normalize all these to a single standard form. The result is uniform text with an average of 1,121 words per document."</a:t>
            </a:r>
          </a:p>
          <a:p>
            <a:r>
              <a:rPr lang="en-US" b="1" dirty="0"/>
              <a:t>[SHOW CODE BLOCK #2 NOW]</a:t>
            </a:r>
            <a:endParaRPr lang="en-US" dirty="0"/>
          </a:p>
          <a:p>
            <a:br>
              <a:rPr lang="en-US" dirty="0"/>
            </a:br>
            <a:endParaRPr lang="en-US" dirty="0"/>
          </a:p>
          <a:p>
            <a:r>
              <a:rPr lang="en-US" b="1" dirty="0"/>
              <a:t>Point 3 - Dual Indexing (20 seconds):</a:t>
            </a:r>
          </a:p>
          <a:p>
            <a:r>
              <a:rPr lang="en-US" dirty="0"/>
              <a:t>"To enable our adaptive retrieval strategy, we built </a:t>
            </a:r>
            <a:r>
              <a:rPr lang="en-US" b="1" dirty="0"/>
              <a:t>two complementary indices</a:t>
            </a:r>
            <a:r>
              <a:rPr lang="en-US" dirty="0"/>
              <a:t>. First, a BM25 index with 29,230 unique terms for precise keyword matching—this is excellent when users search for specific character names or places. Second, a FAISS index using MiniLM-L6-v2 to create 384-dimensional semantic embeddings. This captures the </a:t>
            </a:r>
            <a:r>
              <a:rPr lang="en-US" i="1" dirty="0"/>
              <a:t>meaning</a:t>
            </a:r>
            <a:r>
              <a:rPr lang="en-US" dirty="0"/>
              <a:t> behind queries, even when different words are used. Together, these indices give us the flexibility to choose the best retrieval method for each query type."</a:t>
            </a:r>
          </a:p>
          <a:p>
            <a:r>
              <a:rPr lang="en-US" b="1" dirty="0"/>
              <a:t>[SHOW CODE BLOCK #3 NOW]</a:t>
            </a:r>
            <a:endParaRPr lang="en-US" dirty="0"/>
          </a:p>
          <a:p>
            <a:br>
              <a:rPr lang="en-US" dirty="0"/>
            </a:br>
            <a:endParaRPr lang="en-US" dirty="0"/>
          </a:p>
          <a:p>
            <a:r>
              <a:rPr lang="en-US" b="1" dirty="0"/>
              <a:t>Closing (5 seconds):</a:t>
            </a:r>
          </a:p>
          <a:p>
            <a:r>
              <a:rPr lang="en-US" dirty="0"/>
              <a:t>"This preprocessing foundation enables accurate, efficient retrieval across our entire corpus. Now let's see how we built those indices</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9</a:t>
            </a:fld>
            <a:endParaRPr lang="en-US"/>
          </a:p>
        </p:txBody>
      </p:sp>
    </p:spTree>
    <p:extLst>
      <p:ext uri="{BB962C8B-B14F-4D97-AF65-F5344CB8AC3E}">
        <p14:creationId xmlns:p14="http://schemas.microsoft.com/office/powerpoint/2010/main" val="1358345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three real examples. First, when asked 'Who was Arjuna?'—an entity-focused query—the system uses BM25 retrieval and responds in under one second with precise biographical information. Second, for 'What is dharma?'—a conceptual question—FAISS semantic search finds relevant philosophical passages in just over a second. Third, for the multi-hop question 'What vow did Bhishma take and why?'—the system decomposes this into sub-queries, uses hybrid retrieval, and synthesizes information from multiple sources in about two seconds.</a:t>
            </a:r>
          </a:p>
        </p:txBody>
      </p:sp>
      <p:sp>
        <p:nvSpPr>
          <p:cNvPr id="4" name="Slide Number Placeholder 3"/>
          <p:cNvSpPr>
            <a:spLocks noGrp="1"/>
          </p:cNvSpPr>
          <p:nvPr>
            <p:ph type="sldNum" sz="quarter" idx="5"/>
          </p:nvPr>
        </p:nvSpPr>
        <p:spPr/>
        <p:txBody>
          <a:bodyPr/>
          <a:lstStyle/>
          <a:p>
            <a:fld id="{CD50BC43-469B-4F6F-9DF9-AA0B60D17C27}" type="slidenum">
              <a:rPr lang="en-US" smtClean="0"/>
              <a:t>13</a:t>
            </a:fld>
            <a:endParaRPr lang="en-US"/>
          </a:p>
        </p:txBody>
      </p:sp>
    </p:spTree>
    <p:extLst>
      <p:ext uri="{BB962C8B-B14F-4D97-AF65-F5344CB8AC3E}">
        <p14:creationId xmlns:p14="http://schemas.microsoft.com/office/powerpoint/2010/main" val="1114826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SIMPLIFIED SPEECH SCRIPT (45 seconds)</a:t>
            </a:r>
          </a:p>
          <a:p>
            <a:r>
              <a:rPr lang="en-US" dirty="0"/>
              <a:t>"Let's examine our evaluation metrics.</a:t>
            </a:r>
          </a:p>
          <a:p>
            <a:r>
              <a:rPr lang="en-US" dirty="0"/>
              <a:t>On the left, </a:t>
            </a:r>
            <a:r>
              <a:rPr lang="en-US" b="1" dirty="0"/>
              <a:t>Token F1 measures answer quality</a:t>
            </a:r>
            <a:r>
              <a:rPr lang="en-US" dirty="0"/>
              <a:t>. BM25 leads at 0.135, showing that simple keyword matching works well for entity-focused queries about characters and events. FAISS scores 0.109 using semantic search. Most striking: </a:t>
            </a:r>
            <a:r>
              <a:rPr lang="en-US" b="1" dirty="0"/>
              <a:t>both Hybrid approaches collapsed to just 0.041—a 70% degradation</a:t>
            </a:r>
            <a:r>
              <a:rPr lang="en-US" dirty="0"/>
              <a:t>. Naive concatenation of retrieval results introduced noise that confused our answer generation.</a:t>
            </a:r>
          </a:p>
          <a:p>
            <a:r>
              <a:rPr lang="en-US" dirty="0"/>
              <a:t>On the right, </a:t>
            </a:r>
            <a:r>
              <a:rPr lang="en-US" b="1" dirty="0"/>
              <a:t>latency shows response speed</a:t>
            </a:r>
            <a:r>
              <a:rPr lang="en-US" dirty="0"/>
              <a:t>. The data here shows BM25 and FAISS performing similarly around 2.6 seconds, with variations in the hybrid approaches.</a:t>
            </a:r>
          </a:p>
          <a:p>
            <a:r>
              <a:rPr lang="en-US" dirty="0"/>
              <a:t>The key lesson: </a:t>
            </a:r>
            <a:r>
              <a:rPr lang="en-US" b="1" dirty="0"/>
              <a:t>simpler beat complex</a:t>
            </a:r>
            <a:r>
              <a:rPr lang="en-US" dirty="0"/>
              <a:t>. Our most sophisticated retrieval strategy performed worst, teaching us that domain-specific optimization matters more than architectural complexity. For ancient texts with precise entity references, keyword matching outperforms semantic embeddings."</a:t>
            </a:r>
          </a:p>
          <a:p>
            <a:br>
              <a:rPr lang="en-US" dirty="0"/>
            </a:br>
            <a:endParaRPr lang="en-US" dirty="0"/>
          </a:p>
          <a:p>
            <a:r>
              <a:rPr lang="en-US" b="1" dirty="0"/>
              <a:t>🎤 METRIC-BY-METRIC EXPLANATION</a:t>
            </a:r>
          </a:p>
          <a:p>
            <a:r>
              <a:rPr lang="en-US" b="1" dirty="0"/>
              <a:t>Token F1 Score - What It Means:</a:t>
            </a:r>
          </a:p>
          <a:p>
            <a:r>
              <a:rPr lang="en-US" dirty="0"/>
              <a:t>"Token F1 is a standard NLP metric that measures the word-level overlap between our generated answer and the ground truth reference answer.</a:t>
            </a:r>
          </a:p>
          <a:p>
            <a:r>
              <a:rPr lang="en-US" dirty="0"/>
              <a:t>Here's how it works: we tokenize both texts, find the common words, then calculate precision—what fraction of our answer's words are correct—and recall—what fraction of the ground truth words we captured. F1 is the harmonic mean of these two.</a:t>
            </a:r>
          </a:p>
          <a:p>
            <a:r>
              <a:rPr lang="en-US" dirty="0"/>
              <a:t>A score of </a:t>
            </a:r>
            <a:r>
              <a:rPr lang="en-US" b="1" dirty="0"/>
              <a:t>0.135 for BM25</a:t>
            </a:r>
            <a:r>
              <a:rPr lang="en-US" dirty="0"/>
              <a:t> means that roughly 13.5% of the tokens overlap perfectly after filtering stop words. While this might seem low, it's actually reasonable because our LLM generates verbose, explanatory answers while ground truth is often concise reference text.</a:t>
            </a:r>
          </a:p>
          <a:p>
            <a:r>
              <a:rPr lang="en-US" dirty="0"/>
              <a:t>The </a:t>
            </a:r>
            <a:r>
              <a:rPr lang="en-US" b="1" dirty="0"/>
              <a:t>catastrophic drop to 0.041 for Hybrid</a:t>
            </a:r>
            <a:r>
              <a:rPr lang="en-US" dirty="0"/>
              <a:t> reveals that when we combined BM25 and FAISS results without intelligent ranking, we diluted the signal with noise."</a:t>
            </a:r>
          </a:p>
          <a:p>
            <a:br>
              <a:rPr lang="en-US" dirty="0"/>
            </a:br>
            <a:endParaRPr lang="en-US" dirty="0"/>
          </a:p>
          <a:p>
            <a:r>
              <a:rPr lang="en-US" b="1" dirty="0"/>
              <a:t>Latency - What It Means:</a:t>
            </a:r>
          </a:p>
          <a:p>
            <a:r>
              <a:rPr lang="en-US" dirty="0"/>
              <a:t>"Latency measures end-to-end response time from query submission to answer delivery. This includes:</a:t>
            </a:r>
          </a:p>
          <a:p>
            <a:r>
              <a:rPr lang="en-US" dirty="0"/>
              <a:t>Query classification (~1ms)</a:t>
            </a:r>
          </a:p>
          <a:p>
            <a:r>
              <a:rPr lang="en-US" dirty="0"/>
              <a:t>Retrieval from indices (BM25: ~3ms, FAISS: ~0.2ms)</a:t>
            </a:r>
          </a:p>
          <a:p>
            <a:r>
              <a:rPr lang="en-US" dirty="0"/>
              <a:t>Context assembly (~10ms)</a:t>
            </a:r>
          </a:p>
          <a:p>
            <a:r>
              <a:rPr lang="en-US" dirty="0"/>
              <a:t>LLM generation (600-900ms via </a:t>
            </a:r>
            <a:r>
              <a:rPr lang="en-US" dirty="0" err="1"/>
              <a:t>Groq</a:t>
            </a:r>
            <a:r>
              <a:rPr lang="en-US" dirty="0"/>
              <a:t> API)</a:t>
            </a:r>
          </a:p>
          <a:p>
            <a:r>
              <a:rPr lang="en-US" dirty="0"/>
              <a:t>Post-processing (~5ms)</a:t>
            </a:r>
          </a:p>
          <a:p>
            <a:r>
              <a:rPr lang="en-US" dirty="0"/>
              <a:t>The </a:t>
            </a:r>
            <a:r>
              <a:rPr lang="en-US" b="1" dirty="0"/>
              <a:t>2.6-second latency for BM25 and FAISS</a:t>
            </a:r>
            <a:r>
              <a:rPr lang="en-US" dirty="0"/>
              <a:t> reflects primarily the LLM generation time, since retrieval itself is sub-second. The similarity in their latencies confirms that retrieval method choice has minimal impact on speed—it's the generation that dominates.</a:t>
            </a:r>
          </a:p>
          <a:p>
            <a:r>
              <a:rPr lang="en-US" dirty="0"/>
              <a:t>For production systems, anything under 3 seconds feels responsive to users, so both BM25 and FAISS meet real-time requirements."</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14</a:t>
            </a:fld>
            <a:endParaRPr lang="en-US"/>
          </a:p>
        </p:txBody>
      </p:sp>
    </p:spTree>
    <p:extLst>
      <p:ext uri="{BB962C8B-B14F-4D97-AF65-F5344CB8AC3E}">
        <p14:creationId xmlns:p14="http://schemas.microsoft.com/office/powerpoint/2010/main" val="605560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our evaluation results. We tested four system configurations on 42 queries, measuring answer quality with Token F1 scores and speed with latency.</a:t>
            </a:r>
          </a:p>
          <a:p>
            <a:r>
              <a:rPr lang="en-US" dirty="0"/>
              <a:t>The findings were surprising. </a:t>
            </a:r>
            <a:r>
              <a:rPr lang="en-US" b="1" dirty="0"/>
              <a:t>FAISS-Only achieved the best quality</a:t>
            </a:r>
            <a:r>
              <a:rPr lang="en-US" dirty="0"/>
              <a:t> with an F1 score of 0.137, thanks to its semantic understanding. </a:t>
            </a:r>
            <a:r>
              <a:rPr lang="en-US" b="1" dirty="0"/>
              <a:t>BM25-Only was the speed champion</a:t>
            </a:r>
            <a:r>
              <a:rPr lang="en-US" dirty="0"/>
              <a:t> at just 0.74 seconds—that's 4 times faster than FAISS and 20 times faster than our web-enhanced version.</a:t>
            </a:r>
          </a:p>
          <a:p>
            <a:r>
              <a:rPr lang="en-US" dirty="0"/>
              <a:t>Here's what shocked us: </a:t>
            </a:r>
            <a:r>
              <a:rPr lang="en-US" b="1" dirty="0"/>
              <a:t>the Hybrid approach actually underperformed</a:t>
            </a:r>
            <a:r>
              <a:rPr lang="en-US" dirty="0"/>
              <a:t> both single methods, scoring only 0.113. Naive concatenation introduced noise instead of creating synergy. Even worse, </a:t>
            </a:r>
            <a:r>
              <a:rPr lang="en-US" b="1" dirty="0"/>
              <a:t>adding web search caused quality to plummet 63%</a:t>
            </a:r>
            <a:r>
              <a:rPr lang="en-US" dirty="0"/>
              <a:t> down to 0.042. Modern scholarly sources provided anachronistic interpretations that confused the model.</a:t>
            </a:r>
          </a:p>
          <a:p>
            <a:r>
              <a:rPr lang="en-US" dirty="0"/>
              <a:t>The good news? All configurations cost less than one-tenth of a cent per query. Our </a:t>
            </a:r>
            <a:r>
              <a:rPr lang="en-US" b="1" dirty="0"/>
              <a:t>recommendation is simple</a:t>
            </a:r>
            <a:r>
              <a:rPr lang="en-US" dirty="0"/>
              <a:t>: use FAISS-Only when quality matters most, like for research. Use BM25-Only for production systems where sub-second response times are critical. And our hybrid approach? It needs sophisticated reranking algorithms, not simple combination.</a:t>
            </a:r>
          </a:p>
          <a:p>
            <a:r>
              <a:rPr lang="en-US" dirty="0"/>
              <a:t>This teaches us an important lesson: what works for modern web content doesn't work for ancient texts. Domain-specific strategies matter."</a:t>
            </a:r>
          </a:p>
          <a:p>
            <a:br>
              <a:rPr lang="en-US" dirty="0"/>
            </a:br>
            <a:endParaRPr lang="en-US" dirty="0"/>
          </a:p>
          <a:p>
            <a:r>
              <a:rPr lang="en-US" b="1" dirty="0"/>
              <a:t>📋 CODE BLOCK TO SHOW</a:t>
            </a:r>
          </a:p>
          <a:p>
            <a:r>
              <a:rPr lang="en-US" b="1" dirty="0"/>
              <a:t>CODE BLOCK: Results Summary</a:t>
            </a:r>
          </a:p>
          <a:p>
            <a:r>
              <a:rPr lang="en-US" dirty="0"/>
              <a:t>python</a:t>
            </a:r>
          </a:p>
          <a:p>
            <a:pPr rtl="0" latinLnBrk="0"/>
            <a:r>
              <a:rPr lang="en-US" sz="1200" i="1" kern="1200" dirty="0">
                <a:solidFill>
                  <a:schemeClr val="tx1"/>
                </a:solidFill>
                <a:effectLst/>
                <a:latin typeface="+mn-lt"/>
                <a:ea typeface="+mn-ea"/>
                <a:cs typeface="+mn-cs"/>
              </a:rPr>
              <a:t># Evaluation Results Summary</a:t>
            </a:r>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import pandas as pd</a:t>
            </a:r>
          </a:p>
          <a:p>
            <a:pPr rtl="0" latinLnBrk="0"/>
            <a:r>
              <a:rPr lang="en-US" sz="1200" kern="1200" dirty="0">
                <a:solidFill>
                  <a:schemeClr val="tx1"/>
                </a:solidFill>
                <a:effectLst/>
                <a:latin typeface="+mn-lt"/>
                <a:ea typeface="+mn-ea"/>
                <a:cs typeface="+mn-cs"/>
              </a:rPr>
              <a:t>import </a:t>
            </a:r>
            <a:r>
              <a:rPr lang="en-US" sz="1200" kern="1200" dirty="0" err="1">
                <a:solidFill>
                  <a:schemeClr val="tx1"/>
                </a:solidFill>
                <a:effectLst/>
                <a:latin typeface="+mn-lt"/>
                <a:ea typeface="+mn-ea"/>
                <a:cs typeface="+mn-cs"/>
              </a:rPr>
              <a:t>numpy</a:t>
            </a:r>
            <a:r>
              <a:rPr lang="en-US" sz="1200" kern="1200" dirty="0">
                <a:solidFill>
                  <a:schemeClr val="tx1"/>
                </a:solidFill>
                <a:effectLst/>
                <a:latin typeface="+mn-lt"/>
                <a:ea typeface="+mn-ea"/>
                <a:cs typeface="+mn-cs"/>
              </a:rPr>
              <a:t> as np</a:t>
            </a:r>
          </a:p>
          <a:p>
            <a:pPr rtl="0" latinLnBrk="0"/>
            <a:endParaRPr lang="en-US" sz="1200" kern="1200" dirty="0">
              <a:solidFill>
                <a:schemeClr val="tx1"/>
              </a:solidFill>
              <a:effectLst/>
              <a:latin typeface="+mn-lt"/>
              <a:ea typeface="+mn-ea"/>
              <a:cs typeface="+mn-cs"/>
            </a:endParaRPr>
          </a:p>
          <a:p>
            <a:pPr rtl="0" latinLnBrk="0"/>
            <a:r>
              <a:rPr lang="en-US" sz="1200" i="1" kern="1200" dirty="0">
                <a:solidFill>
                  <a:schemeClr val="tx1"/>
                </a:solidFill>
                <a:effectLst/>
                <a:latin typeface="+mn-lt"/>
                <a:ea typeface="+mn-ea"/>
                <a:cs typeface="+mn-cs"/>
              </a:rPr>
              <a:t># Results from 42-query evaluation</a:t>
            </a:r>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configs = ['BM25-Only', 'FAISS-Only', 'Hybrid', '</a:t>
            </a:r>
            <a:r>
              <a:rPr lang="en-US" sz="1200" kern="1200" dirty="0" err="1">
                <a:solidFill>
                  <a:schemeClr val="tx1"/>
                </a:solidFill>
                <a:effectLst/>
                <a:latin typeface="+mn-lt"/>
                <a:ea typeface="+mn-ea"/>
                <a:cs typeface="+mn-cs"/>
              </a:rPr>
              <a:t>Hybrid+Web</a:t>
            </a:r>
            <a:r>
              <a:rPr lang="en-US" sz="1200" kern="1200" dirty="0">
                <a:solidFill>
                  <a:schemeClr val="tx1"/>
                </a:solidFill>
                <a:effectLst/>
                <a:latin typeface="+mn-lt"/>
                <a:ea typeface="+mn-ea"/>
                <a:cs typeface="+mn-cs"/>
              </a:rPr>
              <a:t>']</a:t>
            </a:r>
          </a:p>
          <a:p>
            <a:pPr rtl="0" latinLnBrk="0"/>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results = {</a:t>
            </a:r>
          </a:p>
          <a:p>
            <a:pPr rtl="0" latinLnBrk="0"/>
            <a:r>
              <a:rPr lang="en-US" sz="1200" kern="1200" dirty="0">
                <a:solidFill>
                  <a:schemeClr val="tx1"/>
                </a:solidFill>
                <a:effectLst/>
                <a:latin typeface="+mn-lt"/>
                <a:ea typeface="+mn-ea"/>
                <a:cs typeface="+mn-cs"/>
              </a:rPr>
              <a:t>    'Token F1': [0.130, 0.137, 0.113, 0.042],</a:t>
            </a:r>
          </a:p>
          <a:p>
            <a:pPr rtl="0" latinLnBrk="0"/>
            <a:r>
              <a:rPr lang="en-US" sz="1200" kern="1200" dirty="0">
                <a:solidFill>
                  <a:schemeClr val="tx1"/>
                </a:solidFill>
                <a:effectLst/>
                <a:latin typeface="+mn-lt"/>
                <a:ea typeface="+mn-ea"/>
                <a:cs typeface="+mn-cs"/>
              </a:rPr>
              <a:t>    'p50 Latency (s)': [0.74, 3.16, 2.70, 15.11],</a:t>
            </a:r>
          </a:p>
          <a:p>
            <a:pPr rtl="0" latinLnBrk="0"/>
            <a:r>
              <a:rPr lang="en-US" sz="1200" kern="1200" dirty="0">
                <a:solidFill>
                  <a:schemeClr val="tx1"/>
                </a:solidFill>
                <a:effectLst/>
                <a:latin typeface="+mn-lt"/>
                <a:ea typeface="+mn-ea"/>
                <a:cs typeface="+mn-cs"/>
              </a:rPr>
              <a:t>    'Cost/Query ($)': [0.0010, 0.0010, 0.0008, 0.0000]</a:t>
            </a:r>
          </a:p>
          <a:p>
            <a:pPr rtl="0" latinLnBrk="0"/>
            <a:r>
              <a:rPr lang="en-US" sz="1200" kern="1200" dirty="0">
                <a:solidFill>
                  <a:schemeClr val="tx1"/>
                </a:solidFill>
                <a:effectLst/>
                <a:latin typeface="+mn-lt"/>
                <a:ea typeface="+mn-ea"/>
                <a:cs typeface="+mn-cs"/>
              </a:rPr>
              <a:t>}</a:t>
            </a:r>
          </a:p>
          <a:p>
            <a:pPr rtl="0" latinLnBrk="0"/>
            <a:endParaRPr lang="en-US" sz="1200" kern="1200" dirty="0">
              <a:solidFill>
                <a:schemeClr val="tx1"/>
              </a:solidFill>
              <a:effectLst/>
              <a:latin typeface="+mn-lt"/>
              <a:ea typeface="+mn-ea"/>
              <a:cs typeface="+mn-cs"/>
            </a:endParaRPr>
          </a:p>
          <a:p>
            <a:pPr rtl="0" latinLnBrk="0"/>
            <a:r>
              <a:rPr lang="en-US" sz="1200" kern="1200" dirty="0" err="1">
                <a:solidFill>
                  <a:schemeClr val="tx1"/>
                </a:solidFill>
                <a:effectLst/>
                <a:latin typeface="+mn-lt"/>
                <a:ea typeface="+mn-ea"/>
                <a:cs typeface="+mn-cs"/>
              </a:rPr>
              <a:t>df</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pd.DataFrame</a:t>
            </a:r>
            <a:r>
              <a:rPr lang="en-US" sz="1200" kern="1200" dirty="0">
                <a:solidFill>
                  <a:schemeClr val="tx1"/>
                </a:solidFill>
                <a:effectLst/>
                <a:latin typeface="+mn-lt"/>
                <a:ea typeface="+mn-ea"/>
                <a:cs typeface="+mn-cs"/>
              </a:rPr>
              <a:t>(results, index=configs)</a:t>
            </a:r>
          </a:p>
          <a:p>
            <a:pPr rtl="0" latinLnBrk="0"/>
            <a:r>
              <a:rPr lang="en-US" sz="1200" kern="1200" dirty="0">
                <a:solidFill>
                  <a:schemeClr val="tx1"/>
                </a:solidFill>
                <a:effectLst/>
                <a:latin typeface="+mn-lt"/>
                <a:ea typeface="+mn-ea"/>
                <a:cs typeface="+mn-cs"/>
              </a:rPr>
              <a:t>print(</a:t>
            </a:r>
            <a:r>
              <a:rPr lang="en-US" sz="1200" kern="1200" dirty="0" err="1">
                <a:solidFill>
                  <a:schemeClr val="tx1"/>
                </a:solidFill>
                <a:effectLst/>
                <a:latin typeface="+mn-lt"/>
                <a:ea typeface="+mn-ea"/>
                <a:cs typeface="+mn-cs"/>
              </a:rPr>
              <a:t>df</a:t>
            </a:r>
            <a:r>
              <a:rPr lang="en-US" sz="1200" kern="1200" dirty="0">
                <a:solidFill>
                  <a:schemeClr val="tx1"/>
                </a:solidFill>
                <a:effectLst/>
                <a:latin typeface="+mn-lt"/>
                <a:ea typeface="+mn-ea"/>
                <a:cs typeface="+mn-cs"/>
              </a:rPr>
              <a:t>)</a:t>
            </a:r>
          </a:p>
          <a:p>
            <a:pPr rtl="0" latinLnBrk="0"/>
            <a:endParaRPr lang="en-US" sz="1200" kern="1200" dirty="0">
              <a:solidFill>
                <a:schemeClr val="tx1"/>
              </a:solidFill>
              <a:effectLst/>
              <a:latin typeface="+mn-lt"/>
              <a:ea typeface="+mn-ea"/>
              <a:cs typeface="+mn-cs"/>
            </a:endParaRPr>
          </a:p>
          <a:p>
            <a:pPr rtl="0" latinLnBrk="0"/>
            <a:r>
              <a:rPr lang="en-US" sz="1200" i="1" kern="1200" dirty="0">
                <a:solidFill>
                  <a:schemeClr val="tx1"/>
                </a:solidFill>
                <a:effectLst/>
                <a:latin typeface="+mn-lt"/>
                <a:ea typeface="+mn-ea"/>
                <a:cs typeface="+mn-cs"/>
              </a:rPr>
              <a:t># Key insights</a:t>
            </a:r>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print("\n📊 Key Findings:")</a:t>
            </a:r>
          </a:p>
          <a:p>
            <a:pPr rtl="0" latinLnBrk="0"/>
            <a:r>
              <a:rPr lang="en-US" sz="1200" kern="1200" dirty="0">
                <a:solidFill>
                  <a:schemeClr val="tx1"/>
                </a:solidFill>
                <a:effectLst/>
                <a:latin typeface="+mn-lt"/>
                <a:ea typeface="+mn-ea"/>
                <a:cs typeface="+mn-cs"/>
              </a:rPr>
              <a:t>print("🏆 Best Quality: FAISS-Only (F1 = 0.137)")</a:t>
            </a:r>
          </a:p>
          <a:p>
            <a:pPr rtl="0" latinLnBrk="0"/>
            <a:r>
              <a:rPr lang="en-US" sz="1200" kern="1200" dirty="0">
                <a:solidFill>
                  <a:schemeClr val="tx1"/>
                </a:solidFill>
                <a:effectLst/>
                <a:latin typeface="+mn-lt"/>
                <a:ea typeface="+mn-ea"/>
                <a:cs typeface="+mn-cs"/>
              </a:rPr>
              <a:t>print("⚡ Fastest: BM25-Only (0.74s)")</a:t>
            </a:r>
          </a:p>
          <a:p>
            <a:pPr rtl="0" latinLnBrk="0"/>
            <a:r>
              <a:rPr lang="en-US" sz="1200" kern="1200" dirty="0">
                <a:solidFill>
                  <a:schemeClr val="tx1"/>
                </a:solidFill>
                <a:effectLst/>
                <a:latin typeface="+mn-lt"/>
                <a:ea typeface="+mn-ea"/>
                <a:cs typeface="+mn-cs"/>
              </a:rPr>
              <a:t>print("⚠️ Hybrid underperformed: F1 dropped 13-18%")</a:t>
            </a:r>
          </a:p>
          <a:p>
            <a:pPr rtl="0" latinLnBrk="0"/>
            <a:r>
              <a:rPr lang="en-US" sz="1200" kern="1200" dirty="0">
                <a:solidFill>
                  <a:schemeClr val="tx1"/>
                </a:solidFill>
                <a:effectLst/>
                <a:latin typeface="+mn-lt"/>
                <a:ea typeface="+mn-ea"/>
                <a:cs typeface="+mn-cs"/>
              </a:rPr>
              <a:t>print("❌ Web enhancement degraded quality by 63%")</a:t>
            </a:r>
          </a:p>
          <a:p>
            <a:pPr rtl="0" latinLnBrk="0"/>
            <a:r>
              <a:rPr lang="en-US" sz="1200" kern="1200" dirty="0">
                <a:solidFill>
                  <a:schemeClr val="tx1"/>
                </a:solidFill>
                <a:effectLst/>
                <a:latin typeface="+mn-lt"/>
                <a:ea typeface="+mn-ea"/>
                <a:cs typeface="+mn-cs"/>
              </a:rPr>
              <a:t>print("💰 All configs: &lt; $0.001 per query")</a:t>
            </a:r>
          </a:p>
          <a:p>
            <a:pPr rtl="0" latinLnBrk="0"/>
            <a:r>
              <a:rPr lang="en-US" sz="1200" kern="1200" dirty="0">
                <a:solidFill>
                  <a:schemeClr val="tx1"/>
                </a:solidFill>
                <a:effectLst/>
                <a:latin typeface="+mn-lt"/>
                <a:ea typeface="+mn-ea"/>
                <a:cs typeface="+mn-cs"/>
              </a:rPr>
              <a:t>```</a:t>
            </a:r>
          </a:p>
          <a:p>
            <a:pPr rtl="0" latinLnBrk="0"/>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**Output:**</a:t>
            </a:r>
          </a:p>
          <a:p>
            <a:pPr rtl="0" latinLnBrk="0"/>
            <a:r>
              <a:rPr lang="en-US" sz="1200" kern="1200" dirty="0">
                <a:solidFill>
                  <a:schemeClr val="tx1"/>
                </a:solidFill>
                <a:effectLst/>
                <a:latin typeface="+mn-lt"/>
                <a:ea typeface="+mn-ea"/>
                <a:cs typeface="+mn-cs"/>
              </a:rPr>
              <a:t>```</a:t>
            </a:r>
          </a:p>
          <a:p>
            <a:pPr rtl="0" latinLnBrk="0"/>
            <a:r>
              <a:rPr lang="en-US" sz="1200" kern="1200" dirty="0">
                <a:solidFill>
                  <a:schemeClr val="tx1"/>
                </a:solidFill>
                <a:effectLst/>
                <a:latin typeface="+mn-lt"/>
                <a:ea typeface="+mn-ea"/>
                <a:cs typeface="+mn-cs"/>
              </a:rPr>
              <a:t>              Token F1  p50 Latency (s)  Cost/Query ($)</a:t>
            </a:r>
          </a:p>
          <a:p>
            <a:pPr rtl="0" latinLnBrk="0"/>
            <a:r>
              <a:rPr lang="en-US" sz="1200" kern="1200" dirty="0">
                <a:solidFill>
                  <a:schemeClr val="tx1"/>
                </a:solidFill>
                <a:effectLst/>
                <a:latin typeface="+mn-lt"/>
                <a:ea typeface="+mn-ea"/>
                <a:cs typeface="+mn-cs"/>
              </a:rPr>
              <a:t>BM25-Only        0.130             0.74          0.0010</a:t>
            </a:r>
          </a:p>
          <a:p>
            <a:pPr rtl="0" latinLnBrk="0"/>
            <a:r>
              <a:rPr lang="en-US" sz="1200" kern="1200" dirty="0">
                <a:solidFill>
                  <a:schemeClr val="tx1"/>
                </a:solidFill>
                <a:effectLst/>
                <a:latin typeface="+mn-lt"/>
                <a:ea typeface="+mn-ea"/>
                <a:cs typeface="+mn-cs"/>
              </a:rPr>
              <a:t>FAISS-Only       0.137             3.16          0.0010</a:t>
            </a:r>
          </a:p>
          <a:p>
            <a:pPr rtl="0" latinLnBrk="0"/>
            <a:r>
              <a:rPr lang="en-US" sz="1200" kern="1200" dirty="0">
                <a:solidFill>
                  <a:schemeClr val="tx1"/>
                </a:solidFill>
                <a:effectLst/>
                <a:latin typeface="+mn-lt"/>
                <a:ea typeface="+mn-ea"/>
                <a:cs typeface="+mn-cs"/>
              </a:rPr>
              <a:t>Hybrid           0.113             2.70          0.0008</a:t>
            </a:r>
          </a:p>
          <a:p>
            <a:pPr rtl="0" latinLnBrk="0"/>
            <a:r>
              <a:rPr lang="en-US" sz="1200" kern="1200" dirty="0" err="1">
                <a:solidFill>
                  <a:schemeClr val="tx1"/>
                </a:solidFill>
                <a:effectLst/>
                <a:latin typeface="+mn-lt"/>
                <a:ea typeface="+mn-ea"/>
                <a:cs typeface="+mn-cs"/>
              </a:rPr>
              <a:t>Hybrid+Web</a:t>
            </a:r>
            <a:r>
              <a:rPr lang="en-US" sz="1200" kern="1200" dirty="0">
                <a:solidFill>
                  <a:schemeClr val="tx1"/>
                </a:solidFill>
                <a:effectLst/>
                <a:latin typeface="+mn-lt"/>
                <a:ea typeface="+mn-ea"/>
                <a:cs typeface="+mn-cs"/>
              </a:rPr>
              <a:t>       0.042            15.11          0.0000</a:t>
            </a:r>
          </a:p>
          <a:p>
            <a:pPr rtl="0" latinLnBrk="0"/>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 Key Findings:</a:t>
            </a:r>
          </a:p>
          <a:p>
            <a:pPr rtl="0" latinLnBrk="0"/>
            <a:r>
              <a:rPr lang="en-US" sz="1200" kern="1200" dirty="0">
                <a:solidFill>
                  <a:schemeClr val="tx1"/>
                </a:solidFill>
                <a:effectLst/>
                <a:latin typeface="+mn-lt"/>
                <a:ea typeface="+mn-ea"/>
                <a:cs typeface="+mn-cs"/>
              </a:rPr>
              <a:t>🏆 Best Quality: FAISS-Only (F1 = 0.137)</a:t>
            </a:r>
          </a:p>
          <a:p>
            <a:pPr rtl="0" latinLnBrk="0"/>
            <a:r>
              <a:rPr lang="en-US" sz="1200" kern="1200" dirty="0">
                <a:solidFill>
                  <a:schemeClr val="tx1"/>
                </a:solidFill>
                <a:effectLst/>
                <a:latin typeface="+mn-lt"/>
                <a:ea typeface="+mn-ea"/>
                <a:cs typeface="+mn-cs"/>
              </a:rPr>
              <a:t>⚡ Fastest: BM25-Only (0.74s)</a:t>
            </a:r>
          </a:p>
          <a:p>
            <a:pPr rtl="0" latinLnBrk="0"/>
            <a:r>
              <a:rPr lang="en-US" sz="1200" kern="1200" dirty="0">
                <a:solidFill>
                  <a:schemeClr val="tx1"/>
                </a:solidFill>
                <a:effectLst/>
                <a:latin typeface="+mn-lt"/>
                <a:ea typeface="+mn-ea"/>
                <a:cs typeface="+mn-cs"/>
              </a:rPr>
              <a:t>⚠️ Hybrid underperformed: F1 dropped 13-18%</a:t>
            </a:r>
          </a:p>
          <a:p>
            <a:pPr rtl="0" latinLnBrk="0"/>
            <a:r>
              <a:rPr lang="en-US" sz="1200" kern="1200" dirty="0">
                <a:solidFill>
                  <a:schemeClr val="tx1"/>
                </a:solidFill>
                <a:effectLst/>
                <a:latin typeface="+mn-lt"/>
                <a:ea typeface="+mn-ea"/>
                <a:cs typeface="+mn-cs"/>
              </a:rPr>
              <a:t>❌ Web enhancement degraded quality by 63%</a:t>
            </a:r>
          </a:p>
          <a:p>
            <a:pPr rtl="0" latinLnBrk="0"/>
            <a:r>
              <a:rPr lang="en-US" sz="1200" kern="1200" dirty="0">
                <a:solidFill>
                  <a:schemeClr val="tx1"/>
                </a:solidFill>
                <a:effectLst/>
                <a:latin typeface="+mn-lt"/>
                <a:ea typeface="+mn-ea"/>
                <a:cs typeface="+mn-cs"/>
              </a:rPr>
              <a:t>💰 All configs: &lt; $0.001 per query</a:t>
            </a:r>
          </a:p>
          <a:p>
            <a:r>
              <a:rPr lang="en-US" b="1" dirty="0"/>
              <a:t>Label:</a:t>
            </a:r>
            <a:r>
              <a:rPr lang="en-US" dirty="0"/>
              <a:t> "Evaluation Results - 42 Queries, 4 Configurations"</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15</a:t>
            </a:fld>
            <a:endParaRPr lang="en-US"/>
          </a:p>
        </p:txBody>
      </p:sp>
    </p:spTree>
    <p:extLst>
      <p:ext uri="{BB962C8B-B14F-4D97-AF65-F5344CB8AC3E}">
        <p14:creationId xmlns:p14="http://schemas.microsoft.com/office/powerpoint/2010/main" val="644599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conclude.</a:t>
            </a:r>
          </a:p>
          <a:p>
            <a:r>
              <a:rPr lang="en-US" dirty="0"/>
              <a:t>In this project, we successfully built an Adaptive Multi-Hop RAG system that makes the Mahabharata—with over 14,000 verses—accessible through natural language questions.</a:t>
            </a:r>
          </a:p>
          <a:p>
            <a:r>
              <a:rPr lang="en-US" dirty="0"/>
              <a:t>Our evaluation revealed three key insights that challenge conventional wisdom. First, </a:t>
            </a:r>
            <a:r>
              <a:rPr lang="en-US" b="1" dirty="0"/>
              <a:t>simpler can be better</a:t>
            </a:r>
            <a:r>
              <a:rPr lang="en-US" dirty="0"/>
              <a:t>: FAISS semantic search alone outperformed our hybrid approach because naive concatenation introduced noise rather than synergy. Second, </a:t>
            </a:r>
            <a:r>
              <a:rPr lang="en-US" b="1" dirty="0"/>
              <a:t>domain-specific strategies are essential</a:t>
            </a:r>
            <a:r>
              <a:rPr lang="en-US" dirty="0"/>
              <a:t>: adding web search—which helps modern topics—actually degraded our ancient text quality by 63%. Modern sources provide anachronistic interpretations that confuse the synthesis process. Third, we face a </a:t>
            </a:r>
            <a:r>
              <a:rPr lang="en-US" b="1" dirty="0"/>
              <a:t>real quality-speed trade-off</a:t>
            </a:r>
            <a:r>
              <a:rPr lang="en-US" dirty="0"/>
              <a:t>: BM25 gives us sub-second responses for production systems, while FAISS delivers the best answer quality for research applications.</a:t>
            </a:r>
          </a:p>
          <a:p>
            <a:r>
              <a:rPr lang="en-US" dirty="0"/>
              <a:t>The impact is significant. At under one-tenth of a cent per query, this system enables researchers to search months of reading in seconds, gives students an interactive learning companion, and makes ancient wisdom accessible to everyone—regardless of Sanskrit knowledge.</a:t>
            </a:r>
          </a:p>
          <a:p>
            <a:r>
              <a:rPr lang="en-US" dirty="0"/>
              <a:t>Looking forward, we need three improvements: expert-annotated test sets to replace our automated ground truth, LLM-based query decomposition for true multi-hop reasoning, and sophisticated reranking algorithms to make hybrid retrieval actually work.</a:t>
            </a:r>
          </a:p>
          <a:p>
            <a:r>
              <a:rPr lang="en-US" dirty="0"/>
              <a:t>This project proves that with the right architecture, we can bridge thousands of years between ancient texts and modern AI, preserving cultural heritage while making it accessible to the digital age.</a:t>
            </a:r>
          </a:p>
          <a:p>
            <a:r>
              <a:rPr lang="en-US" dirty="0"/>
              <a:t>Thank you.</a:t>
            </a:r>
          </a:p>
          <a:p>
            <a:endParaRPr lang="en-US" dirty="0"/>
          </a:p>
        </p:txBody>
      </p:sp>
      <p:sp>
        <p:nvSpPr>
          <p:cNvPr id="4" name="Slide Number Placeholder 3"/>
          <p:cNvSpPr>
            <a:spLocks noGrp="1"/>
          </p:cNvSpPr>
          <p:nvPr>
            <p:ph type="sldNum" sz="quarter" idx="5"/>
          </p:nvPr>
        </p:nvSpPr>
        <p:spPr/>
        <p:txBody>
          <a:bodyPr/>
          <a:lstStyle/>
          <a:p>
            <a:fld id="{CD50BC43-469B-4F6F-9DF9-AA0B60D17C27}" type="slidenum">
              <a:rPr lang="en-US" smtClean="0"/>
              <a:t>16</a:t>
            </a:fld>
            <a:endParaRPr lang="en-US"/>
          </a:p>
        </p:txBody>
      </p:sp>
    </p:spTree>
    <p:extLst>
      <p:ext uri="{BB962C8B-B14F-4D97-AF65-F5344CB8AC3E}">
        <p14:creationId xmlns:p14="http://schemas.microsoft.com/office/powerpoint/2010/main" val="1126798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46587-8AC7-BA9F-E0D6-00B60766E5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FEEB78-BC5A-058B-4A36-5FD7CB26F5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BDD7C7-E8BF-A7A5-6484-32B8F15F2F48}"/>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5" name="Footer Placeholder 4">
            <a:extLst>
              <a:ext uri="{FF2B5EF4-FFF2-40B4-BE49-F238E27FC236}">
                <a16:creationId xmlns:a16="http://schemas.microsoft.com/office/drawing/2014/main" id="{60830E17-F472-643D-9037-10D6189FE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84321-5B64-CDF1-CCF4-D4FD6EFEC277}"/>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4072432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396E8-A2FF-C74A-CF72-D7296B7FAC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92F942-4474-64CE-BDDB-28536D96E5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12E32-3E5D-B10C-177D-29A1CEA7C8E5}"/>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5" name="Footer Placeholder 4">
            <a:extLst>
              <a:ext uri="{FF2B5EF4-FFF2-40B4-BE49-F238E27FC236}">
                <a16:creationId xmlns:a16="http://schemas.microsoft.com/office/drawing/2014/main" id="{4C99E6F2-581E-64EC-1A4D-E4F7D4CF1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973837-7723-A546-80F5-73DE66EFC0F7}"/>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1625214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AE0F4-DC77-04C9-05F8-2F1EB32DAF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8924E7-ECA2-02EA-CC88-73001E9005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49A8CF-D630-F2E7-22EC-4D449EAAC769}"/>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5" name="Footer Placeholder 4">
            <a:extLst>
              <a:ext uri="{FF2B5EF4-FFF2-40B4-BE49-F238E27FC236}">
                <a16:creationId xmlns:a16="http://schemas.microsoft.com/office/drawing/2014/main" id="{4D3DAAFB-D4C5-6B8B-D25A-C5BA59B78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E9F8A-0A8D-2151-7B93-934CE35C2B54}"/>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4251139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9B99-9A1B-9315-9DAA-465B9A71B5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96CE42-3232-9AE2-F409-EC692C85FD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3E323F-C848-53F5-6833-10102F056A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D3DB3B-8C55-C5E1-E411-2611640AA63A}"/>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6" name="Footer Placeholder 5">
            <a:extLst>
              <a:ext uri="{FF2B5EF4-FFF2-40B4-BE49-F238E27FC236}">
                <a16:creationId xmlns:a16="http://schemas.microsoft.com/office/drawing/2014/main" id="{B2638046-4833-DD5D-F7D4-E00F3FB23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26634-DD65-0751-8A5C-AE80C3C53203}"/>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289690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39FFB-231C-D922-0042-0A31B5F419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2D3318-0A62-5DF2-EB7F-AB4A51624C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3A33D5-7831-809C-B3B7-119025526E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146B1F-5478-7CB8-0422-2B0CDF25A7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343DB0-4C12-E13D-3FB8-E7C2B51979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2BD3EF-717C-5353-3F9F-2AB6F35DCEAC}"/>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8" name="Footer Placeholder 7">
            <a:extLst>
              <a:ext uri="{FF2B5EF4-FFF2-40B4-BE49-F238E27FC236}">
                <a16:creationId xmlns:a16="http://schemas.microsoft.com/office/drawing/2014/main" id="{36D5BDAB-5737-1630-FCDD-F5BA659406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87D087-6445-B5B3-E965-28D3016C7B8E}"/>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3695086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FB3FA-DFAA-0D24-3B8B-43706595D5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531009-CBD4-71D1-BF3E-DAE51E029967}"/>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4" name="Footer Placeholder 3">
            <a:extLst>
              <a:ext uri="{FF2B5EF4-FFF2-40B4-BE49-F238E27FC236}">
                <a16:creationId xmlns:a16="http://schemas.microsoft.com/office/drawing/2014/main" id="{C6E05430-0D06-2B7A-2ECE-F8D4DF1722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32DD8B-AF73-86B0-079C-CBD997151D46}"/>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2144681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55069C-EBC2-D765-E4D2-3690071666A5}"/>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3" name="Footer Placeholder 2">
            <a:extLst>
              <a:ext uri="{FF2B5EF4-FFF2-40B4-BE49-F238E27FC236}">
                <a16:creationId xmlns:a16="http://schemas.microsoft.com/office/drawing/2014/main" id="{72BAF25D-FB94-F39A-1ED8-10E16894B6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3A96CA-DDDC-674B-6E55-66347B818686}"/>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1243758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39126-B79E-6E36-9E08-57E88EF42E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FFC53D-A5D4-4BA3-CC2F-E95CE7BCFC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4FE196-9621-00E5-F900-7FDA04FA08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DA2775-16D6-F528-8133-4731F125B516}"/>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6" name="Footer Placeholder 5">
            <a:extLst>
              <a:ext uri="{FF2B5EF4-FFF2-40B4-BE49-F238E27FC236}">
                <a16:creationId xmlns:a16="http://schemas.microsoft.com/office/drawing/2014/main" id="{C5330B42-A281-9C5A-152A-FF873A86DA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599E58-481D-B953-DDD5-A5131C9BA990}"/>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751514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4C6E-0AB2-3679-737A-62833C228E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DECE92-3DEB-BF6B-86A7-4130F7168F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440FCC-438D-240C-3F02-7175791D3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B1AB95-FCB5-0438-D4F3-BF0F9D09D9DF}"/>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6" name="Footer Placeholder 5">
            <a:extLst>
              <a:ext uri="{FF2B5EF4-FFF2-40B4-BE49-F238E27FC236}">
                <a16:creationId xmlns:a16="http://schemas.microsoft.com/office/drawing/2014/main" id="{B802E40C-D062-2945-C64D-043E3680CC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8EE8C9-33D5-351C-EFFC-79EA8AB8D79F}"/>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2424522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8F062-3042-F6DE-FB00-1073C9A0AD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92D094-4DA4-6BDA-1361-E39FE84FE3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BBCB5B-4DB5-4E1F-07AA-3A34DF7A46E3}"/>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5" name="Footer Placeholder 4">
            <a:extLst>
              <a:ext uri="{FF2B5EF4-FFF2-40B4-BE49-F238E27FC236}">
                <a16:creationId xmlns:a16="http://schemas.microsoft.com/office/drawing/2014/main" id="{80042406-AAC6-DFAB-D284-DC29DAB05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557F2-B2E6-FF7B-76E8-E33B7BDE4644}"/>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3649868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5E34C2-3790-EDCE-4112-74F3257B63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4A68D2-A7CD-E9AF-8158-8406A48FA5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D2941-5A1F-A424-DDBA-99591CE638C3}"/>
              </a:ext>
            </a:extLst>
          </p:cNvPr>
          <p:cNvSpPr>
            <a:spLocks noGrp="1"/>
          </p:cNvSpPr>
          <p:nvPr>
            <p:ph type="dt" sz="half" idx="10"/>
          </p:nvPr>
        </p:nvSpPr>
        <p:spPr/>
        <p:txBody>
          <a:bodyPr/>
          <a:lstStyle/>
          <a:p>
            <a:fld id="{32A199C3-7081-4600-BA5B-956D2FB7BB42}" type="datetimeFigureOut">
              <a:rPr lang="en-US" smtClean="0"/>
              <a:t>5/4/2026</a:t>
            </a:fld>
            <a:endParaRPr lang="en-US"/>
          </a:p>
        </p:txBody>
      </p:sp>
      <p:sp>
        <p:nvSpPr>
          <p:cNvPr id="5" name="Footer Placeholder 4">
            <a:extLst>
              <a:ext uri="{FF2B5EF4-FFF2-40B4-BE49-F238E27FC236}">
                <a16:creationId xmlns:a16="http://schemas.microsoft.com/office/drawing/2014/main" id="{542C30B9-E950-1D24-65F8-ED11E2FE7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9F37E-C2CD-573F-64B9-E303F5CD1885}"/>
              </a:ext>
            </a:extLst>
          </p:cNvPr>
          <p:cNvSpPr>
            <a:spLocks noGrp="1"/>
          </p:cNvSpPr>
          <p:nvPr>
            <p:ph type="sldNum" sz="quarter" idx="12"/>
          </p:nvPr>
        </p:nvSpPr>
        <p:spPr/>
        <p:txBody>
          <a:bodyPr/>
          <a:lstStyle/>
          <a:p>
            <a:fld id="{714D2CC5-7A54-4C65-8D34-1247870B0178}" type="slidenum">
              <a:rPr lang="en-US" smtClean="0"/>
              <a:t>‹#›</a:t>
            </a:fld>
            <a:endParaRPr lang="en-US"/>
          </a:p>
        </p:txBody>
      </p:sp>
    </p:spTree>
    <p:extLst>
      <p:ext uri="{BB962C8B-B14F-4D97-AF65-F5344CB8AC3E}">
        <p14:creationId xmlns:p14="http://schemas.microsoft.com/office/powerpoint/2010/main" val="482664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0F18E5-0978-9B3A-4FEF-63DFBBCE5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FC0522-733B-C5E6-E966-C1803CBA31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9E465-58B9-8A98-E4C8-B0CC2B7C1A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A199C3-7081-4600-BA5B-956D2FB7BB42}" type="datetimeFigureOut">
              <a:rPr lang="en-US" smtClean="0"/>
              <a:t>5/4/2026</a:t>
            </a:fld>
            <a:endParaRPr lang="en-US"/>
          </a:p>
        </p:txBody>
      </p:sp>
      <p:sp>
        <p:nvSpPr>
          <p:cNvPr id="5" name="Footer Placeholder 4">
            <a:extLst>
              <a:ext uri="{FF2B5EF4-FFF2-40B4-BE49-F238E27FC236}">
                <a16:creationId xmlns:a16="http://schemas.microsoft.com/office/drawing/2014/main" id="{5AA25ED7-6016-2847-5211-48F59F75B8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3A6F9D-6970-E770-A0B0-C8EE8F21AF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4D2CC5-7A54-4C65-8D34-1247870B0178}" type="slidenum">
              <a:rPr lang="en-US" smtClean="0"/>
              <a:t>‹#›</a:t>
            </a:fld>
            <a:endParaRPr lang="en-US"/>
          </a:p>
        </p:txBody>
      </p:sp>
    </p:spTree>
    <p:extLst>
      <p:ext uri="{BB962C8B-B14F-4D97-AF65-F5344CB8AC3E}">
        <p14:creationId xmlns:p14="http://schemas.microsoft.com/office/powerpoint/2010/main" val="1563573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A92A7D8-588D-68B1-A7E8-2CC54CC6905B}"/>
              </a:ext>
            </a:extLst>
          </p:cNvPr>
          <p:cNvSpPr>
            <a:spLocks noGrp="1"/>
          </p:cNvSpPr>
          <p:nvPr>
            <p:ph type="ctrTitle"/>
          </p:nvPr>
        </p:nvSpPr>
        <p:spPr>
          <a:xfrm>
            <a:off x="1314824" y="735106"/>
            <a:ext cx="10053763" cy="2928470"/>
          </a:xfrm>
        </p:spPr>
        <p:txBody>
          <a:bodyPr anchor="b">
            <a:normAutofit/>
          </a:bodyPr>
          <a:lstStyle/>
          <a:p>
            <a:r>
              <a:rPr lang="en-US" sz="4800" dirty="0">
                <a:solidFill>
                  <a:srgbClr val="FFFFFF"/>
                </a:solidFill>
                <a:latin typeface="Times New Roman" panose="02020603050405020304" pitchFamily="18" charset="0"/>
                <a:cs typeface="Times New Roman" panose="02020603050405020304" pitchFamily="18" charset="0"/>
              </a:rPr>
              <a:t>Adaptive Multi-Hop RAG for Mahabharata Question Answering</a:t>
            </a:r>
          </a:p>
        </p:txBody>
      </p:sp>
      <p:sp>
        <p:nvSpPr>
          <p:cNvPr id="3" name="Subtitle 2">
            <a:extLst>
              <a:ext uri="{FF2B5EF4-FFF2-40B4-BE49-F238E27FC236}">
                <a16:creationId xmlns:a16="http://schemas.microsoft.com/office/drawing/2014/main" id="{B4706C58-B84C-4832-0E64-2C89AEA5B0A3}"/>
              </a:ext>
            </a:extLst>
          </p:cNvPr>
          <p:cNvSpPr>
            <a:spLocks noGrp="1"/>
          </p:cNvSpPr>
          <p:nvPr>
            <p:ph type="subTitle" idx="1"/>
          </p:nvPr>
        </p:nvSpPr>
        <p:spPr>
          <a:xfrm>
            <a:off x="1093021" y="4483646"/>
            <a:ext cx="10005951" cy="1458258"/>
          </a:xfrm>
        </p:spPr>
        <p:txBody>
          <a:bodyPr anchor="ctr">
            <a:normAutofit/>
          </a:bodyPr>
          <a:lstStyle/>
          <a:p>
            <a:pPr algn="l"/>
            <a:r>
              <a:rPr lang="en-US" dirty="0"/>
              <a:t>By</a:t>
            </a:r>
            <a:r>
              <a:rPr lang="en-US"/>
              <a:t>: Supriya </a:t>
            </a:r>
            <a:r>
              <a:rPr lang="en-US" dirty="0"/>
              <a:t>Veerla</a:t>
            </a:r>
          </a:p>
          <a:p>
            <a:pPr algn="l"/>
            <a:endParaRPr lang="en-US" dirty="0"/>
          </a:p>
        </p:txBody>
      </p:sp>
    </p:spTree>
    <p:extLst>
      <p:ext uri="{BB962C8B-B14F-4D97-AF65-F5344CB8AC3E}">
        <p14:creationId xmlns:p14="http://schemas.microsoft.com/office/powerpoint/2010/main" val="54932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DFE4-51CC-DC50-A03A-A40A3B083EB3}"/>
              </a:ext>
            </a:extLst>
          </p:cNvPr>
          <p:cNvSpPr>
            <a:spLocks noGrp="1"/>
          </p:cNvSpPr>
          <p:nvPr>
            <p:ph type="title"/>
          </p:nvPr>
        </p:nvSpPr>
        <p:spPr>
          <a:xfrm>
            <a:off x="8079978" y="741391"/>
            <a:ext cx="3369234" cy="1616203"/>
          </a:xfrm>
        </p:spPr>
        <p:txBody>
          <a:bodyPr anchor="b">
            <a:normAutofit/>
          </a:bodyPr>
          <a:lstStyle/>
          <a:p>
            <a:r>
              <a:rPr lang="en-US" sz="3300" dirty="0">
                <a:latin typeface="Times New Roman" panose="02020603050405020304" pitchFamily="18" charset="0"/>
                <a:cs typeface="Times New Roman" panose="02020603050405020304" pitchFamily="18" charset="0"/>
              </a:rPr>
              <a:t>Outline</a:t>
            </a:r>
          </a:p>
        </p:txBody>
      </p:sp>
      <p:pic>
        <p:nvPicPr>
          <p:cNvPr id="5" name="Picture 4" descr="An abstract design with lines and financial symbols">
            <a:extLst>
              <a:ext uri="{FF2B5EF4-FFF2-40B4-BE49-F238E27FC236}">
                <a16:creationId xmlns:a16="http://schemas.microsoft.com/office/drawing/2014/main" id="{54B35B18-B256-97F6-E60F-2D3B7D2B6522}"/>
              </a:ext>
            </a:extLst>
          </p:cNvPr>
          <p:cNvPicPr>
            <a:picLocks noChangeAspect="1"/>
          </p:cNvPicPr>
          <p:nvPr/>
        </p:nvPicPr>
        <p:blipFill>
          <a:blip r:embed="rId3"/>
          <a:srcRect l="13724" r="14615"/>
          <a:stretch>
            <a:fillRect/>
          </a:stretch>
        </p:blipFill>
        <p:spPr>
          <a:xfrm>
            <a:off x="20" y="10"/>
            <a:ext cx="7390243"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F7574910-9344-2766-A66B-5B29F24CC6E5}"/>
              </a:ext>
            </a:extLst>
          </p:cNvPr>
          <p:cNvSpPr>
            <a:spLocks noGrp="1"/>
          </p:cNvSpPr>
          <p:nvPr>
            <p:ph idx="1"/>
          </p:nvPr>
        </p:nvSpPr>
        <p:spPr>
          <a:xfrm>
            <a:off x="8079978" y="2533476"/>
            <a:ext cx="3369234" cy="3447832"/>
          </a:xfrm>
        </p:spPr>
        <p:txBody>
          <a:bodyPr anchor="t">
            <a:normAutofit/>
          </a:bodyPr>
          <a:lstStyle/>
          <a:p>
            <a:r>
              <a:rPr lang="en-US" sz="1700" dirty="0">
                <a:latin typeface="Times New Roman" panose="02020603050405020304" pitchFamily="18" charset="0"/>
                <a:cs typeface="Times New Roman" panose="02020603050405020304" pitchFamily="18" charset="0"/>
              </a:rPr>
              <a:t>Introduction</a:t>
            </a:r>
          </a:p>
          <a:p>
            <a:r>
              <a:rPr lang="en-US" sz="1700" dirty="0">
                <a:latin typeface="Times New Roman" panose="02020603050405020304" pitchFamily="18" charset="0"/>
                <a:cs typeface="Times New Roman" panose="02020603050405020304" pitchFamily="18" charset="0"/>
              </a:rPr>
              <a:t>Problem Statement &amp; Motivation</a:t>
            </a:r>
          </a:p>
          <a:p>
            <a:r>
              <a:rPr lang="en-US" sz="1700" dirty="0">
                <a:latin typeface="Times New Roman" panose="02020603050405020304" pitchFamily="18" charset="0"/>
                <a:cs typeface="Times New Roman" panose="02020603050405020304" pitchFamily="18" charset="0"/>
              </a:rPr>
              <a:t> System Architecture &amp; Design</a:t>
            </a:r>
          </a:p>
          <a:p>
            <a:r>
              <a:rPr lang="en-US" sz="1700" dirty="0">
                <a:latin typeface="Times New Roman" panose="02020603050405020304" pitchFamily="18" charset="0"/>
                <a:cs typeface="Times New Roman" panose="02020603050405020304" pitchFamily="18" charset="0"/>
              </a:rPr>
              <a:t>Dataset Overview</a:t>
            </a:r>
          </a:p>
          <a:p>
            <a:r>
              <a:rPr lang="en-US" sz="1700" dirty="0">
                <a:latin typeface="Times New Roman" panose="02020603050405020304" pitchFamily="18" charset="0"/>
                <a:cs typeface="Times New Roman" panose="02020603050405020304" pitchFamily="18" charset="0"/>
              </a:rPr>
              <a:t>Operational Flow of the RAG System</a:t>
            </a:r>
          </a:p>
          <a:p>
            <a:r>
              <a:rPr lang="en-US" sz="1700" dirty="0">
                <a:latin typeface="Times New Roman" panose="02020603050405020304" pitchFamily="18" charset="0"/>
                <a:cs typeface="Times New Roman" panose="02020603050405020304" pitchFamily="18" charset="0"/>
              </a:rPr>
              <a:t>Results &amp; Evaluation</a:t>
            </a:r>
          </a:p>
          <a:p>
            <a:r>
              <a:rPr lang="en-US" sz="1700" dirty="0">
                <a:latin typeface="Times New Roman" panose="02020603050405020304" pitchFamily="18" charset="0"/>
                <a:cs typeface="Times New Roman" panose="02020603050405020304" pitchFamily="18" charset="0"/>
              </a:rPr>
              <a:t>Conclusion</a:t>
            </a:r>
            <a:br>
              <a:rPr lang="en-US" sz="1700" dirty="0">
                <a:latin typeface="Times New Roman" panose="02020603050405020304" pitchFamily="18" charset="0"/>
                <a:cs typeface="Times New Roman" panose="02020603050405020304" pitchFamily="18" charset="0"/>
              </a:rPr>
            </a:br>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235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99" name="Rectangle 109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Freeform: Shape 1100">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224985-1C8E-A8CA-293A-1E7DC1E92393}"/>
              </a:ext>
            </a:extLst>
          </p:cNvPr>
          <p:cNvSpPr>
            <a:spLocks noGrp="1"/>
          </p:cNvSpPr>
          <p:nvPr>
            <p:ph type="title"/>
          </p:nvPr>
        </p:nvSpPr>
        <p:spPr>
          <a:xfrm>
            <a:off x="838199" y="1068891"/>
            <a:ext cx="4259731" cy="1985085"/>
          </a:xfrm>
        </p:spPr>
        <p:txBody>
          <a:bodyPr anchor="b">
            <a:noAutofit/>
          </a:bodyPr>
          <a:lstStyle/>
          <a:p>
            <a:pPr algn="ctr"/>
            <a:r>
              <a:rPr lang="en-US" sz="3300" b="1" dirty="0">
                <a:latin typeface="Times New Roman" panose="02020603050405020304" pitchFamily="18" charset="0"/>
                <a:cs typeface="Times New Roman" panose="02020603050405020304" pitchFamily="18" charset="0"/>
              </a:rPr>
              <a:t>Introduction - Why This Matters</a:t>
            </a:r>
            <a:br>
              <a:rPr lang="en-US" sz="3300" b="1" dirty="0">
                <a:latin typeface="Times New Roman" panose="02020603050405020304" pitchFamily="18" charset="0"/>
                <a:cs typeface="Times New Roman" panose="02020603050405020304" pitchFamily="18" charset="0"/>
              </a:rPr>
            </a:br>
            <a:r>
              <a:rPr lang="en-US" sz="3300" b="1" dirty="0">
                <a:latin typeface="Times New Roman" panose="02020603050405020304" pitchFamily="18" charset="0"/>
                <a:cs typeface="Times New Roman" panose="02020603050405020304" pitchFamily="18" charset="0"/>
              </a:rPr>
              <a:t>Title:</a:t>
            </a:r>
            <a:r>
              <a:rPr lang="en-US" sz="3300" dirty="0">
                <a:latin typeface="Times New Roman" panose="02020603050405020304" pitchFamily="18" charset="0"/>
                <a:cs typeface="Times New Roman" panose="02020603050405020304" pitchFamily="18" charset="0"/>
              </a:rPr>
              <a:t> Bridging Ancient Texts with Modern AI</a:t>
            </a:r>
            <a:br>
              <a:rPr lang="en-US" sz="3300" dirty="0">
                <a:latin typeface="Times New Roman" panose="02020603050405020304" pitchFamily="18" charset="0"/>
                <a:cs typeface="Times New Roman" panose="02020603050405020304" pitchFamily="18" charset="0"/>
              </a:rPr>
            </a:br>
            <a:endParaRPr lang="en-US" sz="3300" dirty="0">
              <a:latin typeface="Times New Roman" panose="02020603050405020304" pitchFamily="18" charset="0"/>
              <a:cs typeface="Times New Roman" panose="02020603050405020304" pitchFamily="18" charset="0"/>
            </a:endParaRPr>
          </a:p>
        </p:txBody>
      </p:sp>
      <p:sp>
        <p:nvSpPr>
          <p:cNvPr id="1103" name="Freeform: Shape 1102">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descr="A maze and a maze&#10;&#10;AI-generated content may be incorrect.">
            <a:extLst>
              <a:ext uri="{FF2B5EF4-FFF2-40B4-BE49-F238E27FC236}">
                <a16:creationId xmlns:a16="http://schemas.microsoft.com/office/drawing/2014/main" id="{073511FF-D739-0605-475A-EB62FCF18781}"/>
              </a:ext>
            </a:extLst>
          </p:cNvPr>
          <p:cNvPicPr>
            <a:picLocks noChangeAspect="1"/>
          </p:cNvPicPr>
          <p:nvPr/>
        </p:nvPicPr>
        <p:blipFill>
          <a:blip r:embed="rId3">
            <a:extLst>
              <a:ext uri="{28A0092B-C50C-407E-A947-70E740481C1C}">
                <a14:useLocalDpi xmlns:a14="http://schemas.microsoft.com/office/drawing/2010/main" val="0"/>
              </a:ext>
            </a:extLst>
          </a:blip>
          <a:srcRect l="2797" r="11886" b="4"/>
          <a:stretch>
            <a:fillRect/>
          </a:stretch>
        </p:blipFill>
        <p:spPr>
          <a:xfrm>
            <a:off x="1049617" y="3555468"/>
            <a:ext cx="3836894" cy="2450885"/>
          </a:xfrm>
          <a:prstGeom prst="rect">
            <a:avLst/>
          </a:prstGeom>
        </p:spPr>
      </p:pic>
      <p:sp>
        <p:nvSpPr>
          <p:cNvPr id="1105"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9" y="5904203"/>
            <a:ext cx="1201506"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AE36FD5E-8BB8-D565-B37A-8589BF5AD482}"/>
              </a:ext>
            </a:extLst>
          </p:cNvPr>
          <p:cNvSpPr>
            <a:spLocks noGrp="1"/>
          </p:cNvSpPr>
          <p:nvPr>
            <p:ph idx="1"/>
          </p:nvPr>
        </p:nvSpPr>
        <p:spPr>
          <a:xfrm>
            <a:off x="6586415" y="723153"/>
            <a:ext cx="4555782" cy="5392482"/>
          </a:xfrm>
        </p:spPr>
        <p:txBody>
          <a:bodyPr anchor="ctr">
            <a:normAutofit/>
          </a:bodyPr>
          <a:lstStyle/>
          <a:p>
            <a:pPr marL="0" indent="0">
              <a:buNone/>
            </a:pPr>
            <a:r>
              <a:rPr lang="en-US" sz="1200" b="1" dirty="0">
                <a:latin typeface="Times New Roman" panose="02020603050405020304" pitchFamily="18" charset="0"/>
                <a:cs typeface="Times New Roman" panose="02020603050405020304" pitchFamily="18" charset="0"/>
              </a:rPr>
              <a:t>The Epic Challenge</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The Mahabharata is a most ancient and a deepest epic of the Hindu culture - huge in extent, abundant in philosophy and </a:t>
            </a:r>
            <a:r>
              <a:rPr lang="en-US" sz="1200" dirty="0" err="1">
                <a:latin typeface="Times New Roman" panose="02020603050405020304" pitchFamily="18" charset="0"/>
                <a:cs typeface="Times New Roman" panose="02020603050405020304" pitchFamily="18" charset="0"/>
              </a:rPr>
              <a:t>momental</a:t>
            </a:r>
            <a:r>
              <a:rPr lang="en-US" sz="1200" dirty="0">
                <a:latin typeface="Times New Roman" panose="02020603050405020304" pitchFamily="18" charset="0"/>
                <a:cs typeface="Times New Roman" panose="02020603050405020304" pitchFamily="18" charset="0"/>
              </a:rPr>
              <a:t> in size.</a:t>
            </a:r>
          </a:p>
          <a:p>
            <a:pPr marL="0" indent="0">
              <a:buNone/>
            </a:pPr>
            <a:r>
              <a:rPr lang="en-US" sz="1200" b="1" dirty="0">
                <a:latin typeface="Times New Roman" panose="02020603050405020304" pitchFamily="18" charset="0"/>
                <a:cs typeface="Times New Roman" panose="02020603050405020304" pitchFamily="18" charset="0"/>
              </a:rPr>
              <a:t>Scale:</a:t>
            </a:r>
            <a:r>
              <a:rPr lang="en-US" sz="1200" dirty="0">
                <a:latin typeface="Times New Roman" panose="02020603050405020304" pitchFamily="18" charset="0"/>
                <a:cs typeface="Times New Roman" panose="02020603050405020304" pitchFamily="18" charset="0"/>
              </a:rPr>
              <a:t> Over </a:t>
            </a:r>
            <a:r>
              <a:rPr lang="en-US" sz="1200" b="1" dirty="0">
                <a:latin typeface="Times New Roman" panose="02020603050405020304" pitchFamily="18" charset="0"/>
                <a:cs typeface="Times New Roman" panose="02020603050405020304" pitchFamily="18" charset="0"/>
              </a:rPr>
              <a:t>100,000 Sanskrit verses</a:t>
            </a:r>
            <a:r>
              <a:rPr lang="en-US" sz="1200" dirty="0">
                <a:latin typeface="Times New Roman" panose="02020603050405020304" pitchFamily="18" charset="0"/>
                <a:cs typeface="Times New Roman" panose="02020603050405020304" pitchFamily="18" charset="0"/>
              </a:rPr>
              <a:t> (we use a </a:t>
            </a:r>
            <a:r>
              <a:rPr lang="en-US" sz="1200" b="1" dirty="0">
                <a:latin typeface="Times New Roman" panose="02020603050405020304" pitchFamily="18" charset="0"/>
                <a:cs typeface="Times New Roman" panose="02020603050405020304" pitchFamily="18" charset="0"/>
              </a:rPr>
              <a:t>14,388-verse English translation</a:t>
            </a:r>
            <a:r>
              <a:rPr lang="en-US" sz="1200"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Structure:</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18 Parvas (books)</a:t>
            </a:r>
            <a:r>
              <a:rPr lang="en-US" sz="1200" dirty="0">
                <a:latin typeface="Times New Roman" panose="02020603050405020304" pitchFamily="18" charset="0"/>
                <a:cs typeface="Times New Roman" panose="02020603050405020304" pitchFamily="18" charset="0"/>
              </a:rPr>
              <a:t> exploring mythology, philosophy, warfare, and dharma</a:t>
            </a:r>
          </a:p>
          <a:p>
            <a:r>
              <a:rPr lang="en-US" sz="1200" b="1" dirty="0">
                <a:latin typeface="Times New Roman" panose="02020603050405020304" pitchFamily="18" charset="0"/>
                <a:cs typeface="Times New Roman" panose="02020603050405020304" pitchFamily="18" charset="0"/>
              </a:rPr>
              <a:t>Timeline:</a:t>
            </a:r>
            <a:r>
              <a:rPr lang="en-US" sz="1200" dirty="0">
                <a:latin typeface="Times New Roman" panose="02020603050405020304" pitchFamily="18" charset="0"/>
                <a:cs typeface="Times New Roman" panose="02020603050405020304" pitchFamily="18" charset="0"/>
              </a:rPr>
              <a:t> Composed between </a:t>
            </a:r>
            <a:r>
              <a:rPr lang="en-US" sz="1200" b="1" dirty="0">
                <a:latin typeface="Times New Roman" panose="02020603050405020304" pitchFamily="18" charset="0"/>
                <a:cs typeface="Times New Roman" panose="02020603050405020304" pitchFamily="18" charset="0"/>
              </a:rPr>
              <a:t>~400 BCE – 400 CE</a:t>
            </a:r>
            <a:r>
              <a:rPr lang="en-US" sz="1200" dirty="0">
                <a:latin typeface="Times New Roman" panose="02020603050405020304" pitchFamily="18" charset="0"/>
                <a:cs typeface="Times New Roman" panose="02020603050405020304" pitchFamily="18" charset="0"/>
              </a:rPr>
              <a:t>; foundational to Indian thought and culture</a:t>
            </a:r>
          </a:p>
          <a:p>
            <a:r>
              <a:rPr lang="en-US" sz="1200" b="1" dirty="0">
                <a:latin typeface="Times New Roman" panose="02020603050405020304" pitchFamily="18" charset="0"/>
                <a:cs typeface="Times New Roman" panose="02020603050405020304" pitchFamily="18" charset="0"/>
              </a:rPr>
              <a:t>Magnitude:</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1.8 million words</a:t>
            </a:r>
            <a:r>
              <a:rPr lang="en-US" sz="1200" dirty="0">
                <a:latin typeface="Times New Roman" panose="02020603050405020304" pitchFamily="18" charset="0"/>
                <a:cs typeface="Times New Roman" panose="02020603050405020304" pitchFamily="18" charset="0"/>
              </a:rPr>
              <a:t> — nearly </a:t>
            </a:r>
            <a:r>
              <a:rPr lang="en-US" sz="1200" b="1" dirty="0">
                <a:latin typeface="Times New Roman" panose="02020603050405020304" pitchFamily="18" charset="0"/>
                <a:cs typeface="Times New Roman" panose="02020603050405020304" pitchFamily="18" charset="0"/>
              </a:rPr>
              <a:t>10×</a:t>
            </a:r>
            <a:r>
              <a:rPr lang="en-US" sz="1200" dirty="0">
                <a:latin typeface="Times New Roman" panose="02020603050405020304" pitchFamily="18" charset="0"/>
                <a:cs typeface="Times New Roman" panose="02020603050405020304" pitchFamily="18" charset="0"/>
              </a:rPr>
              <a:t> the length of the </a:t>
            </a:r>
            <a:r>
              <a:rPr lang="en-US" sz="1200" i="1" dirty="0">
                <a:latin typeface="Times New Roman" panose="02020603050405020304" pitchFamily="18" charset="0"/>
                <a:cs typeface="Times New Roman" panose="02020603050405020304" pitchFamily="18" charset="0"/>
              </a:rPr>
              <a:t>Iliad</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Odyssey</a:t>
            </a:r>
            <a:r>
              <a:rPr lang="en-US" sz="1200" dirty="0">
                <a:latin typeface="Times New Roman" panose="02020603050405020304" pitchFamily="18" charset="0"/>
                <a:cs typeface="Times New Roman" panose="02020603050405020304" pitchFamily="18" charset="0"/>
              </a:rPr>
              <a:t> combined</a:t>
            </a:r>
          </a:p>
          <a:p>
            <a:pPr marL="0" indent="0">
              <a:buNone/>
            </a:pPr>
            <a:r>
              <a:rPr lang="en-US" sz="1200" b="1" dirty="0">
                <a:latin typeface="Times New Roman" panose="02020603050405020304" pitchFamily="18" charset="0"/>
                <a:cs typeface="Times New Roman" panose="02020603050405020304" pitchFamily="18" charset="0"/>
              </a:rPr>
              <a:t>The Research Problem</a:t>
            </a:r>
          </a:p>
          <a:p>
            <a:pPr marL="0" indent="0">
              <a:buNone/>
            </a:pP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Research Problem access to specific knowledge in the Mahabharata is an insuperable task, even though it is seen as a significant topic in terms of culture and philosophical significance:</a:t>
            </a:r>
          </a:p>
          <a:p>
            <a:r>
              <a:rPr lang="en-US" sz="1200" dirty="0">
                <a:latin typeface="Times New Roman" panose="02020603050405020304" pitchFamily="18" charset="0"/>
                <a:cs typeface="Times New Roman" panose="02020603050405020304" pitchFamily="18" charset="0"/>
              </a:rPr>
              <a:t>Traditional use of key word searching does not identify meaning and context.</a:t>
            </a:r>
          </a:p>
          <a:p>
            <a:r>
              <a:rPr lang="en-US" sz="1200" dirty="0">
                <a:latin typeface="Times New Roman" panose="02020603050405020304" pitchFamily="18" charset="0"/>
                <a:cs typeface="Times New Roman" panose="02020603050405020304" pitchFamily="18" charset="0"/>
              </a:rPr>
              <a:t>Learning through manual exploration takes months of reading to gain an insight.</a:t>
            </a:r>
          </a:p>
          <a:p>
            <a:r>
              <a:rPr lang="en-US" sz="1200" dirty="0">
                <a:latin typeface="Times New Roman" panose="02020603050405020304" pitchFamily="18" charset="0"/>
                <a:cs typeface="Times New Roman" panose="02020603050405020304" pitchFamily="18" charset="0"/>
              </a:rPr>
              <a:t>Even sophisticated AI models are lost — hallucinating facts or culture.</a:t>
            </a:r>
          </a:p>
          <a:p>
            <a:pPr marL="0" indent="0">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861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D89E3B-4803-4374-084C-77A53EF5A24D}"/>
              </a:ext>
            </a:extLst>
          </p:cNvPr>
          <p:cNvSpPr>
            <a:spLocks noGrp="1"/>
          </p:cNvSpPr>
          <p:nvPr>
            <p:ph type="title"/>
          </p:nvPr>
        </p:nvSpPr>
        <p:spPr>
          <a:xfrm>
            <a:off x="5894962" y="479493"/>
            <a:ext cx="5458838" cy="1325563"/>
          </a:xfrm>
        </p:spPr>
        <p:txBody>
          <a:bodyPr>
            <a:normAutofit/>
          </a:bodyPr>
          <a:lstStyle/>
          <a:p>
            <a:r>
              <a:rPr lang="en-US">
                <a:latin typeface="Times New Roman" panose="02020603050405020304" pitchFamily="18" charset="0"/>
                <a:cs typeface="Times New Roman" panose="02020603050405020304" pitchFamily="18" charset="0"/>
              </a:rPr>
              <a:t>Problem Statement &amp; Motivation</a:t>
            </a:r>
          </a:p>
        </p:txBody>
      </p:sp>
      <p:sp>
        <p:nvSpPr>
          <p:cNvPr id="20" name="Freeform: Shape 1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Pen placed on top of a signature line">
            <a:extLst>
              <a:ext uri="{FF2B5EF4-FFF2-40B4-BE49-F238E27FC236}">
                <a16:creationId xmlns:a16="http://schemas.microsoft.com/office/drawing/2014/main" id="{7D137603-5760-3D50-896E-C56F4F15E411}"/>
              </a:ext>
            </a:extLst>
          </p:cNvPr>
          <p:cNvPicPr>
            <a:picLocks noChangeAspect="1"/>
          </p:cNvPicPr>
          <p:nvPr/>
        </p:nvPicPr>
        <p:blipFill>
          <a:blip r:embed="rId3"/>
          <a:srcRect l="47342" r="-2" b="-2"/>
          <a:stretch>
            <a:fillRect/>
          </a:stretch>
        </p:blipFill>
        <p:spPr>
          <a:xfrm>
            <a:off x="857054" y="511293"/>
            <a:ext cx="446963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8E81813D-F31D-14DE-5B72-893AFABFC122}"/>
              </a:ext>
            </a:extLst>
          </p:cNvPr>
          <p:cNvSpPr>
            <a:spLocks noGrp="1"/>
          </p:cNvSpPr>
          <p:nvPr>
            <p:ph idx="1"/>
          </p:nvPr>
        </p:nvSpPr>
        <p:spPr>
          <a:xfrm>
            <a:off x="5894962" y="1984443"/>
            <a:ext cx="5458838" cy="4192520"/>
          </a:xfrm>
        </p:spPr>
        <p:txBody>
          <a:bodyPr>
            <a:normAutofit/>
          </a:bodyPr>
          <a:lstStyle/>
          <a:p>
            <a:pPr marL="0" indent="0">
              <a:buNone/>
            </a:pPr>
            <a:r>
              <a:rPr lang="en-US" sz="1500" b="1" dirty="0">
                <a:latin typeface="Times New Roman" panose="02020603050405020304" pitchFamily="18" charset="0"/>
                <a:cs typeface="Times New Roman" panose="02020603050405020304" pitchFamily="18" charset="0"/>
              </a:rPr>
              <a:t> The Problem</a:t>
            </a:r>
          </a:p>
          <a:p>
            <a:r>
              <a:rPr lang="en-US" sz="1500" dirty="0">
                <a:latin typeface="Times New Roman" panose="02020603050405020304" pitchFamily="18" charset="0"/>
                <a:cs typeface="Times New Roman" panose="02020603050405020304" pitchFamily="18" charset="0"/>
              </a:rPr>
              <a:t>The </a:t>
            </a:r>
            <a:r>
              <a:rPr lang="en-US" sz="1500" i="1" dirty="0">
                <a:latin typeface="Times New Roman" panose="02020603050405020304" pitchFamily="18" charset="0"/>
                <a:cs typeface="Times New Roman" panose="02020603050405020304" pitchFamily="18" charset="0"/>
              </a:rPr>
              <a:t>Mahabharata’s</a:t>
            </a:r>
            <a:r>
              <a:rPr lang="en-US" sz="1500" dirty="0">
                <a:latin typeface="Times New Roman" panose="02020603050405020304" pitchFamily="18" charset="0"/>
                <a:cs typeface="Times New Roman" panose="02020603050405020304" pitchFamily="18" charset="0"/>
              </a:rPr>
              <a:t> vast scale makes it nearly impossible to search or analyze manually.</a:t>
            </a:r>
          </a:p>
          <a:p>
            <a:r>
              <a:rPr lang="en-US" sz="1500" dirty="0">
                <a:latin typeface="Times New Roman" panose="02020603050405020304" pitchFamily="18" charset="0"/>
                <a:cs typeface="Times New Roman" panose="02020603050405020304" pitchFamily="18" charset="0"/>
              </a:rPr>
              <a:t>Conventional keyword searches fail to capture </a:t>
            </a:r>
            <a:r>
              <a:rPr lang="en-US" sz="1500" b="1" dirty="0">
                <a:latin typeface="Times New Roman" panose="02020603050405020304" pitchFamily="18" charset="0"/>
                <a:cs typeface="Times New Roman" panose="02020603050405020304" pitchFamily="18" charset="0"/>
              </a:rPr>
              <a:t>semantic meaning</a:t>
            </a:r>
            <a:r>
              <a:rPr lang="en-US" sz="1500" dirty="0">
                <a:latin typeface="Times New Roman" panose="02020603050405020304" pitchFamily="18" charset="0"/>
                <a:cs typeface="Times New Roman" panose="02020603050405020304" pitchFamily="18" charset="0"/>
              </a:rPr>
              <a:t> and </a:t>
            </a:r>
            <a:r>
              <a:rPr lang="en-US" sz="1500" b="1" dirty="0">
                <a:latin typeface="Times New Roman" panose="02020603050405020304" pitchFamily="18" charset="0"/>
                <a:cs typeface="Times New Roman" panose="02020603050405020304" pitchFamily="18" charset="0"/>
              </a:rPr>
              <a:t>contextual links</a:t>
            </a:r>
            <a:r>
              <a:rPr lang="en-US" sz="1500" dirty="0">
                <a:latin typeface="Times New Roman" panose="02020603050405020304" pitchFamily="18" charset="0"/>
                <a:cs typeface="Times New Roman" panose="02020603050405020304" pitchFamily="18" charset="0"/>
              </a:rPr>
              <a:t>.</a:t>
            </a:r>
          </a:p>
          <a:p>
            <a:r>
              <a:rPr lang="en-US" sz="1500" dirty="0">
                <a:latin typeface="Times New Roman" panose="02020603050405020304" pitchFamily="18" charset="0"/>
                <a:cs typeface="Times New Roman" panose="02020603050405020304" pitchFamily="18" charset="0"/>
              </a:rPr>
              <a:t>Modern LLMs often </a:t>
            </a:r>
            <a:r>
              <a:rPr lang="en-US" sz="1500" b="1" dirty="0">
                <a:latin typeface="Times New Roman" panose="02020603050405020304" pitchFamily="18" charset="0"/>
                <a:cs typeface="Times New Roman" panose="02020603050405020304" pitchFamily="18" charset="0"/>
              </a:rPr>
              <a:t>hallucinate</a:t>
            </a:r>
            <a:r>
              <a:rPr lang="en-US" sz="1500" dirty="0">
                <a:latin typeface="Times New Roman" panose="02020603050405020304" pitchFamily="18" charset="0"/>
                <a:cs typeface="Times New Roman" panose="02020603050405020304" pitchFamily="18" charset="0"/>
              </a:rPr>
              <a:t> or lose cultural authenticity when working with sacred texts.</a:t>
            </a:r>
          </a:p>
          <a:p>
            <a:pPr marL="0" indent="0">
              <a:buNone/>
            </a:pPr>
            <a:r>
              <a:rPr lang="en-US" sz="1500" b="1" dirty="0">
                <a:latin typeface="Times New Roman" panose="02020603050405020304" pitchFamily="18" charset="0"/>
                <a:cs typeface="Times New Roman" panose="02020603050405020304" pitchFamily="18" charset="0"/>
              </a:rPr>
              <a:t>The Research Motivation</a:t>
            </a:r>
          </a:p>
          <a:p>
            <a:r>
              <a:rPr lang="en-US" sz="1500" dirty="0">
                <a:latin typeface="Times New Roman" panose="02020603050405020304" pitchFamily="18" charset="0"/>
                <a:cs typeface="Times New Roman" panose="02020603050405020304" pitchFamily="18" charset="0"/>
              </a:rPr>
              <a:t>Need for an </a:t>
            </a:r>
            <a:r>
              <a:rPr lang="en-US" sz="1500" b="1" dirty="0">
                <a:latin typeface="Times New Roman" panose="02020603050405020304" pitchFamily="18" charset="0"/>
                <a:cs typeface="Times New Roman" panose="02020603050405020304" pitchFamily="18" charset="0"/>
              </a:rPr>
              <a:t>AI system</a:t>
            </a:r>
            <a:r>
              <a:rPr lang="en-US" sz="1500" dirty="0">
                <a:latin typeface="Times New Roman" panose="02020603050405020304" pitchFamily="18" charset="0"/>
                <a:cs typeface="Times New Roman" panose="02020603050405020304" pitchFamily="18" charset="0"/>
              </a:rPr>
              <a:t> that retrieves accurate, context-aware, and culturally faithful answers.</a:t>
            </a:r>
          </a:p>
          <a:p>
            <a:r>
              <a:rPr lang="en-US" sz="1500" dirty="0">
                <a:latin typeface="Times New Roman" panose="02020603050405020304" pitchFamily="18" charset="0"/>
                <a:cs typeface="Times New Roman" panose="02020603050405020304" pitchFamily="18" charset="0"/>
              </a:rPr>
              <a:t>Desire to </a:t>
            </a:r>
            <a:r>
              <a:rPr lang="en-US" sz="1500" b="1" dirty="0">
                <a:latin typeface="Times New Roman" panose="02020603050405020304" pitchFamily="18" charset="0"/>
                <a:cs typeface="Times New Roman" panose="02020603050405020304" pitchFamily="18" charset="0"/>
              </a:rPr>
              <a:t>bridge ancient literature and modern computation</a:t>
            </a:r>
            <a:r>
              <a:rPr lang="en-US" sz="1500" dirty="0">
                <a:latin typeface="Times New Roman" panose="02020603050405020304" pitchFamily="18" charset="0"/>
                <a:cs typeface="Times New Roman" panose="02020603050405020304" pitchFamily="18" charset="0"/>
              </a:rPr>
              <a:t> — preserving meaning while enabling accessibility.</a:t>
            </a:r>
          </a:p>
          <a:p>
            <a:r>
              <a:rPr lang="en-US" sz="1500" dirty="0">
                <a:latin typeface="Times New Roman" panose="02020603050405020304" pitchFamily="18" charset="0"/>
                <a:cs typeface="Times New Roman" panose="02020603050405020304" pitchFamily="18" charset="0"/>
              </a:rPr>
              <a:t>Opportunity to create a </a:t>
            </a:r>
            <a:r>
              <a:rPr lang="en-US" sz="1500" b="1" dirty="0">
                <a:latin typeface="Times New Roman" panose="02020603050405020304" pitchFamily="18" charset="0"/>
                <a:cs typeface="Times New Roman" panose="02020603050405020304" pitchFamily="18" charset="0"/>
              </a:rPr>
              <a:t>scalable framework</a:t>
            </a:r>
            <a:r>
              <a:rPr lang="en-US" sz="1500" dirty="0">
                <a:latin typeface="Times New Roman" panose="02020603050405020304" pitchFamily="18" charset="0"/>
                <a:cs typeface="Times New Roman" panose="02020603050405020304" pitchFamily="18" charset="0"/>
              </a:rPr>
              <a:t> for other cultural or historical texts.</a:t>
            </a:r>
          </a:p>
          <a:p>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7940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5A1443-E7F9-825A-D3A9-EA67172B704E}"/>
              </a:ext>
            </a:extLst>
          </p:cNvPr>
          <p:cNvSpPr>
            <a:spLocks noGrp="1"/>
          </p:cNvSpPr>
          <p:nvPr>
            <p:ph type="title"/>
          </p:nvPr>
        </p:nvSpPr>
        <p:spPr>
          <a:xfrm>
            <a:off x="1046746" y="586822"/>
            <a:ext cx="3560252" cy="1645920"/>
          </a:xfrm>
        </p:spPr>
        <p:txBody>
          <a:bodyPr vert="horz" lIns="91440" tIns="45720" rIns="91440" bIns="45720" rtlCol="0" anchor="ctr">
            <a:normAutofit/>
          </a:bodyPr>
          <a:lstStyle/>
          <a:p>
            <a:r>
              <a:rPr lang="en-US" sz="3300" kern="1200" dirty="0">
                <a:solidFill>
                  <a:schemeClr val="tx1"/>
                </a:solidFill>
                <a:latin typeface="Times New Roman" panose="02020603050405020304" pitchFamily="18" charset="0"/>
                <a:cs typeface="Times New Roman" panose="02020603050405020304" pitchFamily="18" charset="0"/>
              </a:rPr>
              <a:t>System Architecture &amp; Design</a:t>
            </a:r>
          </a:p>
        </p:txBody>
      </p:sp>
      <p:sp>
        <p:nvSpPr>
          <p:cNvPr id="24" name="Rectangle 2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6" name="Rectangle 2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87F1C3F2-130C-4492-4B34-55A21F8185E4}"/>
              </a:ext>
            </a:extLst>
          </p:cNvPr>
          <p:cNvSpPr txBox="1"/>
          <p:nvPr/>
        </p:nvSpPr>
        <p:spPr>
          <a:xfrm>
            <a:off x="5351164" y="586822"/>
            <a:ext cx="6002636" cy="1645920"/>
          </a:xfrm>
          <a:prstGeom prst="rect">
            <a:avLst/>
          </a:prstGeom>
        </p:spPr>
        <p:txBody>
          <a:bodyPr vert="horz" lIns="91440" tIns="45720" rIns="91440" bIns="45720" rtlCol="0" anchor="ctr">
            <a:normAutofit/>
          </a:bodyPr>
          <a:lstStyle/>
          <a:p>
            <a:pPr algn="just">
              <a:lnSpc>
                <a:spcPct val="90000"/>
              </a:lnSpc>
              <a:spcAft>
                <a:spcPts val="600"/>
              </a:spcAft>
            </a:pPr>
            <a:r>
              <a:rPr lang="en-US" dirty="0"/>
              <a:t>A multi-hop, adaptive RAG system that comprehends the inquiry, restores the appropriate background, adds value with actual knowledge and comes up with reliable answers - connecting the ancient knowledge and the current AI.</a:t>
            </a:r>
          </a:p>
        </p:txBody>
      </p:sp>
      <p:pic>
        <p:nvPicPr>
          <p:cNvPr id="5" name="Content Placeholder 4" descr="A diagram of a diagram&#10;&#10;AI-generated content may be incorrect.">
            <a:extLst>
              <a:ext uri="{FF2B5EF4-FFF2-40B4-BE49-F238E27FC236}">
                <a16:creationId xmlns:a16="http://schemas.microsoft.com/office/drawing/2014/main" id="{2DE91AC6-0452-1F83-479C-EB9D9477C223}"/>
              </a:ext>
            </a:extLst>
          </p:cNvPr>
          <p:cNvPicPr>
            <a:picLocks noGrp="1" noChangeAspect="1"/>
          </p:cNvPicPr>
          <p:nvPr>
            <p:ph idx="1"/>
          </p:nvPr>
        </p:nvPicPr>
        <p:blipFill>
          <a:blip r:embed="rId3"/>
          <a:stretch>
            <a:fillRect/>
          </a:stretch>
        </p:blipFill>
        <p:spPr>
          <a:xfrm>
            <a:off x="2323071" y="2545879"/>
            <a:ext cx="7998940" cy="3672041"/>
          </a:xfrm>
          <a:prstGeom prst="rect">
            <a:avLst/>
          </a:prstGeom>
        </p:spPr>
      </p:pic>
    </p:spTree>
    <p:extLst>
      <p:ext uri="{BB962C8B-B14F-4D97-AF65-F5344CB8AC3E}">
        <p14:creationId xmlns:p14="http://schemas.microsoft.com/office/powerpoint/2010/main" val="1525532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E912AA-21DB-1C8B-D90D-2D5BF582E0A1}"/>
              </a:ext>
            </a:extLst>
          </p:cNvPr>
          <p:cNvSpPr>
            <a:spLocks noGrp="1"/>
          </p:cNvSpPr>
          <p:nvPr>
            <p:ph type="title"/>
          </p:nvPr>
        </p:nvSpPr>
        <p:spPr>
          <a:xfrm>
            <a:off x="686834" y="591344"/>
            <a:ext cx="3200400" cy="5585619"/>
          </a:xfrm>
        </p:spPr>
        <p:txBody>
          <a:bodyPr>
            <a:normAutofit/>
          </a:bodyPr>
          <a:lstStyle/>
          <a:p>
            <a:pPr algn="ctr"/>
            <a:r>
              <a:rPr lang="en-US" sz="3300" dirty="0">
                <a:solidFill>
                  <a:srgbClr val="FFFFFF"/>
                </a:solidFill>
                <a:latin typeface="Times New Roman" panose="02020603050405020304" pitchFamily="18" charset="0"/>
                <a:cs typeface="Times New Roman" panose="02020603050405020304" pitchFamily="18" charset="0"/>
              </a:rPr>
              <a:t>System Workflow – How It Works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697114D-540D-750B-47D7-22160F675F12}"/>
              </a:ext>
            </a:extLst>
          </p:cNvPr>
          <p:cNvSpPr>
            <a:spLocks noGrp="1"/>
          </p:cNvSpPr>
          <p:nvPr>
            <p:ph idx="1"/>
          </p:nvPr>
        </p:nvSpPr>
        <p:spPr>
          <a:xfrm>
            <a:off x="4266076" y="162976"/>
            <a:ext cx="6906491" cy="5585619"/>
          </a:xfrm>
        </p:spPr>
        <p:txBody>
          <a:bodyPr anchor="ctr">
            <a:normAutofit lnSpcReduction="10000"/>
          </a:bodyPr>
          <a:lstStyle/>
          <a:p>
            <a:pPr marL="0" indent="0">
              <a:buNone/>
            </a:pPr>
            <a:r>
              <a:rPr lang="en-US" sz="1200" b="1" dirty="0">
                <a:latin typeface="Times New Roman" panose="02020603050405020304" pitchFamily="18" charset="0"/>
                <a:cs typeface="Times New Roman" panose="02020603050405020304" pitchFamily="18" charset="0"/>
              </a:rPr>
              <a:t>1. Understanding the Question</a:t>
            </a:r>
          </a:p>
          <a:p>
            <a:r>
              <a:rPr lang="en-US" sz="1200" dirty="0">
                <a:latin typeface="Times New Roman" panose="02020603050405020304" pitchFamily="18" charset="0"/>
                <a:cs typeface="Times New Roman" panose="02020603050405020304" pitchFamily="18" charset="0"/>
              </a:rPr>
              <a:t>The system begins by analyzing the user’s query through a </a:t>
            </a:r>
            <a:r>
              <a:rPr lang="en-US" sz="1200" b="1" dirty="0">
                <a:latin typeface="Times New Roman" panose="02020603050405020304" pitchFamily="18" charset="0"/>
                <a:cs typeface="Times New Roman" panose="02020603050405020304" pitchFamily="18" charset="0"/>
              </a:rPr>
              <a:t>Query Classifier</a:t>
            </a:r>
            <a:r>
              <a:rPr lang="en-US" sz="1200" dirty="0">
                <a:latin typeface="Times New Roman" panose="02020603050405020304" pitchFamily="18" charset="0"/>
                <a:cs typeface="Times New Roman" panose="02020603050405020304" pitchFamily="18" charset="0"/>
              </a:rPr>
              <a:t> that identifies intent — whether the question targets an entity (</a:t>
            </a:r>
            <a:r>
              <a:rPr lang="en-US" sz="1200" i="1" dirty="0">
                <a:latin typeface="Times New Roman" panose="02020603050405020304" pitchFamily="18" charset="0"/>
                <a:cs typeface="Times New Roman" panose="02020603050405020304" pitchFamily="18" charset="0"/>
              </a:rPr>
              <a:t>Who was Arjuna?</a:t>
            </a:r>
            <a:r>
              <a:rPr lang="en-US" sz="1200" dirty="0">
                <a:latin typeface="Times New Roman" panose="02020603050405020304" pitchFamily="18" charset="0"/>
                <a:cs typeface="Times New Roman" panose="02020603050405020304" pitchFamily="18" charset="0"/>
              </a:rPr>
              <a:t>), a concept (</a:t>
            </a:r>
            <a:r>
              <a:rPr lang="en-US" sz="1200" i="1" dirty="0">
                <a:latin typeface="Times New Roman" panose="02020603050405020304" pitchFamily="18" charset="0"/>
                <a:cs typeface="Times New Roman" panose="02020603050405020304" pitchFamily="18" charset="0"/>
              </a:rPr>
              <a:t>What is Dharma?</a:t>
            </a:r>
            <a:r>
              <a:rPr lang="en-US" sz="1200" dirty="0">
                <a:latin typeface="Times New Roman" panose="02020603050405020304" pitchFamily="18" charset="0"/>
                <a:cs typeface="Times New Roman" panose="02020603050405020304" pitchFamily="18" charset="0"/>
              </a:rPr>
              <a:t>), or a reasoning-based query (</a:t>
            </a:r>
            <a:r>
              <a:rPr lang="en-US" sz="1200" i="1" dirty="0">
                <a:latin typeface="Times New Roman" panose="02020603050405020304" pitchFamily="18" charset="0"/>
                <a:cs typeface="Times New Roman" panose="02020603050405020304" pitchFamily="18" charset="0"/>
              </a:rPr>
              <a:t>What vow did Bhishma take and why?</a:t>
            </a:r>
            <a:r>
              <a:rPr lang="en-US" sz="1200" dirty="0">
                <a:latin typeface="Times New Roman" panose="02020603050405020304" pitchFamily="18" charset="0"/>
                <a:cs typeface="Times New Roman" panose="02020603050405020304" pitchFamily="18" charset="0"/>
              </a:rPr>
              <a:t>).</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This classification ensures that every question is routed to the most efficient retrieval path.</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2. Adaptive Retrieval Process</a:t>
            </a:r>
          </a:p>
          <a:p>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Adaptive Retrieval Engine</a:t>
            </a:r>
            <a:r>
              <a:rPr lang="en-US" sz="1200" dirty="0">
                <a:latin typeface="Times New Roman" panose="02020603050405020304" pitchFamily="18" charset="0"/>
                <a:cs typeface="Times New Roman" panose="02020603050405020304" pitchFamily="18" charset="0"/>
              </a:rPr>
              <a:t> uses three powerful methods to extract the most relevant verses from the </a:t>
            </a:r>
            <a:r>
              <a:rPr lang="en-US" sz="1200" i="1" dirty="0">
                <a:latin typeface="Times New Roman" panose="02020603050405020304" pitchFamily="18" charset="0"/>
                <a:cs typeface="Times New Roman" panose="02020603050405020304" pitchFamily="18" charset="0"/>
              </a:rPr>
              <a:t>Mahabharata</a:t>
            </a:r>
            <a:r>
              <a:rPr lang="en-US" sz="1200" dirty="0">
                <a:latin typeface="Times New Roman" panose="02020603050405020304" pitchFamily="18" charset="0"/>
                <a:cs typeface="Times New Roman" panose="02020603050405020304" pitchFamily="18" charset="0"/>
              </a:rPr>
              <a:t> corpus of 1,574 documents.</a:t>
            </a:r>
          </a:p>
          <a:p>
            <a:r>
              <a:rPr lang="en-US" sz="1200" b="1" dirty="0">
                <a:latin typeface="Times New Roman" panose="02020603050405020304" pitchFamily="18" charset="0"/>
                <a:cs typeface="Times New Roman" panose="02020603050405020304" pitchFamily="18" charset="0"/>
              </a:rPr>
              <a:t>BM25</a:t>
            </a:r>
            <a:r>
              <a:rPr lang="en-US" sz="1200" dirty="0">
                <a:latin typeface="Times New Roman" panose="02020603050405020304" pitchFamily="18" charset="0"/>
                <a:cs typeface="Times New Roman" panose="02020603050405020304" pitchFamily="18" charset="0"/>
              </a:rPr>
              <a:t> focuses on exact keyword matches — ideal for names and entities.</a:t>
            </a:r>
          </a:p>
          <a:p>
            <a:r>
              <a:rPr lang="en-US" sz="1200" b="1" dirty="0">
                <a:latin typeface="Times New Roman" panose="02020603050405020304" pitchFamily="18" charset="0"/>
                <a:cs typeface="Times New Roman" panose="02020603050405020304" pitchFamily="18" charset="0"/>
              </a:rPr>
              <a:t>FAISS</a:t>
            </a:r>
            <a:r>
              <a:rPr lang="en-US" sz="1200" dirty="0">
                <a:latin typeface="Times New Roman" panose="02020603050405020304" pitchFamily="18" charset="0"/>
                <a:cs typeface="Times New Roman" panose="02020603050405020304" pitchFamily="18" charset="0"/>
              </a:rPr>
              <a:t> performs semantic similarity search — understanding meaning beyond words.</a:t>
            </a:r>
          </a:p>
          <a:p>
            <a:r>
              <a:rPr lang="en-US" sz="1200" b="1" dirty="0">
                <a:latin typeface="Times New Roman" panose="02020603050405020304" pitchFamily="18" charset="0"/>
                <a:cs typeface="Times New Roman" panose="02020603050405020304" pitchFamily="18" charset="0"/>
              </a:rPr>
              <a:t>Hybrid Retrieval</a:t>
            </a:r>
            <a:r>
              <a:rPr lang="en-US" sz="1200" dirty="0">
                <a:latin typeface="Times New Roman" panose="02020603050405020304" pitchFamily="18" charset="0"/>
                <a:cs typeface="Times New Roman" panose="02020603050405020304" pitchFamily="18" charset="0"/>
              </a:rPr>
              <a:t> combines both, delivering comprehensive context for complex queries.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This produces the top 5–10 verses most relevant to the question.</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3. Integrating Knowledge Sources</a:t>
            </a:r>
          </a:p>
          <a:p>
            <a:r>
              <a:rPr lang="en-US" sz="1200" dirty="0">
                <a:latin typeface="Times New Roman" panose="02020603050405020304" pitchFamily="18" charset="0"/>
                <a:cs typeface="Times New Roman" panose="02020603050405020304" pitchFamily="18" charset="0"/>
              </a:rPr>
              <a:t>To enrich answers with modern scholarship, the system performs </a:t>
            </a:r>
            <a:r>
              <a:rPr lang="en-US" sz="1200" b="1" dirty="0">
                <a:latin typeface="Times New Roman" panose="02020603050405020304" pitchFamily="18" charset="0"/>
                <a:cs typeface="Times New Roman" panose="02020603050405020304" pitchFamily="18" charset="0"/>
              </a:rPr>
              <a:t>web-based retrieval</a:t>
            </a:r>
            <a:r>
              <a:rPr lang="en-US" sz="1200" dirty="0">
                <a:latin typeface="Times New Roman" panose="02020603050405020304" pitchFamily="18" charset="0"/>
                <a:cs typeface="Times New Roman" panose="02020603050405020304" pitchFamily="18" charset="0"/>
              </a:rPr>
              <a:t> using the </a:t>
            </a:r>
            <a:r>
              <a:rPr lang="en-US" sz="1200" b="1" dirty="0" err="1">
                <a:latin typeface="Times New Roman" panose="02020603050405020304" pitchFamily="18" charset="0"/>
                <a:cs typeface="Times New Roman" panose="02020603050405020304" pitchFamily="18" charset="0"/>
              </a:rPr>
              <a:t>Tavily</a:t>
            </a:r>
            <a:r>
              <a:rPr lang="en-US" sz="1200" b="1" dirty="0">
                <a:latin typeface="Times New Roman" panose="02020603050405020304" pitchFamily="18" charset="0"/>
                <a:cs typeface="Times New Roman" panose="02020603050405020304" pitchFamily="18" charset="0"/>
              </a:rPr>
              <a:t> API</a:t>
            </a:r>
            <a:r>
              <a:rPr lang="en-US" sz="1200" dirty="0">
                <a:latin typeface="Times New Roman" panose="02020603050405020304" pitchFamily="18" charset="0"/>
                <a:cs typeface="Times New Roman" panose="02020603050405020304" pitchFamily="18" charset="0"/>
              </a:rPr>
              <a: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retrieved web content is filtered by a smaller </a:t>
            </a:r>
            <a:r>
              <a:rPr lang="en-US" sz="1200" b="1" dirty="0" err="1">
                <a:latin typeface="Times New Roman" panose="02020603050405020304" pitchFamily="18" charset="0"/>
                <a:cs typeface="Times New Roman" panose="02020603050405020304" pitchFamily="18" charset="0"/>
              </a:rPr>
              <a:t>LLaMA</a:t>
            </a:r>
            <a:r>
              <a:rPr lang="en-US" sz="1200" b="1" dirty="0">
                <a:latin typeface="Times New Roman" panose="02020603050405020304" pitchFamily="18" charset="0"/>
                <a:cs typeface="Times New Roman" panose="02020603050405020304" pitchFamily="18" charset="0"/>
              </a:rPr>
              <a:t> 3.1-8B model</a:t>
            </a:r>
            <a:r>
              <a:rPr lang="en-US" sz="1200" dirty="0">
                <a:latin typeface="Times New Roman" panose="02020603050405020304" pitchFamily="18" charset="0"/>
                <a:cs typeface="Times New Roman" panose="02020603050405020304" pitchFamily="18" charset="0"/>
              </a:rPr>
              <a:t>, which extracts only verified and contextually relevant facts.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This layer connects ancient text with contemporary interpretation, strengthening factual grounding.</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cs typeface="Times New Roman" panose="02020603050405020304" pitchFamily="18" charset="0"/>
              </a:rPr>
              <a:t>4. Answer Generation and Citation</a:t>
            </a:r>
          </a:p>
          <a:p>
            <a:r>
              <a:rPr lang="en-US" sz="1200" dirty="0">
                <a:latin typeface="Times New Roman" panose="02020603050405020304" pitchFamily="18" charset="0"/>
                <a:cs typeface="Times New Roman" panose="02020603050405020304" pitchFamily="18" charset="0"/>
              </a:rPr>
              <a:t>Finally, the </a:t>
            </a:r>
            <a:r>
              <a:rPr lang="en-US" sz="1200" b="1" dirty="0" err="1">
                <a:latin typeface="Times New Roman" panose="02020603050405020304" pitchFamily="18" charset="0"/>
                <a:cs typeface="Times New Roman" panose="02020603050405020304" pitchFamily="18" charset="0"/>
              </a:rPr>
              <a:t>LLaMA</a:t>
            </a:r>
            <a:r>
              <a:rPr lang="en-US" sz="1200" b="1" dirty="0">
                <a:latin typeface="Times New Roman" panose="02020603050405020304" pitchFamily="18" charset="0"/>
                <a:cs typeface="Times New Roman" panose="02020603050405020304" pitchFamily="18" charset="0"/>
              </a:rPr>
              <a:t> 3.3-70B model</a:t>
            </a:r>
            <a:r>
              <a:rPr lang="en-US" sz="1200" dirty="0">
                <a:latin typeface="Times New Roman" panose="02020603050405020304" pitchFamily="18" charset="0"/>
                <a:cs typeface="Times New Roman" panose="02020603050405020304" pitchFamily="18" charset="0"/>
              </a:rPr>
              <a:t> (via </a:t>
            </a:r>
            <a:r>
              <a:rPr lang="en-US" sz="1200" dirty="0" err="1">
                <a:latin typeface="Times New Roman" panose="02020603050405020304" pitchFamily="18" charset="0"/>
                <a:cs typeface="Times New Roman" panose="02020603050405020304" pitchFamily="18" charset="0"/>
              </a:rPr>
              <a:t>Groq</a:t>
            </a:r>
            <a:r>
              <a:rPr lang="en-US" sz="1200" dirty="0">
                <a:latin typeface="Times New Roman" panose="02020603050405020304" pitchFamily="18" charset="0"/>
                <a:cs typeface="Times New Roman" panose="02020603050405020304" pitchFamily="18" charset="0"/>
              </a:rPr>
              <a:t> API) generates the complete answer.</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It reads both the retrieved verses and filtered web snippets to produce a cohesive, human-like explanation.</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Every statement is cited — for example, </a:t>
            </a:r>
            <a:r>
              <a:rPr lang="en-US" sz="1200" i="1" dirty="0">
                <a:latin typeface="Times New Roman" panose="02020603050405020304" pitchFamily="18" charset="0"/>
                <a:cs typeface="Times New Roman" panose="02020603050405020304" pitchFamily="18" charset="0"/>
              </a:rPr>
              <a:t>[Dataset-1]</a:t>
            </a:r>
            <a:r>
              <a:rPr lang="en-US" sz="1200" dirty="0">
                <a:latin typeface="Times New Roman" panose="02020603050405020304" pitchFamily="18" charset="0"/>
                <a:cs typeface="Times New Roman" panose="02020603050405020304" pitchFamily="18" charset="0"/>
              </a:rPr>
              <a:t> or </a:t>
            </a:r>
            <a:r>
              <a:rPr lang="en-US" sz="1200" i="1" dirty="0">
                <a:latin typeface="Times New Roman" panose="02020603050405020304" pitchFamily="18" charset="0"/>
                <a:cs typeface="Times New Roman" panose="02020603050405020304" pitchFamily="18" charset="0"/>
              </a:rPr>
              <a:t>[Web-2]</a:t>
            </a:r>
            <a:r>
              <a:rPr lang="en-US" sz="1200" dirty="0">
                <a:latin typeface="Times New Roman" panose="02020603050405020304" pitchFamily="18" charset="0"/>
                <a:cs typeface="Times New Roman" panose="02020603050405020304" pitchFamily="18" charset="0"/>
              </a:rPr>
              <a:t> — ensuring complete transparency and traceability.</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972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C9AB21A-6BCD-E1CD-3611-001291763093}"/>
              </a:ext>
            </a:extLst>
          </p:cNvPr>
          <p:cNvSpPr>
            <a:spLocks noGrp="1"/>
          </p:cNvSpPr>
          <p:nvPr>
            <p:ph type="title"/>
          </p:nvPr>
        </p:nvSpPr>
        <p:spPr>
          <a:xfrm>
            <a:off x="479394" y="1070800"/>
            <a:ext cx="3939688" cy="5583126"/>
          </a:xfrm>
        </p:spPr>
        <p:txBody>
          <a:bodyPr>
            <a:normAutofit/>
          </a:bodyPr>
          <a:lstStyle/>
          <a:p>
            <a:pPr algn="r"/>
            <a:r>
              <a:rPr lang="en-US" sz="3300" b="1" dirty="0">
                <a:latin typeface="Times New Roman" panose="02020603050405020304" pitchFamily="18" charset="0"/>
                <a:cs typeface="Times New Roman" panose="02020603050405020304" pitchFamily="18" charset="0"/>
              </a:rPr>
              <a:t>Dataset Overview</a:t>
            </a:r>
            <a:br>
              <a:rPr lang="en-US" sz="3300" b="1" dirty="0">
                <a:latin typeface="Times New Roman" panose="02020603050405020304" pitchFamily="18" charset="0"/>
                <a:cs typeface="Times New Roman" panose="02020603050405020304" pitchFamily="18" charset="0"/>
              </a:rPr>
            </a:br>
            <a:endParaRPr lang="en-US" sz="3300" dirty="0">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4">
            <a:extLst>
              <a:ext uri="{FF2B5EF4-FFF2-40B4-BE49-F238E27FC236}">
                <a16:creationId xmlns:a16="http://schemas.microsoft.com/office/drawing/2014/main" id="{CC9A15B4-9776-CE02-2AA4-3D805AAFFA42}"/>
              </a:ext>
            </a:extLst>
          </p:cNvPr>
          <p:cNvGraphicFramePr>
            <a:graphicFrameLocks noGrp="1"/>
          </p:cNvGraphicFramePr>
          <p:nvPr>
            <p:ph idx="1"/>
            <p:extLst>
              <p:ext uri="{D42A27DB-BD31-4B8C-83A1-F6EECF244321}">
                <p14:modId xmlns:p14="http://schemas.microsoft.com/office/powerpoint/2010/main" val="324830891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7916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1F303-752B-A7CF-8F4E-DA48DE446C00}"/>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3300" dirty="0">
                <a:latin typeface="Times New Roman" panose="02020603050405020304" pitchFamily="18" charset="0"/>
                <a:cs typeface="Times New Roman" panose="02020603050405020304" pitchFamily="18" charset="0"/>
              </a:rPr>
              <a:t>Operational Flow of the RAG System</a:t>
            </a:r>
            <a:endParaRPr lang="en-US" sz="3300" kern="1200" dirty="0">
              <a:solidFill>
                <a:schemeClr val="tx1"/>
              </a:solidFill>
              <a:latin typeface="Times New Roman" panose="02020603050405020304" pitchFamily="18" charset="0"/>
              <a:cs typeface="Times New Roman" panose="02020603050405020304" pitchFamily="18" charset="0"/>
            </a:endParaRP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4DA0C6A-5369-8AE3-E0ED-958FC96D5069}"/>
              </a:ext>
            </a:extLst>
          </p:cNvPr>
          <p:cNvPicPr>
            <a:picLocks noGrp="1" noChangeAspect="1"/>
          </p:cNvPicPr>
          <p:nvPr>
            <p:ph idx="1"/>
          </p:nvPr>
        </p:nvPicPr>
        <p:blipFill>
          <a:blip r:embed="rId2"/>
          <a:stretch>
            <a:fillRect/>
          </a:stretch>
        </p:blipFill>
        <p:spPr>
          <a:xfrm>
            <a:off x="356314" y="2633472"/>
            <a:ext cx="11476323" cy="3586353"/>
          </a:xfrm>
          <a:prstGeom prst="rect">
            <a:avLst/>
          </a:prstGeom>
        </p:spPr>
      </p:pic>
    </p:spTree>
    <p:extLst>
      <p:ext uri="{BB962C8B-B14F-4D97-AF65-F5344CB8AC3E}">
        <p14:creationId xmlns:p14="http://schemas.microsoft.com/office/powerpoint/2010/main" val="814122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Rectangle 17">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Rectangle 19">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154AC0-ABC2-84A8-1FBF-0D217DFF5ED7}"/>
              </a:ext>
            </a:extLst>
          </p:cNvPr>
          <p:cNvSpPr>
            <a:spLocks noGrp="1"/>
          </p:cNvSpPr>
          <p:nvPr>
            <p:ph type="title"/>
          </p:nvPr>
        </p:nvSpPr>
        <p:spPr>
          <a:xfrm>
            <a:off x="504967" y="675564"/>
            <a:ext cx="3609833" cy="5204085"/>
          </a:xfrm>
        </p:spPr>
        <p:txBody>
          <a:bodyPr>
            <a:normAutofit/>
          </a:bodyPr>
          <a:lstStyle/>
          <a:p>
            <a:r>
              <a:rPr lang="en-US" dirty="0">
                <a:latin typeface="Times New Roman" panose="02020603050405020304" pitchFamily="18" charset="0"/>
                <a:cs typeface="Times New Roman" panose="02020603050405020304" pitchFamily="18" charset="0"/>
              </a:rPr>
              <a:t>DATA PREPARATION</a:t>
            </a:r>
          </a:p>
        </p:txBody>
      </p:sp>
      <p:cxnSp>
        <p:nvCxnSpPr>
          <p:cNvPr id="19" name="Straight Connector 18">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7" name="Rectangle 2">
            <a:extLst>
              <a:ext uri="{FF2B5EF4-FFF2-40B4-BE49-F238E27FC236}">
                <a16:creationId xmlns:a16="http://schemas.microsoft.com/office/drawing/2014/main" id="{09D6220F-9DF1-304C-9CDA-C02DBAC2CC12}"/>
              </a:ext>
            </a:extLst>
          </p:cNvPr>
          <p:cNvGraphicFramePr>
            <a:graphicFrameLocks noGrp="1"/>
          </p:cNvGraphicFramePr>
          <p:nvPr>
            <p:ph idx="1"/>
            <p:extLst>
              <p:ext uri="{D42A27DB-BD31-4B8C-83A1-F6EECF244321}">
                <p14:modId xmlns:p14="http://schemas.microsoft.com/office/powerpoint/2010/main" val="2227901057"/>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8309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CD94FB-FE02-9198-74A0-35EA298B51D9}"/>
              </a:ext>
            </a:extLst>
          </p:cNvPr>
          <p:cNvSpPr>
            <a:spLocks noGrp="1"/>
          </p:cNvSpPr>
          <p:nvPr>
            <p:ph type="title"/>
          </p:nvPr>
        </p:nvSpPr>
        <p:spPr>
          <a:xfrm>
            <a:off x="841248" y="548640"/>
            <a:ext cx="3722514" cy="5431536"/>
          </a:xfrm>
        </p:spPr>
        <p:txBody>
          <a:bodyPr>
            <a:normAutofit/>
          </a:bodyPr>
          <a:lstStyle/>
          <a:p>
            <a:pPr algn="ctr"/>
            <a:r>
              <a:rPr lang="en-US" sz="5400" dirty="0">
                <a:latin typeface="Times New Roman" panose="02020603050405020304" pitchFamily="18" charset="0"/>
                <a:cs typeface="Times New Roman" panose="02020603050405020304" pitchFamily="18" charset="0"/>
              </a:rPr>
              <a:t>Dual Indexing Architecture</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64CADDC-4D9F-FCB5-4018-9FA24B396A53}"/>
              </a:ext>
            </a:extLst>
          </p:cNvPr>
          <p:cNvSpPr>
            <a:spLocks noGrp="1"/>
          </p:cNvSpPr>
          <p:nvPr>
            <p:ph idx="1"/>
          </p:nvPr>
        </p:nvSpPr>
        <p:spPr>
          <a:xfrm>
            <a:off x="5126418" y="552091"/>
            <a:ext cx="6224335" cy="5431536"/>
          </a:xfrm>
        </p:spPr>
        <p:txBody>
          <a:bodyPr anchor="ctr">
            <a:normAutofit/>
          </a:bodyPr>
          <a:lstStyle/>
          <a:p>
            <a:pPr marL="0" indent="0">
              <a:buNone/>
            </a:pPr>
            <a:r>
              <a:rPr lang="en-US" sz="1200" b="1" dirty="0">
                <a:latin typeface="Times New Roman" panose="02020603050405020304" pitchFamily="18" charset="0"/>
                <a:cs typeface="Times New Roman" panose="02020603050405020304" pitchFamily="18" charset="0"/>
              </a:rPr>
              <a:t> 1. BM25 Keyword Index (Lexical Matching)</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Tokenized 1,574 documents with stop word removal preserving Sanskrit entities</a:t>
            </a:r>
          </a:p>
          <a:p>
            <a:r>
              <a:rPr lang="en-US" sz="1200" dirty="0">
                <a:latin typeface="Times New Roman" panose="02020603050405020304" pitchFamily="18" charset="0"/>
                <a:cs typeface="Times New Roman" panose="02020603050405020304" pitchFamily="18" charset="0"/>
              </a:rPr>
              <a:t>Built inverted index with 29,230 unique terms using Okapi BM25 (k₁=1.5, b=0.75)</a:t>
            </a:r>
          </a:p>
          <a:p>
            <a:r>
              <a:rPr lang="en-US" sz="1200" dirty="0">
                <a:latin typeface="Times New Roman" panose="02020603050405020304" pitchFamily="18" charset="0"/>
                <a:cs typeface="Times New Roman" panose="02020603050405020304" pitchFamily="18" charset="0"/>
              </a:rPr>
              <a:t>Optimized for entity-focused queries with exact term matching and TF-IDF scoring</a:t>
            </a:r>
          </a:p>
          <a:p>
            <a:r>
              <a:rPr lang="en-US" sz="1200" dirty="0">
                <a:latin typeface="Times New Roman" panose="02020603050405020304" pitchFamily="18" charset="0"/>
                <a:cs typeface="Times New Roman" panose="02020603050405020304" pitchFamily="18" charset="0"/>
              </a:rPr>
              <a:t>Build time: 0.49s | Query time: ~3ms | Use case: "Who was Arjuna?"</a:t>
            </a:r>
          </a:p>
          <a:p>
            <a:pPr marL="0" indent="0">
              <a:buNone/>
            </a:pPr>
            <a:r>
              <a:rPr lang="en-US" sz="1200" b="1" dirty="0">
                <a:latin typeface="Times New Roman" panose="02020603050405020304" pitchFamily="18" charset="0"/>
                <a:cs typeface="Times New Roman" panose="02020603050405020304" pitchFamily="18" charset="0"/>
              </a:rPr>
              <a:t>2. FAISS Semantic Index (Dense Retrieval)</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Generated 384-dimensional embeddings using all-MiniLM-L6-v2 transformer model</a:t>
            </a:r>
          </a:p>
          <a:p>
            <a:r>
              <a:rPr lang="en-US" sz="1200" dirty="0">
                <a:latin typeface="Times New Roman" panose="02020603050405020304" pitchFamily="18" charset="0"/>
                <a:cs typeface="Times New Roman" panose="02020603050405020304" pitchFamily="18" charset="0"/>
              </a:rPr>
              <a:t>Indexed 1,574 vectors with IndexFlatL2 for cosine similarity search via L2 distance</a:t>
            </a:r>
          </a:p>
          <a:p>
            <a:r>
              <a:rPr lang="en-US" sz="1200" dirty="0">
                <a:latin typeface="Times New Roman" panose="02020603050405020304" pitchFamily="18" charset="0"/>
                <a:cs typeface="Times New Roman" panose="02020603050405020304" pitchFamily="18" charset="0"/>
              </a:rPr>
              <a:t>Captures semantic meaning for conceptual queries and paraphrased questions</a:t>
            </a:r>
          </a:p>
          <a:p>
            <a:r>
              <a:rPr lang="en-US" sz="1200" dirty="0">
                <a:latin typeface="Times New Roman" panose="02020603050405020304" pitchFamily="18" charset="0"/>
                <a:cs typeface="Times New Roman" panose="02020603050405020304" pitchFamily="18" charset="0"/>
              </a:rPr>
              <a:t>Build time: 12.24s | Query time: ~0.2ms | Use case: "What is dharma?"</a:t>
            </a:r>
          </a:p>
          <a:p>
            <a:pPr marL="0" indent="0">
              <a:buNone/>
            </a:pPr>
            <a:r>
              <a:rPr lang="en-US" sz="1200" b="1" dirty="0">
                <a:latin typeface="Times New Roman" panose="02020603050405020304" pitchFamily="18" charset="0"/>
                <a:cs typeface="Times New Roman" panose="02020603050405020304" pitchFamily="18" charset="0"/>
              </a:rPr>
              <a:t>3. Complementary Design for Adaptive Retrieval</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BM25 excels at proper nouns, dates, and factual entity matching (high precision)</a:t>
            </a:r>
          </a:p>
          <a:p>
            <a:r>
              <a:rPr lang="en-US" sz="1200" dirty="0">
                <a:latin typeface="Times New Roman" panose="02020603050405020304" pitchFamily="18" charset="0"/>
                <a:cs typeface="Times New Roman" panose="02020603050405020304" pitchFamily="18" charset="0"/>
              </a:rPr>
              <a:t>FAISS handles abstract concepts, synonyms, and contextual understanding (high recall)</a:t>
            </a:r>
          </a:p>
          <a:p>
            <a:r>
              <a:rPr lang="en-US" sz="1200" dirty="0">
                <a:latin typeface="Times New Roman" panose="02020603050405020304" pitchFamily="18" charset="0"/>
                <a:cs typeface="Times New Roman" panose="02020603050405020304" pitchFamily="18" charset="0"/>
              </a:rPr>
              <a:t>Combined approach enables query-specific strategy selection for optimal performance</a:t>
            </a:r>
          </a:p>
          <a:p>
            <a:r>
              <a:rPr lang="en-US" sz="1200" dirty="0">
                <a:latin typeface="Times New Roman" panose="02020603050405020304" pitchFamily="18" charset="0"/>
                <a:cs typeface="Times New Roman" panose="02020603050405020304" pitchFamily="18" charset="0"/>
              </a:rPr>
              <a:t>Total index size: 2.31 MB (FAISS) + 0.89 MB (BM25) = 3.2 MB in-memory footprint</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020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AC3B2-0583-7A8B-28E7-88CE07AFFE0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Query Classification &amp; Adaptive Routing</a:t>
            </a:r>
          </a:p>
        </p:txBody>
      </p:sp>
      <p:sp>
        <p:nvSpPr>
          <p:cNvPr id="3" name="Content Placeholder 2">
            <a:extLst>
              <a:ext uri="{FF2B5EF4-FFF2-40B4-BE49-F238E27FC236}">
                <a16:creationId xmlns:a16="http://schemas.microsoft.com/office/drawing/2014/main" id="{FCDB7D6D-BF0B-9CB9-5421-1C269BFB625C}"/>
              </a:ext>
            </a:extLst>
          </p:cNvPr>
          <p:cNvSpPr>
            <a:spLocks noGrp="1"/>
          </p:cNvSpPr>
          <p:nvPr>
            <p:ph idx="1"/>
          </p:nvPr>
        </p:nvSpPr>
        <p:spPr/>
        <p:txBody>
          <a:bodyPr>
            <a:normAutofit fontScale="47500" lnSpcReduction="20000"/>
          </a:bodyPr>
          <a:lstStyle/>
          <a:p>
            <a:pPr marL="0" indent="0">
              <a:buNone/>
            </a:pPr>
            <a:r>
              <a:rPr lang="en-US" b="1" dirty="0">
                <a:latin typeface="Times New Roman" panose="02020603050405020304" pitchFamily="18" charset="0"/>
                <a:cs typeface="Times New Roman" panose="02020603050405020304" pitchFamily="18" charset="0"/>
              </a:rPr>
              <a:t>1.  Rule-Based Query Classification System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Analyzes linguistic patterns: entity mentions (17 major characters), question word count, conjunction detection</a:t>
            </a:r>
          </a:p>
          <a:p>
            <a:r>
              <a:rPr lang="en-US" dirty="0">
                <a:latin typeface="Times New Roman" panose="02020603050405020304" pitchFamily="18" charset="0"/>
                <a:cs typeface="Times New Roman" panose="02020603050405020304" pitchFamily="18" charset="0"/>
              </a:rPr>
              <a:t>Three query types identified: (1) Entity-focused (character/place names), (2) Simple conceptual (single question), (3) Multi-hop (compound questions with "and")</a:t>
            </a:r>
          </a:p>
          <a:p>
            <a:r>
              <a:rPr lang="en-US" dirty="0">
                <a:latin typeface="Times New Roman" panose="02020603050405020304" pitchFamily="18" charset="0"/>
                <a:cs typeface="Times New Roman" panose="02020603050405020304" pitchFamily="18" charset="0"/>
              </a:rPr>
              <a:t>Classification accuracy: 94% on 150-query test set with manual validation</a:t>
            </a:r>
          </a:p>
          <a:p>
            <a:r>
              <a:rPr lang="en-US" dirty="0">
                <a:latin typeface="Times New Roman" panose="02020603050405020304" pitchFamily="18" charset="0"/>
                <a:cs typeface="Times New Roman" panose="02020603050405020304" pitchFamily="18" charset="0"/>
              </a:rPr>
              <a:t>Inference time: &lt;1ms per query using regex pattern matching</a:t>
            </a:r>
          </a:p>
          <a:p>
            <a:pPr marL="0" indent="0">
              <a:buNone/>
            </a:pPr>
            <a:r>
              <a:rPr lang="en-US" b="1" dirty="0">
                <a:latin typeface="Times New Roman" panose="02020603050405020304" pitchFamily="18" charset="0"/>
                <a:cs typeface="Times New Roman" panose="02020603050405020304" pitchFamily="18" charset="0"/>
              </a:rPr>
              <a:t>2. Strategy-Specific Retrieval Execution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BM25-Only</a:t>
            </a:r>
            <a:r>
              <a:rPr lang="en-US" dirty="0">
                <a:latin typeface="Times New Roman" panose="02020603050405020304" pitchFamily="18" charset="0"/>
                <a:cs typeface="Times New Roman" panose="02020603050405020304" pitchFamily="18" charset="0"/>
              </a:rPr>
              <a:t> (Entity queries): Returns top-5 docs ranked by term frequency, ~3ms latency, best for "Who was Krishna?"</a:t>
            </a:r>
          </a:p>
          <a:p>
            <a:r>
              <a:rPr lang="en-US" b="1" dirty="0">
                <a:latin typeface="Times New Roman" panose="02020603050405020304" pitchFamily="18" charset="0"/>
                <a:cs typeface="Times New Roman" panose="02020603050405020304" pitchFamily="18" charset="0"/>
              </a:rPr>
              <a:t>FAISS-Only</a:t>
            </a:r>
            <a:r>
              <a:rPr lang="en-US" dirty="0">
                <a:latin typeface="Times New Roman" panose="02020603050405020304" pitchFamily="18" charset="0"/>
                <a:cs typeface="Times New Roman" panose="02020603050405020304" pitchFamily="18" charset="0"/>
              </a:rPr>
              <a:t> (Conceptual queries): Returns top-5 semantically similar docs, ~0.2ms latency, best for "Explain dharma's role"</a:t>
            </a:r>
          </a:p>
          <a:p>
            <a:r>
              <a:rPr lang="en-US" b="1" dirty="0">
                <a:latin typeface="Times New Roman" panose="02020603050405020304" pitchFamily="18" charset="0"/>
                <a:cs typeface="Times New Roman" panose="02020603050405020304" pitchFamily="18" charset="0"/>
              </a:rPr>
              <a:t>Hybrid</a:t>
            </a:r>
            <a:r>
              <a:rPr lang="en-US" dirty="0">
                <a:latin typeface="Times New Roman" panose="02020603050405020304" pitchFamily="18" charset="0"/>
                <a:cs typeface="Times New Roman" panose="02020603050405020304" pitchFamily="18" charset="0"/>
              </a:rPr>
              <a:t> (Multi-hop queries): Retrieves top-5 from each index, deduplicates, returns up to 10 docs, ~5ms latency</a:t>
            </a:r>
          </a:p>
          <a:p>
            <a:r>
              <a:rPr lang="en-US" dirty="0">
                <a:latin typeface="Times New Roman" panose="02020603050405020304" pitchFamily="18" charset="0"/>
                <a:cs typeface="Times New Roman" panose="02020603050405020304" pitchFamily="18" charset="0"/>
              </a:rPr>
              <a:t>Retrieval recall@5: BM25=0.68, FAISS=0.72, Hybrid=0.81 on annotated test set</a:t>
            </a:r>
          </a:p>
          <a:p>
            <a:pPr marL="0" indent="0">
              <a:buNone/>
            </a:pPr>
            <a:r>
              <a:rPr lang="en-US" b="1" dirty="0">
                <a:latin typeface="Times New Roman" panose="02020603050405020304" pitchFamily="18" charset="0"/>
                <a:cs typeface="Times New Roman" panose="02020603050405020304" pitchFamily="18" charset="0"/>
              </a:rPr>
              <a:t>3. Web Search Enhancement</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Tavily</a:t>
            </a:r>
            <a:r>
              <a:rPr lang="en-US" dirty="0">
                <a:latin typeface="Times New Roman" panose="02020603050405020304" pitchFamily="18" charset="0"/>
                <a:cs typeface="Times New Roman" panose="02020603050405020304" pitchFamily="18" charset="0"/>
              </a:rPr>
              <a:t> API integration for modern scholarly interpretations and historical context</a:t>
            </a:r>
          </a:p>
          <a:p>
            <a:r>
              <a:rPr lang="en-US" dirty="0" err="1">
                <a:latin typeface="Times New Roman" panose="02020603050405020304" pitchFamily="18" charset="0"/>
                <a:cs typeface="Times New Roman" panose="02020603050405020304" pitchFamily="18" charset="0"/>
              </a:rPr>
              <a:t>LLaMA</a:t>
            </a:r>
            <a:r>
              <a:rPr lang="en-US" dirty="0">
                <a:latin typeface="Times New Roman" panose="02020603050405020304" pitchFamily="18" charset="0"/>
                <a:cs typeface="Times New Roman" panose="02020603050405020304" pitchFamily="18" charset="0"/>
              </a:rPr>
              <a:t> 3.1-8B fact extraction filters 5 web results to 2-3 relevant sentences</a:t>
            </a:r>
          </a:p>
          <a:p>
            <a:r>
              <a:rPr lang="en-US" dirty="0">
                <a:latin typeface="Times New Roman" panose="02020603050405020304" pitchFamily="18" charset="0"/>
                <a:cs typeface="Times New Roman" panose="02020603050405020304" pitchFamily="18" charset="0"/>
              </a:rPr>
              <a:t>Adds 3.7s average latency but enables cross-referencing with contemporary research</a:t>
            </a:r>
          </a:p>
          <a:p>
            <a:r>
              <a:rPr lang="en-US" b="1" dirty="0">
                <a:latin typeface="Times New Roman" panose="02020603050405020304" pitchFamily="18" charset="0"/>
                <a:cs typeface="Times New Roman" panose="02020603050405020304" pitchFamily="18" charset="0"/>
              </a:rPr>
              <a:t>Finding</a:t>
            </a:r>
            <a:r>
              <a:rPr lang="en-US" dirty="0">
                <a:latin typeface="Times New Roman" panose="02020603050405020304" pitchFamily="18" charset="0"/>
                <a:cs typeface="Times New Roman" panose="02020603050405020304" pitchFamily="18" charset="0"/>
              </a:rPr>
              <a:t>: Web enhancement degrades performance 63% for ancient texts (F1: 0.137→0.042) due to anachronistic interpretations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0478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5AEBDD3-B56F-481F-B681-E422663D2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82342"/>
          </a:xfrm>
          <a:custGeom>
            <a:avLst/>
            <a:gdLst>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67374 w 12192000"/>
              <a:gd name="connsiteY53" fmla="*/ 195957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288078 w 12192000"/>
              <a:gd name="connsiteY59" fmla="*/ 19652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351578 w 12192000"/>
              <a:gd name="connsiteY59" fmla="*/ 19144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351578 w 12192000"/>
              <a:gd name="connsiteY58" fmla="*/ 1914422 h 3482342"/>
              <a:gd name="connsiteX59" fmla="*/ 8248914 w 12192000"/>
              <a:gd name="connsiteY59" fmla="*/ 195417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17124 w 12192000"/>
              <a:gd name="connsiteY69" fmla="*/ 1837109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700779 w 12192000"/>
              <a:gd name="connsiteY75" fmla="*/ 1907344 h 3482342"/>
              <a:gd name="connsiteX76" fmla="*/ 6672513 w 12192000"/>
              <a:gd name="connsiteY76" fmla="*/ 1926452 h 3482342"/>
              <a:gd name="connsiteX77" fmla="*/ 6633549 w 12192000"/>
              <a:gd name="connsiteY77" fmla="*/ 1936255 h 3482342"/>
              <a:gd name="connsiteX78" fmla="*/ 6444344 w 12192000"/>
              <a:gd name="connsiteY78" fmla="*/ 1969663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42310 w 12192000"/>
              <a:gd name="connsiteY82" fmla="*/ 2092510 h 3482342"/>
              <a:gd name="connsiteX83" fmla="*/ 6007916 w 12192000"/>
              <a:gd name="connsiteY83" fmla="*/ 2143752 h 3482342"/>
              <a:gd name="connsiteX84" fmla="*/ 5894610 w 12192000"/>
              <a:gd name="connsiteY84" fmla="*/ 2130684 h 3482342"/>
              <a:gd name="connsiteX85" fmla="*/ 5817682 w 12192000"/>
              <a:gd name="connsiteY85" fmla="*/ 2157358 h 3482342"/>
              <a:gd name="connsiteX86" fmla="*/ 5591469 w 12192000"/>
              <a:gd name="connsiteY86" fmla="*/ 2178389 h 3482342"/>
              <a:gd name="connsiteX87" fmla="*/ 5414282 w 12192000"/>
              <a:gd name="connsiteY87" fmla="*/ 2183070 h 3482342"/>
              <a:gd name="connsiteX88" fmla="*/ 5368369 w 12192000"/>
              <a:gd name="connsiteY88" fmla="*/ 2204272 h 3482342"/>
              <a:gd name="connsiteX89" fmla="*/ 5291263 w 12192000"/>
              <a:gd name="connsiteY89" fmla="*/ 2239182 h 3482342"/>
              <a:gd name="connsiteX90" fmla="*/ 5240857 w 12192000"/>
              <a:gd name="connsiteY90" fmla="*/ 2289444 h 3482342"/>
              <a:gd name="connsiteX91" fmla="*/ 5173523 w 12192000"/>
              <a:gd name="connsiteY91" fmla="*/ 2309057 h 3482342"/>
              <a:gd name="connsiteX92" fmla="*/ 5148543 w 12192000"/>
              <a:gd name="connsiteY92" fmla="*/ 2282356 h 3482342"/>
              <a:gd name="connsiteX93" fmla="*/ 5079548 w 12192000"/>
              <a:gd name="connsiteY93" fmla="*/ 2313485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48914 w 12192000"/>
              <a:gd name="connsiteY58" fmla="*/ 195417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45228 w 12192000"/>
              <a:gd name="connsiteY57" fmla="*/ 19398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30392 w 12192000"/>
              <a:gd name="connsiteY55" fmla="*/ 18985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0392 w 12192000"/>
              <a:gd name="connsiteY54" fmla="*/ 18985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0447 w 12192000"/>
              <a:gd name="connsiteY23" fmla="*/ 12870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294073 w 12192000"/>
              <a:gd name="connsiteY17" fmla="*/ 89726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01920 w 12192000"/>
              <a:gd name="connsiteY16" fmla="*/ 81310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98231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32727 w 12192000"/>
              <a:gd name="connsiteY21" fmla="*/ 1341335 h 3482342"/>
              <a:gd name="connsiteX22" fmla="*/ 10720408 w 12192000"/>
              <a:gd name="connsiteY22" fmla="*/ 1344999 h 3482342"/>
              <a:gd name="connsiteX23" fmla="*/ 10635456 w 12192000"/>
              <a:gd name="connsiteY23" fmla="*/ 1337688 h 3482342"/>
              <a:gd name="connsiteX24" fmla="*/ 10629954 w 12192000"/>
              <a:gd name="connsiteY24" fmla="*/ 1330628 h 3482342"/>
              <a:gd name="connsiteX25" fmla="*/ 10623883 w 12192000"/>
              <a:gd name="connsiteY25" fmla="*/ 1332776 h 3482342"/>
              <a:gd name="connsiteX26" fmla="*/ 10622090 w 12192000"/>
              <a:gd name="connsiteY26" fmla="*/ 1341385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524524 w 12192000"/>
              <a:gd name="connsiteY50" fmla="*/ 1902425 h 3482342"/>
              <a:gd name="connsiteX51" fmla="*/ 8436742 w 12192000"/>
              <a:gd name="connsiteY51" fmla="*/ 1923967 h 3482342"/>
              <a:gd name="connsiteX52" fmla="*/ 8345228 w 12192000"/>
              <a:gd name="connsiteY52" fmla="*/ 1939822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17124 w 12192000"/>
              <a:gd name="connsiteY63" fmla="*/ 1837109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700779 w 12192000"/>
              <a:gd name="connsiteY69" fmla="*/ 1907344 h 3482342"/>
              <a:gd name="connsiteX70" fmla="*/ 6672513 w 12192000"/>
              <a:gd name="connsiteY70" fmla="*/ 1926452 h 3482342"/>
              <a:gd name="connsiteX71" fmla="*/ 6633549 w 12192000"/>
              <a:gd name="connsiteY71" fmla="*/ 1936255 h 3482342"/>
              <a:gd name="connsiteX72" fmla="*/ 6444344 w 12192000"/>
              <a:gd name="connsiteY72" fmla="*/ 1969663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42310 w 12192000"/>
              <a:gd name="connsiteY76" fmla="*/ 2092510 h 3482342"/>
              <a:gd name="connsiteX77" fmla="*/ 6007916 w 12192000"/>
              <a:gd name="connsiteY77" fmla="*/ 2143752 h 3482342"/>
              <a:gd name="connsiteX78" fmla="*/ 5894610 w 12192000"/>
              <a:gd name="connsiteY78" fmla="*/ 2130684 h 3482342"/>
              <a:gd name="connsiteX79" fmla="*/ 5817682 w 12192000"/>
              <a:gd name="connsiteY79" fmla="*/ 2157358 h 3482342"/>
              <a:gd name="connsiteX80" fmla="*/ 5591469 w 12192000"/>
              <a:gd name="connsiteY80" fmla="*/ 2178389 h 3482342"/>
              <a:gd name="connsiteX81" fmla="*/ 5414282 w 12192000"/>
              <a:gd name="connsiteY81" fmla="*/ 2183070 h 3482342"/>
              <a:gd name="connsiteX82" fmla="*/ 5368369 w 12192000"/>
              <a:gd name="connsiteY82" fmla="*/ 2204272 h 3482342"/>
              <a:gd name="connsiteX83" fmla="*/ 5291263 w 12192000"/>
              <a:gd name="connsiteY83" fmla="*/ 2239182 h 3482342"/>
              <a:gd name="connsiteX84" fmla="*/ 5240857 w 12192000"/>
              <a:gd name="connsiteY84" fmla="*/ 2289444 h 3482342"/>
              <a:gd name="connsiteX85" fmla="*/ 5173523 w 12192000"/>
              <a:gd name="connsiteY85" fmla="*/ 2309057 h 3482342"/>
              <a:gd name="connsiteX86" fmla="*/ 5148543 w 12192000"/>
              <a:gd name="connsiteY86" fmla="*/ 2282356 h 3482342"/>
              <a:gd name="connsiteX87" fmla="*/ 5079548 w 12192000"/>
              <a:gd name="connsiteY87" fmla="*/ 2313485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720408 w 12192000"/>
              <a:gd name="connsiteY21" fmla="*/ 134499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524524 w 12192000"/>
              <a:gd name="connsiteY48" fmla="*/ 1902425 h 3482342"/>
              <a:gd name="connsiteX49" fmla="*/ 8436742 w 12192000"/>
              <a:gd name="connsiteY49" fmla="*/ 1923967 h 3482342"/>
              <a:gd name="connsiteX50" fmla="*/ 8345228 w 12192000"/>
              <a:gd name="connsiteY50" fmla="*/ 1939822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17124 w 12192000"/>
              <a:gd name="connsiteY61" fmla="*/ 1837109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700779 w 12192000"/>
              <a:gd name="connsiteY67" fmla="*/ 1907344 h 3482342"/>
              <a:gd name="connsiteX68" fmla="*/ 6672513 w 12192000"/>
              <a:gd name="connsiteY68" fmla="*/ 1926452 h 3482342"/>
              <a:gd name="connsiteX69" fmla="*/ 6633549 w 12192000"/>
              <a:gd name="connsiteY69" fmla="*/ 1936255 h 3482342"/>
              <a:gd name="connsiteX70" fmla="*/ 6444344 w 12192000"/>
              <a:gd name="connsiteY70" fmla="*/ 1969663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42310 w 12192000"/>
              <a:gd name="connsiteY74" fmla="*/ 2092510 h 3482342"/>
              <a:gd name="connsiteX75" fmla="*/ 6007916 w 12192000"/>
              <a:gd name="connsiteY75" fmla="*/ 2143752 h 3482342"/>
              <a:gd name="connsiteX76" fmla="*/ 5894610 w 12192000"/>
              <a:gd name="connsiteY76" fmla="*/ 2130684 h 3482342"/>
              <a:gd name="connsiteX77" fmla="*/ 5817682 w 12192000"/>
              <a:gd name="connsiteY77" fmla="*/ 2157358 h 3482342"/>
              <a:gd name="connsiteX78" fmla="*/ 5591469 w 12192000"/>
              <a:gd name="connsiteY78" fmla="*/ 2178389 h 3482342"/>
              <a:gd name="connsiteX79" fmla="*/ 5414282 w 12192000"/>
              <a:gd name="connsiteY79" fmla="*/ 2183070 h 3482342"/>
              <a:gd name="connsiteX80" fmla="*/ 5368369 w 12192000"/>
              <a:gd name="connsiteY80" fmla="*/ 2204272 h 3482342"/>
              <a:gd name="connsiteX81" fmla="*/ 5291263 w 12192000"/>
              <a:gd name="connsiteY81" fmla="*/ 2239182 h 3482342"/>
              <a:gd name="connsiteX82" fmla="*/ 5240857 w 12192000"/>
              <a:gd name="connsiteY82" fmla="*/ 2289444 h 3482342"/>
              <a:gd name="connsiteX83" fmla="*/ 5173523 w 12192000"/>
              <a:gd name="connsiteY83" fmla="*/ 2309057 h 3482342"/>
              <a:gd name="connsiteX84" fmla="*/ 5148543 w 12192000"/>
              <a:gd name="connsiteY84" fmla="*/ 2282356 h 3482342"/>
              <a:gd name="connsiteX85" fmla="*/ 5079548 w 12192000"/>
              <a:gd name="connsiteY85" fmla="*/ 2313485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17124 w 12192000"/>
              <a:gd name="connsiteY59" fmla="*/ 1837109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700779 w 12192000"/>
              <a:gd name="connsiteY65" fmla="*/ 1907344 h 3482342"/>
              <a:gd name="connsiteX66" fmla="*/ 6672513 w 12192000"/>
              <a:gd name="connsiteY66" fmla="*/ 1926452 h 3482342"/>
              <a:gd name="connsiteX67" fmla="*/ 6633549 w 12192000"/>
              <a:gd name="connsiteY67" fmla="*/ 1936255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07916 w 12192000"/>
              <a:gd name="connsiteY73" fmla="*/ 2143752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14282 w 12192000"/>
              <a:gd name="connsiteY77" fmla="*/ 2183070 h 3482342"/>
              <a:gd name="connsiteX78" fmla="*/ 5368369 w 12192000"/>
              <a:gd name="connsiteY78" fmla="*/ 2204272 h 3482342"/>
              <a:gd name="connsiteX79" fmla="*/ 5291263 w 12192000"/>
              <a:gd name="connsiteY79" fmla="*/ 2239182 h 3482342"/>
              <a:gd name="connsiteX80" fmla="*/ 5240857 w 12192000"/>
              <a:gd name="connsiteY80" fmla="*/ 2289444 h 3482342"/>
              <a:gd name="connsiteX81" fmla="*/ 5173523 w 12192000"/>
              <a:gd name="connsiteY81" fmla="*/ 2309057 h 3482342"/>
              <a:gd name="connsiteX82" fmla="*/ 5148543 w 12192000"/>
              <a:gd name="connsiteY82" fmla="*/ 2282356 h 3482342"/>
              <a:gd name="connsiteX83" fmla="*/ 5079548 w 12192000"/>
              <a:gd name="connsiteY83" fmla="*/ 2313485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33796 w 12192000"/>
              <a:gd name="connsiteY80" fmla="*/ 2268260 h 3482342"/>
              <a:gd name="connsiteX81" fmla="*/ 5173523 w 12192000"/>
              <a:gd name="connsiteY81" fmla="*/ 2309057 h 3482342"/>
              <a:gd name="connsiteX82" fmla="*/ 5123830 w 12192000"/>
              <a:gd name="connsiteY82" fmla="*/ 2307070 h 3482342"/>
              <a:gd name="connsiteX83" fmla="*/ 5065426 w 12192000"/>
              <a:gd name="connsiteY83" fmla="*/ 2324076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173523 w 12192000"/>
              <a:gd name="connsiteY82" fmla="*/ 2309057 h 3482342"/>
              <a:gd name="connsiteX83" fmla="*/ 5123830 w 12192000"/>
              <a:gd name="connsiteY83" fmla="*/ 2307070 h 3482342"/>
              <a:gd name="connsiteX84" fmla="*/ 5065426 w 12192000"/>
              <a:gd name="connsiteY84" fmla="*/ 2324076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212786 w 12192000"/>
              <a:gd name="connsiteY82" fmla="*/ 2296592 h 3482342"/>
              <a:gd name="connsiteX83" fmla="*/ 5173523 w 12192000"/>
              <a:gd name="connsiteY83" fmla="*/ 2309057 h 3482342"/>
              <a:gd name="connsiteX84" fmla="*/ 5123830 w 12192000"/>
              <a:gd name="connsiteY84" fmla="*/ 2307070 h 3482342"/>
              <a:gd name="connsiteX85" fmla="*/ 5065426 w 12192000"/>
              <a:gd name="connsiteY85" fmla="*/ 2324076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52860 w 12192000"/>
              <a:gd name="connsiteY76" fmla="*/ 2180085 h 3482342"/>
              <a:gd name="connsiteX77" fmla="*/ 5414282 w 12192000"/>
              <a:gd name="connsiteY77" fmla="*/ 2183070 h 3482342"/>
              <a:gd name="connsiteX78" fmla="*/ 5368369 w 12192000"/>
              <a:gd name="connsiteY78" fmla="*/ 2204272 h 3482342"/>
              <a:gd name="connsiteX79" fmla="*/ 5336354 w 12192000"/>
              <a:gd name="connsiteY79" fmla="*/ 2218920 h 3482342"/>
              <a:gd name="connsiteX80" fmla="*/ 5291263 w 12192000"/>
              <a:gd name="connsiteY80" fmla="*/ 2239182 h 3482342"/>
              <a:gd name="connsiteX81" fmla="*/ 5255152 w 12192000"/>
              <a:gd name="connsiteY81" fmla="*/ 2247164 h 3482342"/>
              <a:gd name="connsiteX82" fmla="*/ 5233796 w 12192000"/>
              <a:gd name="connsiteY82" fmla="*/ 2268260 h 3482342"/>
              <a:gd name="connsiteX83" fmla="*/ 5212786 w 12192000"/>
              <a:gd name="connsiteY83" fmla="*/ 2296592 h 3482342"/>
              <a:gd name="connsiteX84" fmla="*/ 5173523 w 12192000"/>
              <a:gd name="connsiteY84" fmla="*/ 2309057 h 3482342"/>
              <a:gd name="connsiteX85" fmla="*/ 5123830 w 12192000"/>
              <a:gd name="connsiteY85" fmla="*/ 2307070 h 3482342"/>
              <a:gd name="connsiteX86" fmla="*/ 5065426 w 12192000"/>
              <a:gd name="connsiteY86" fmla="*/ 2324076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947131 w 12192000"/>
              <a:gd name="connsiteY73" fmla="*/ 2148310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52860 w 12192000"/>
              <a:gd name="connsiteY77" fmla="*/ 2180085 h 3482342"/>
              <a:gd name="connsiteX78" fmla="*/ 5414282 w 12192000"/>
              <a:gd name="connsiteY78" fmla="*/ 2183070 h 3482342"/>
              <a:gd name="connsiteX79" fmla="*/ 5368369 w 12192000"/>
              <a:gd name="connsiteY79" fmla="*/ 2204272 h 3482342"/>
              <a:gd name="connsiteX80" fmla="*/ 5336354 w 12192000"/>
              <a:gd name="connsiteY80" fmla="*/ 2218920 h 3482342"/>
              <a:gd name="connsiteX81" fmla="*/ 5291263 w 12192000"/>
              <a:gd name="connsiteY81" fmla="*/ 2239182 h 3482342"/>
              <a:gd name="connsiteX82" fmla="*/ 5255152 w 12192000"/>
              <a:gd name="connsiteY82" fmla="*/ 2247164 h 3482342"/>
              <a:gd name="connsiteX83" fmla="*/ 5233796 w 12192000"/>
              <a:gd name="connsiteY83" fmla="*/ 2268260 h 3482342"/>
              <a:gd name="connsiteX84" fmla="*/ 5212786 w 12192000"/>
              <a:gd name="connsiteY84" fmla="*/ 2296592 h 3482342"/>
              <a:gd name="connsiteX85" fmla="*/ 5173523 w 12192000"/>
              <a:gd name="connsiteY85" fmla="*/ 2309057 h 3482342"/>
              <a:gd name="connsiteX86" fmla="*/ 5123830 w 12192000"/>
              <a:gd name="connsiteY86" fmla="*/ 2307070 h 3482342"/>
              <a:gd name="connsiteX87" fmla="*/ 5065426 w 12192000"/>
              <a:gd name="connsiteY87" fmla="*/ 2324076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52860 w 12192000"/>
              <a:gd name="connsiteY78" fmla="*/ 2180085 h 3482342"/>
              <a:gd name="connsiteX79" fmla="*/ 5414282 w 12192000"/>
              <a:gd name="connsiteY79" fmla="*/ 2183070 h 3482342"/>
              <a:gd name="connsiteX80" fmla="*/ 5368369 w 12192000"/>
              <a:gd name="connsiteY80" fmla="*/ 2204272 h 3482342"/>
              <a:gd name="connsiteX81" fmla="*/ 5336354 w 12192000"/>
              <a:gd name="connsiteY81" fmla="*/ 2218920 h 3482342"/>
              <a:gd name="connsiteX82" fmla="*/ 5291263 w 12192000"/>
              <a:gd name="connsiteY82" fmla="*/ 2239182 h 3482342"/>
              <a:gd name="connsiteX83" fmla="*/ 5255152 w 12192000"/>
              <a:gd name="connsiteY83" fmla="*/ 2247164 h 3482342"/>
              <a:gd name="connsiteX84" fmla="*/ 5233796 w 12192000"/>
              <a:gd name="connsiteY84" fmla="*/ 2268260 h 3482342"/>
              <a:gd name="connsiteX85" fmla="*/ 5212786 w 12192000"/>
              <a:gd name="connsiteY85" fmla="*/ 2296592 h 3482342"/>
              <a:gd name="connsiteX86" fmla="*/ 5173523 w 12192000"/>
              <a:gd name="connsiteY86" fmla="*/ 2309057 h 3482342"/>
              <a:gd name="connsiteX87" fmla="*/ 5123830 w 12192000"/>
              <a:gd name="connsiteY87" fmla="*/ 2307070 h 3482342"/>
              <a:gd name="connsiteX88" fmla="*/ 5065426 w 12192000"/>
              <a:gd name="connsiteY88" fmla="*/ 2324076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735300 w 12192000"/>
              <a:gd name="connsiteY78" fmla="*/ 2158902 h 3482342"/>
              <a:gd name="connsiteX79" fmla="*/ 5591469 w 12192000"/>
              <a:gd name="connsiteY79" fmla="*/ 2178389 h 3482342"/>
              <a:gd name="connsiteX80" fmla="*/ 5452860 w 12192000"/>
              <a:gd name="connsiteY80" fmla="*/ 2180085 h 3482342"/>
              <a:gd name="connsiteX81" fmla="*/ 5414282 w 12192000"/>
              <a:gd name="connsiteY81" fmla="*/ 2183070 h 3482342"/>
              <a:gd name="connsiteX82" fmla="*/ 5368369 w 12192000"/>
              <a:gd name="connsiteY82" fmla="*/ 2204272 h 3482342"/>
              <a:gd name="connsiteX83" fmla="*/ 5336354 w 12192000"/>
              <a:gd name="connsiteY83" fmla="*/ 2218920 h 3482342"/>
              <a:gd name="connsiteX84" fmla="*/ 5291263 w 12192000"/>
              <a:gd name="connsiteY84" fmla="*/ 2239182 h 3482342"/>
              <a:gd name="connsiteX85" fmla="*/ 5255152 w 12192000"/>
              <a:gd name="connsiteY85" fmla="*/ 2247164 h 3482342"/>
              <a:gd name="connsiteX86" fmla="*/ 5233796 w 12192000"/>
              <a:gd name="connsiteY86" fmla="*/ 2268260 h 3482342"/>
              <a:gd name="connsiteX87" fmla="*/ 5212786 w 12192000"/>
              <a:gd name="connsiteY87" fmla="*/ 2296592 h 3482342"/>
              <a:gd name="connsiteX88" fmla="*/ 5173523 w 12192000"/>
              <a:gd name="connsiteY88" fmla="*/ 2309057 h 3482342"/>
              <a:gd name="connsiteX89" fmla="*/ 5123830 w 12192000"/>
              <a:gd name="connsiteY89" fmla="*/ 2307070 h 3482342"/>
              <a:gd name="connsiteX90" fmla="*/ 5065426 w 12192000"/>
              <a:gd name="connsiteY90" fmla="*/ 2324076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56576 w 12192000"/>
              <a:gd name="connsiteY73" fmla="*/ 2134188 h 3482342"/>
              <a:gd name="connsiteX74" fmla="*/ 6007916 w 12192000"/>
              <a:gd name="connsiteY74" fmla="*/ 2143752 h 3482342"/>
              <a:gd name="connsiteX75" fmla="*/ 5947131 w 12192000"/>
              <a:gd name="connsiteY75" fmla="*/ 2148310 h 3482342"/>
              <a:gd name="connsiteX76" fmla="*/ 5898141 w 12192000"/>
              <a:gd name="connsiteY76" fmla="*/ 2144806 h 3482342"/>
              <a:gd name="connsiteX77" fmla="*/ 5855337 w 12192000"/>
              <a:gd name="connsiteY77" fmla="*/ 2137719 h 3482342"/>
              <a:gd name="connsiteX78" fmla="*/ 5817682 w 12192000"/>
              <a:gd name="connsiteY78" fmla="*/ 2157358 h 3482342"/>
              <a:gd name="connsiteX79" fmla="*/ 5735300 w 12192000"/>
              <a:gd name="connsiteY79" fmla="*/ 2158902 h 3482342"/>
              <a:gd name="connsiteX80" fmla="*/ 5591469 w 12192000"/>
              <a:gd name="connsiteY80" fmla="*/ 2178389 h 3482342"/>
              <a:gd name="connsiteX81" fmla="*/ 5452860 w 12192000"/>
              <a:gd name="connsiteY81" fmla="*/ 2180085 h 3482342"/>
              <a:gd name="connsiteX82" fmla="*/ 5414282 w 12192000"/>
              <a:gd name="connsiteY82" fmla="*/ 2183070 h 3482342"/>
              <a:gd name="connsiteX83" fmla="*/ 5368369 w 12192000"/>
              <a:gd name="connsiteY83" fmla="*/ 2204272 h 3482342"/>
              <a:gd name="connsiteX84" fmla="*/ 5336354 w 12192000"/>
              <a:gd name="connsiteY84" fmla="*/ 2218920 h 3482342"/>
              <a:gd name="connsiteX85" fmla="*/ 5291263 w 12192000"/>
              <a:gd name="connsiteY85" fmla="*/ 2239182 h 3482342"/>
              <a:gd name="connsiteX86" fmla="*/ 5255152 w 12192000"/>
              <a:gd name="connsiteY86" fmla="*/ 2247164 h 3482342"/>
              <a:gd name="connsiteX87" fmla="*/ 5233796 w 12192000"/>
              <a:gd name="connsiteY87" fmla="*/ 2268260 h 3482342"/>
              <a:gd name="connsiteX88" fmla="*/ 5212786 w 12192000"/>
              <a:gd name="connsiteY88" fmla="*/ 2296592 h 3482342"/>
              <a:gd name="connsiteX89" fmla="*/ 5173523 w 12192000"/>
              <a:gd name="connsiteY89" fmla="*/ 2309057 h 3482342"/>
              <a:gd name="connsiteX90" fmla="*/ 5123830 w 12192000"/>
              <a:gd name="connsiteY90" fmla="*/ 2307070 h 3482342"/>
              <a:gd name="connsiteX91" fmla="*/ 5065426 w 12192000"/>
              <a:gd name="connsiteY91" fmla="*/ 2324076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38780 w 12192000"/>
              <a:gd name="connsiteY73" fmla="*/ 2081918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056576 w 12192000"/>
              <a:gd name="connsiteY75" fmla="*/ 2134188 h 3482342"/>
              <a:gd name="connsiteX76" fmla="*/ 6007916 w 12192000"/>
              <a:gd name="connsiteY76" fmla="*/ 2143752 h 3482342"/>
              <a:gd name="connsiteX77" fmla="*/ 5947131 w 12192000"/>
              <a:gd name="connsiteY77" fmla="*/ 2148310 h 3482342"/>
              <a:gd name="connsiteX78" fmla="*/ 5898141 w 12192000"/>
              <a:gd name="connsiteY78" fmla="*/ 2144806 h 3482342"/>
              <a:gd name="connsiteX79" fmla="*/ 5855337 w 12192000"/>
              <a:gd name="connsiteY79" fmla="*/ 2137719 h 3482342"/>
              <a:gd name="connsiteX80" fmla="*/ 5817682 w 12192000"/>
              <a:gd name="connsiteY80" fmla="*/ 2157358 h 3482342"/>
              <a:gd name="connsiteX81" fmla="*/ 5735300 w 12192000"/>
              <a:gd name="connsiteY81" fmla="*/ 2158902 h 3482342"/>
              <a:gd name="connsiteX82" fmla="*/ 5591469 w 12192000"/>
              <a:gd name="connsiteY82" fmla="*/ 2178389 h 3482342"/>
              <a:gd name="connsiteX83" fmla="*/ 5452860 w 12192000"/>
              <a:gd name="connsiteY83" fmla="*/ 2180085 h 3482342"/>
              <a:gd name="connsiteX84" fmla="*/ 5414282 w 12192000"/>
              <a:gd name="connsiteY84" fmla="*/ 2183070 h 3482342"/>
              <a:gd name="connsiteX85" fmla="*/ 5368369 w 12192000"/>
              <a:gd name="connsiteY85" fmla="*/ 2204272 h 3482342"/>
              <a:gd name="connsiteX86" fmla="*/ 5336354 w 12192000"/>
              <a:gd name="connsiteY86" fmla="*/ 2218920 h 3482342"/>
              <a:gd name="connsiteX87" fmla="*/ 5291263 w 12192000"/>
              <a:gd name="connsiteY87" fmla="*/ 2239182 h 3482342"/>
              <a:gd name="connsiteX88" fmla="*/ 5255152 w 12192000"/>
              <a:gd name="connsiteY88" fmla="*/ 2247164 h 3482342"/>
              <a:gd name="connsiteX89" fmla="*/ 5233796 w 12192000"/>
              <a:gd name="connsiteY89" fmla="*/ 2268260 h 3482342"/>
              <a:gd name="connsiteX90" fmla="*/ 5212786 w 12192000"/>
              <a:gd name="connsiteY90" fmla="*/ 2296592 h 3482342"/>
              <a:gd name="connsiteX91" fmla="*/ 5173523 w 12192000"/>
              <a:gd name="connsiteY91" fmla="*/ 2309057 h 3482342"/>
              <a:gd name="connsiteX92" fmla="*/ 5123830 w 12192000"/>
              <a:gd name="connsiteY92" fmla="*/ 2307070 h 3482342"/>
              <a:gd name="connsiteX93" fmla="*/ 5065426 w 12192000"/>
              <a:gd name="connsiteY93" fmla="*/ 2324076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34188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50998 w 12192000"/>
              <a:gd name="connsiteY21" fmla="*/ 1269215 h 3482342"/>
              <a:gd name="connsiteX22" fmla="*/ 10815658 w 12192000"/>
              <a:gd name="connsiteY22" fmla="*/ 1287849 h 3482342"/>
              <a:gd name="connsiteX23" fmla="*/ 10679906 w 12192000"/>
              <a:gd name="connsiteY23" fmla="*/ 1324988 h 3482342"/>
              <a:gd name="connsiteX24" fmla="*/ 10636304 w 12192000"/>
              <a:gd name="connsiteY24" fmla="*/ 1317928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495949 w 12192000"/>
              <a:gd name="connsiteY48" fmla="*/ 1902425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41837 w 12192000"/>
              <a:gd name="connsiteY59" fmla="*/ 1840640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686657 w 12192000"/>
              <a:gd name="connsiteY65" fmla="*/ 1907344 h 3482342"/>
              <a:gd name="connsiteX66" fmla="*/ 6651330 w 12192000"/>
              <a:gd name="connsiteY66" fmla="*/ 1922921 h 3482342"/>
              <a:gd name="connsiteX67" fmla="*/ 6622958 w 12192000"/>
              <a:gd name="connsiteY67" fmla="*/ 1936255 h 3482342"/>
              <a:gd name="connsiteX68" fmla="*/ 6522602 w 12192000"/>
              <a:gd name="connsiteY68" fmla="*/ 1954133 h 3482342"/>
              <a:gd name="connsiteX69" fmla="*/ 6444344 w 12192000"/>
              <a:gd name="connsiteY69" fmla="*/ 1969663 h 3482342"/>
              <a:gd name="connsiteX70" fmla="*/ 6409626 w 12192000"/>
              <a:gd name="connsiteY70" fmla="*/ 1978846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87205 w 12192000"/>
              <a:gd name="connsiteY74" fmla="*/ 2060048 h 3482342"/>
              <a:gd name="connsiteX75" fmla="*/ 6138780 w 12192000"/>
              <a:gd name="connsiteY75" fmla="*/ 2081918 h 3482342"/>
              <a:gd name="connsiteX76" fmla="*/ 6120125 w 12192000"/>
              <a:gd name="connsiteY76" fmla="*/ 2109475 h 3482342"/>
              <a:gd name="connsiteX77" fmla="*/ 6056576 w 12192000"/>
              <a:gd name="connsiteY77" fmla="*/ 2120066 h 3482342"/>
              <a:gd name="connsiteX78" fmla="*/ 5993794 w 12192000"/>
              <a:gd name="connsiteY78" fmla="*/ 2122569 h 3482342"/>
              <a:gd name="connsiteX79" fmla="*/ 5943601 w 12192000"/>
              <a:gd name="connsiteY79" fmla="*/ 2137719 h 3482342"/>
              <a:gd name="connsiteX80" fmla="*/ 5898141 w 12192000"/>
              <a:gd name="connsiteY80" fmla="*/ 2144806 h 3482342"/>
              <a:gd name="connsiteX81" fmla="*/ 5855337 w 12192000"/>
              <a:gd name="connsiteY81" fmla="*/ 2137719 h 3482342"/>
              <a:gd name="connsiteX82" fmla="*/ 5817682 w 12192000"/>
              <a:gd name="connsiteY82" fmla="*/ 2157358 h 3482342"/>
              <a:gd name="connsiteX83" fmla="*/ 5735300 w 12192000"/>
              <a:gd name="connsiteY83" fmla="*/ 2158902 h 3482342"/>
              <a:gd name="connsiteX84" fmla="*/ 5591469 w 12192000"/>
              <a:gd name="connsiteY84" fmla="*/ 2178389 h 3482342"/>
              <a:gd name="connsiteX85" fmla="*/ 5505818 w 12192000"/>
              <a:gd name="connsiteY85" fmla="*/ 2194207 h 3482342"/>
              <a:gd name="connsiteX86" fmla="*/ 5452860 w 12192000"/>
              <a:gd name="connsiteY86" fmla="*/ 2180085 h 3482342"/>
              <a:gd name="connsiteX87" fmla="*/ 5414282 w 12192000"/>
              <a:gd name="connsiteY87" fmla="*/ 2183070 h 3482342"/>
              <a:gd name="connsiteX88" fmla="*/ 5368369 w 12192000"/>
              <a:gd name="connsiteY88" fmla="*/ 2204272 h 3482342"/>
              <a:gd name="connsiteX89" fmla="*/ 5336354 w 12192000"/>
              <a:gd name="connsiteY89" fmla="*/ 2218920 h 3482342"/>
              <a:gd name="connsiteX90" fmla="*/ 5291263 w 12192000"/>
              <a:gd name="connsiteY90" fmla="*/ 2239182 h 3482342"/>
              <a:gd name="connsiteX91" fmla="*/ 5255152 w 12192000"/>
              <a:gd name="connsiteY91" fmla="*/ 2247164 h 3482342"/>
              <a:gd name="connsiteX92" fmla="*/ 5233796 w 12192000"/>
              <a:gd name="connsiteY92" fmla="*/ 2268260 h 3482342"/>
              <a:gd name="connsiteX93" fmla="*/ 5212786 w 12192000"/>
              <a:gd name="connsiteY93" fmla="*/ 2296592 h 3482342"/>
              <a:gd name="connsiteX94" fmla="*/ 5173523 w 12192000"/>
              <a:gd name="connsiteY94" fmla="*/ 2309057 h 3482342"/>
              <a:gd name="connsiteX95" fmla="*/ 5123830 w 12192000"/>
              <a:gd name="connsiteY95" fmla="*/ 2307070 h 3482342"/>
              <a:gd name="connsiteX96" fmla="*/ 5065426 w 12192000"/>
              <a:gd name="connsiteY96" fmla="*/ 2324076 h 3482342"/>
              <a:gd name="connsiteX97" fmla="*/ 4975908 w 12192000"/>
              <a:gd name="connsiteY97" fmla="*/ 2364128 h 3482342"/>
              <a:gd name="connsiteX98" fmla="*/ 4913723 w 12192000"/>
              <a:gd name="connsiteY98" fmla="*/ 2385265 h 3482342"/>
              <a:gd name="connsiteX99" fmla="*/ 4746485 w 12192000"/>
              <a:gd name="connsiteY99" fmla="*/ 2451769 h 3482342"/>
              <a:gd name="connsiteX100" fmla="*/ 4681588 w 12192000"/>
              <a:gd name="connsiteY100" fmla="*/ 2467494 h 3482342"/>
              <a:gd name="connsiteX101" fmla="*/ 1783655 w 12192000"/>
              <a:gd name="connsiteY101" fmla="*/ 3163860 h 3482342"/>
              <a:gd name="connsiteX102" fmla="*/ 1325955 w 12192000"/>
              <a:gd name="connsiteY102" fmla="*/ 3176692 h 3482342"/>
              <a:gd name="connsiteX103" fmla="*/ 1190384 w 12192000"/>
              <a:gd name="connsiteY103" fmla="*/ 3203504 h 3482342"/>
              <a:gd name="connsiteX104" fmla="*/ 1094537 w 12192000"/>
              <a:gd name="connsiteY104" fmla="*/ 3229469 h 3482342"/>
              <a:gd name="connsiteX105" fmla="*/ 779276 w 12192000"/>
              <a:gd name="connsiteY105" fmla="*/ 3327290 h 3482342"/>
              <a:gd name="connsiteX106" fmla="*/ 600378 w 12192000"/>
              <a:gd name="connsiteY106" fmla="*/ 3335250 h 3482342"/>
              <a:gd name="connsiteX107" fmla="*/ 493457 w 12192000"/>
              <a:gd name="connsiteY107" fmla="*/ 3365044 h 3482342"/>
              <a:gd name="connsiteX108" fmla="*/ 349402 w 12192000"/>
              <a:gd name="connsiteY108" fmla="*/ 3380897 h 3482342"/>
              <a:gd name="connsiteX109" fmla="*/ 192183 w 12192000"/>
              <a:gd name="connsiteY109" fmla="*/ 3460075 h 3482342"/>
              <a:gd name="connsiteX110" fmla="*/ 46713 w 12192000"/>
              <a:gd name="connsiteY110" fmla="*/ 3462986 h 3482342"/>
              <a:gd name="connsiteX111" fmla="*/ 2765 w 12192000"/>
              <a:gd name="connsiteY111" fmla="*/ 3480770 h 3482342"/>
              <a:gd name="connsiteX112" fmla="*/ 0 w 12192000"/>
              <a:gd name="connsiteY112" fmla="*/ 3482342 h 3482342"/>
              <a:gd name="connsiteX113" fmla="*/ 0 w 12192000"/>
              <a:gd name="connsiteY11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495949 w 12192000"/>
              <a:gd name="connsiteY50" fmla="*/ 1902425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41837 w 12192000"/>
              <a:gd name="connsiteY61" fmla="*/ 1840640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686657 w 12192000"/>
              <a:gd name="connsiteY67" fmla="*/ 1907344 h 3482342"/>
              <a:gd name="connsiteX68" fmla="*/ 6651330 w 12192000"/>
              <a:gd name="connsiteY68" fmla="*/ 1922921 h 3482342"/>
              <a:gd name="connsiteX69" fmla="*/ 6622958 w 12192000"/>
              <a:gd name="connsiteY69" fmla="*/ 1936255 h 3482342"/>
              <a:gd name="connsiteX70" fmla="*/ 6522602 w 12192000"/>
              <a:gd name="connsiteY70" fmla="*/ 1954133 h 3482342"/>
              <a:gd name="connsiteX71" fmla="*/ 6444344 w 12192000"/>
              <a:gd name="connsiteY71" fmla="*/ 1969663 h 3482342"/>
              <a:gd name="connsiteX72" fmla="*/ 6409626 w 12192000"/>
              <a:gd name="connsiteY72" fmla="*/ 1978846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87205 w 12192000"/>
              <a:gd name="connsiteY76" fmla="*/ 2060048 h 3482342"/>
              <a:gd name="connsiteX77" fmla="*/ 6138780 w 12192000"/>
              <a:gd name="connsiteY77" fmla="*/ 2081918 h 3482342"/>
              <a:gd name="connsiteX78" fmla="*/ 6120125 w 12192000"/>
              <a:gd name="connsiteY78" fmla="*/ 2109475 h 3482342"/>
              <a:gd name="connsiteX79" fmla="*/ 6056576 w 12192000"/>
              <a:gd name="connsiteY79" fmla="*/ 2120066 h 3482342"/>
              <a:gd name="connsiteX80" fmla="*/ 5993794 w 12192000"/>
              <a:gd name="connsiteY80" fmla="*/ 2122569 h 3482342"/>
              <a:gd name="connsiteX81" fmla="*/ 5943601 w 12192000"/>
              <a:gd name="connsiteY81" fmla="*/ 2137719 h 3482342"/>
              <a:gd name="connsiteX82" fmla="*/ 5898141 w 12192000"/>
              <a:gd name="connsiteY82" fmla="*/ 2144806 h 3482342"/>
              <a:gd name="connsiteX83" fmla="*/ 5855337 w 12192000"/>
              <a:gd name="connsiteY83" fmla="*/ 2137719 h 3482342"/>
              <a:gd name="connsiteX84" fmla="*/ 5817682 w 12192000"/>
              <a:gd name="connsiteY84" fmla="*/ 2157358 h 3482342"/>
              <a:gd name="connsiteX85" fmla="*/ 5735300 w 12192000"/>
              <a:gd name="connsiteY85" fmla="*/ 2158902 h 3482342"/>
              <a:gd name="connsiteX86" fmla="*/ 5591469 w 12192000"/>
              <a:gd name="connsiteY86" fmla="*/ 2178389 h 3482342"/>
              <a:gd name="connsiteX87" fmla="*/ 5505818 w 12192000"/>
              <a:gd name="connsiteY87" fmla="*/ 2194207 h 3482342"/>
              <a:gd name="connsiteX88" fmla="*/ 5452860 w 12192000"/>
              <a:gd name="connsiteY88" fmla="*/ 2180085 h 3482342"/>
              <a:gd name="connsiteX89" fmla="*/ 5414282 w 12192000"/>
              <a:gd name="connsiteY89" fmla="*/ 2183070 h 3482342"/>
              <a:gd name="connsiteX90" fmla="*/ 5368369 w 12192000"/>
              <a:gd name="connsiteY90" fmla="*/ 2204272 h 3482342"/>
              <a:gd name="connsiteX91" fmla="*/ 5336354 w 12192000"/>
              <a:gd name="connsiteY91" fmla="*/ 2218920 h 3482342"/>
              <a:gd name="connsiteX92" fmla="*/ 5291263 w 12192000"/>
              <a:gd name="connsiteY92" fmla="*/ 2239182 h 3482342"/>
              <a:gd name="connsiteX93" fmla="*/ 5255152 w 12192000"/>
              <a:gd name="connsiteY93" fmla="*/ 2247164 h 3482342"/>
              <a:gd name="connsiteX94" fmla="*/ 5233796 w 12192000"/>
              <a:gd name="connsiteY94" fmla="*/ 2268260 h 3482342"/>
              <a:gd name="connsiteX95" fmla="*/ 5212786 w 12192000"/>
              <a:gd name="connsiteY95" fmla="*/ 2296592 h 3482342"/>
              <a:gd name="connsiteX96" fmla="*/ 5173523 w 12192000"/>
              <a:gd name="connsiteY96" fmla="*/ 2309057 h 3482342"/>
              <a:gd name="connsiteX97" fmla="*/ 5123830 w 12192000"/>
              <a:gd name="connsiteY97" fmla="*/ 2307070 h 3482342"/>
              <a:gd name="connsiteX98" fmla="*/ 5065426 w 12192000"/>
              <a:gd name="connsiteY98" fmla="*/ 2324076 h 3482342"/>
              <a:gd name="connsiteX99" fmla="*/ 4975908 w 12192000"/>
              <a:gd name="connsiteY99" fmla="*/ 2364128 h 3482342"/>
              <a:gd name="connsiteX100" fmla="*/ 4913723 w 12192000"/>
              <a:gd name="connsiteY100" fmla="*/ 2385265 h 3482342"/>
              <a:gd name="connsiteX101" fmla="*/ 4746485 w 12192000"/>
              <a:gd name="connsiteY101" fmla="*/ 2451769 h 3482342"/>
              <a:gd name="connsiteX102" fmla="*/ 4681588 w 12192000"/>
              <a:gd name="connsiteY102" fmla="*/ 2467494 h 3482342"/>
              <a:gd name="connsiteX103" fmla="*/ 1783655 w 12192000"/>
              <a:gd name="connsiteY103" fmla="*/ 3163860 h 3482342"/>
              <a:gd name="connsiteX104" fmla="*/ 1325955 w 12192000"/>
              <a:gd name="connsiteY104" fmla="*/ 3176692 h 3482342"/>
              <a:gd name="connsiteX105" fmla="*/ 1190384 w 12192000"/>
              <a:gd name="connsiteY105" fmla="*/ 3203504 h 3482342"/>
              <a:gd name="connsiteX106" fmla="*/ 1094537 w 12192000"/>
              <a:gd name="connsiteY106" fmla="*/ 3229469 h 3482342"/>
              <a:gd name="connsiteX107" fmla="*/ 779276 w 12192000"/>
              <a:gd name="connsiteY107" fmla="*/ 3327290 h 3482342"/>
              <a:gd name="connsiteX108" fmla="*/ 600378 w 12192000"/>
              <a:gd name="connsiteY108" fmla="*/ 3335250 h 3482342"/>
              <a:gd name="connsiteX109" fmla="*/ 493457 w 12192000"/>
              <a:gd name="connsiteY109" fmla="*/ 3365044 h 3482342"/>
              <a:gd name="connsiteX110" fmla="*/ 349402 w 12192000"/>
              <a:gd name="connsiteY110" fmla="*/ 3380897 h 3482342"/>
              <a:gd name="connsiteX111" fmla="*/ 192183 w 12192000"/>
              <a:gd name="connsiteY111" fmla="*/ 3460075 h 3482342"/>
              <a:gd name="connsiteX112" fmla="*/ 46713 w 12192000"/>
              <a:gd name="connsiteY112" fmla="*/ 3462986 h 3482342"/>
              <a:gd name="connsiteX113" fmla="*/ 2765 w 12192000"/>
              <a:gd name="connsiteY113" fmla="*/ 3480770 h 3482342"/>
              <a:gd name="connsiteX114" fmla="*/ 0 w 12192000"/>
              <a:gd name="connsiteY114" fmla="*/ 3482342 h 3482342"/>
              <a:gd name="connsiteX115" fmla="*/ 0 w 12192000"/>
              <a:gd name="connsiteY11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495949 w 12192000"/>
              <a:gd name="connsiteY51" fmla="*/ 1902425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41837 w 12192000"/>
              <a:gd name="connsiteY62" fmla="*/ 1840640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686657 w 12192000"/>
              <a:gd name="connsiteY68" fmla="*/ 1907344 h 3482342"/>
              <a:gd name="connsiteX69" fmla="*/ 6651330 w 12192000"/>
              <a:gd name="connsiteY69" fmla="*/ 1922921 h 3482342"/>
              <a:gd name="connsiteX70" fmla="*/ 6622958 w 12192000"/>
              <a:gd name="connsiteY70" fmla="*/ 1936255 h 3482342"/>
              <a:gd name="connsiteX71" fmla="*/ 6522602 w 12192000"/>
              <a:gd name="connsiteY71" fmla="*/ 1954133 h 3482342"/>
              <a:gd name="connsiteX72" fmla="*/ 6444344 w 12192000"/>
              <a:gd name="connsiteY72" fmla="*/ 1969663 h 3482342"/>
              <a:gd name="connsiteX73" fmla="*/ 6409626 w 12192000"/>
              <a:gd name="connsiteY73" fmla="*/ 1978846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87205 w 12192000"/>
              <a:gd name="connsiteY77" fmla="*/ 2060048 h 3482342"/>
              <a:gd name="connsiteX78" fmla="*/ 6138780 w 12192000"/>
              <a:gd name="connsiteY78" fmla="*/ 2081918 h 3482342"/>
              <a:gd name="connsiteX79" fmla="*/ 6120125 w 12192000"/>
              <a:gd name="connsiteY79" fmla="*/ 2109475 h 3482342"/>
              <a:gd name="connsiteX80" fmla="*/ 6056576 w 12192000"/>
              <a:gd name="connsiteY80" fmla="*/ 2120066 h 3482342"/>
              <a:gd name="connsiteX81" fmla="*/ 5993794 w 12192000"/>
              <a:gd name="connsiteY81" fmla="*/ 2122569 h 3482342"/>
              <a:gd name="connsiteX82" fmla="*/ 5943601 w 12192000"/>
              <a:gd name="connsiteY82" fmla="*/ 2137719 h 3482342"/>
              <a:gd name="connsiteX83" fmla="*/ 5898141 w 12192000"/>
              <a:gd name="connsiteY83" fmla="*/ 2144806 h 3482342"/>
              <a:gd name="connsiteX84" fmla="*/ 5855337 w 12192000"/>
              <a:gd name="connsiteY84" fmla="*/ 2137719 h 3482342"/>
              <a:gd name="connsiteX85" fmla="*/ 5817682 w 12192000"/>
              <a:gd name="connsiteY85" fmla="*/ 2157358 h 3482342"/>
              <a:gd name="connsiteX86" fmla="*/ 5735300 w 12192000"/>
              <a:gd name="connsiteY86" fmla="*/ 2158902 h 3482342"/>
              <a:gd name="connsiteX87" fmla="*/ 5591469 w 12192000"/>
              <a:gd name="connsiteY87" fmla="*/ 2178389 h 3482342"/>
              <a:gd name="connsiteX88" fmla="*/ 5505818 w 12192000"/>
              <a:gd name="connsiteY88" fmla="*/ 2194207 h 3482342"/>
              <a:gd name="connsiteX89" fmla="*/ 5452860 w 12192000"/>
              <a:gd name="connsiteY89" fmla="*/ 2180085 h 3482342"/>
              <a:gd name="connsiteX90" fmla="*/ 5414282 w 12192000"/>
              <a:gd name="connsiteY90" fmla="*/ 2183070 h 3482342"/>
              <a:gd name="connsiteX91" fmla="*/ 5368369 w 12192000"/>
              <a:gd name="connsiteY91" fmla="*/ 2204272 h 3482342"/>
              <a:gd name="connsiteX92" fmla="*/ 5336354 w 12192000"/>
              <a:gd name="connsiteY92" fmla="*/ 2218920 h 3482342"/>
              <a:gd name="connsiteX93" fmla="*/ 5291263 w 12192000"/>
              <a:gd name="connsiteY93" fmla="*/ 2239182 h 3482342"/>
              <a:gd name="connsiteX94" fmla="*/ 5255152 w 12192000"/>
              <a:gd name="connsiteY94" fmla="*/ 2247164 h 3482342"/>
              <a:gd name="connsiteX95" fmla="*/ 5233796 w 12192000"/>
              <a:gd name="connsiteY95" fmla="*/ 2268260 h 3482342"/>
              <a:gd name="connsiteX96" fmla="*/ 5212786 w 12192000"/>
              <a:gd name="connsiteY96" fmla="*/ 2296592 h 3482342"/>
              <a:gd name="connsiteX97" fmla="*/ 5173523 w 12192000"/>
              <a:gd name="connsiteY97" fmla="*/ 2309057 h 3482342"/>
              <a:gd name="connsiteX98" fmla="*/ 5123830 w 12192000"/>
              <a:gd name="connsiteY98" fmla="*/ 2307070 h 3482342"/>
              <a:gd name="connsiteX99" fmla="*/ 5065426 w 12192000"/>
              <a:gd name="connsiteY99" fmla="*/ 2324076 h 3482342"/>
              <a:gd name="connsiteX100" fmla="*/ 4975908 w 12192000"/>
              <a:gd name="connsiteY100" fmla="*/ 2364128 h 3482342"/>
              <a:gd name="connsiteX101" fmla="*/ 4913723 w 12192000"/>
              <a:gd name="connsiteY101" fmla="*/ 2385265 h 3482342"/>
              <a:gd name="connsiteX102" fmla="*/ 4746485 w 12192000"/>
              <a:gd name="connsiteY102" fmla="*/ 2451769 h 3482342"/>
              <a:gd name="connsiteX103" fmla="*/ 4681588 w 12192000"/>
              <a:gd name="connsiteY103" fmla="*/ 2467494 h 3482342"/>
              <a:gd name="connsiteX104" fmla="*/ 1783655 w 12192000"/>
              <a:gd name="connsiteY104" fmla="*/ 3163860 h 3482342"/>
              <a:gd name="connsiteX105" fmla="*/ 1325955 w 12192000"/>
              <a:gd name="connsiteY105" fmla="*/ 3176692 h 3482342"/>
              <a:gd name="connsiteX106" fmla="*/ 1190384 w 12192000"/>
              <a:gd name="connsiteY106" fmla="*/ 3203504 h 3482342"/>
              <a:gd name="connsiteX107" fmla="*/ 1094537 w 12192000"/>
              <a:gd name="connsiteY107" fmla="*/ 3229469 h 3482342"/>
              <a:gd name="connsiteX108" fmla="*/ 779276 w 12192000"/>
              <a:gd name="connsiteY108" fmla="*/ 3327290 h 3482342"/>
              <a:gd name="connsiteX109" fmla="*/ 600378 w 12192000"/>
              <a:gd name="connsiteY109" fmla="*/ 3335250 h 3482342"/>
              <a:gd name="connsiteX110" fmla="*/ 493457 w 12192000"/>
              <a:gd name="connsiteY110" fmla="*/ 3365044 h 3482342"/>
              <a:gd name="connsiteX111" fmla="*/ 349402 w 12192000"/>
              <a:gd name="connsiteY111" fmla="*/ 3380897 h 3482342"/>
              <a:gd name="connsiteX112" fmla="*/ 192183 w 12192000"/>
              <a:gd name="connsiteY112" fmla="*/ 3460075 h 3482342"/>
              <a:gd name="connsiteX113" fmla="*/ 46713 w 12192000"/>
              <a:gd name="connsiteY113" fmla="*/ 3462986 h 3482342"/>
              <a:gd name="connsiteX114" fmla="*/ 2765 w 12192000"/>
              <a:gd name="connsiteY114" fmla="*/ 3480770 h 3482342"/>
              <a:gd name="connsiteX115" fmla="*/ 0 w 12192000"/>
              <a:gd name="connsiteY115" fmla="*/ 3482342 h 3482342"/>
              <a:gd name="connsiteX116" fmla="*/ 0 w 12192000"/>
              <a:gd name="connsiteY11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01385 w 12192000"/>
              <a:gd name="connsiteY34" fmla="*/ 1477515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75804 w 12192000"/>
              <a:gd name="connsiteY19" fmla="*/ 1067977 h 3482342"/>
              <a:gd name="connsiteX20" fmla="*/ 11120819 w 12192000"/>
              <a:gd name="connsiteY20" fmla="*/ 1126133 h 3482342"/>
              <a:gd name="connsiteX21" fmla="*/ 11028687 w 12192000"/>
              <a:gd name="connsiteY21" fmla="*/ 1199018 h 3482342"/>
              <a:gd name="connsiteX22" fmla="*/ 10960443 w 12192000"/>
              <a:gd name="connsiteY22" fmla="*/ 1244502 h 3482342"/>
              <a:gd name="connsiteX23" fmla="*/ 10850998 w 12192000"/>
              <a:gd name="connsiteY23" fmla="*/ 1269215 h 3482342"/>
              <a:gd name="connsiteX24" fmla="*/ 10815658 w 12192000"/>
              <a:gd name="connsiteY24" fmla="*/ 1287849 h 3482342"/>
              <a:gd name="connsiteX25" fmla="*/ 10679906 w 12192000"/>
              <a:gd name="connsiteY25" fmla="*/ 1324988 h 3482342"/>
              <a:gd name="connsiteX26" fmla="*/ 10636304 w 12192000"/>
              <a:gd name="connsiteY26" fmla="*/ 1317928 h 3482342"/>
              <a:gd name="connsiteX27" fmla="*/ 10603863 w 12192000"/>
              <a:gd name="connsiteY27" fmla="*/ 1346886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314361 w 12192000"/>
              <a:gd name="connsiteY33" fmla="*/ 1466924 h 3482342"/>
              <a:gd name="connsiteX34" fmla="*/ 10264922 w 12192000"/>
              <a:gd name="connsiteY34" fmla="*/ 1472107 h 3482342"/>
              <a:gd name="connsiteX35" fmla="*/ 10201385 w 12192000"/>
              <a:gd name="connsiteY35" fmla="*/ 1477515 h 3482342"/>
              <a:gd name="connsiteX36" fmla="*/ 10120184 w 12192000"/>
              <a:gd name="connsiteY36" fmla="*/ 1466924 h 3482342"/>
              <a:gd name="connsiteX37" fmla="*/ 10058690 w 12192000"/>
              <a:gd name="connsiteY37" fmla="*/ 1474888 h 3482342"/>
              <a:gd name="connsiteX38" fmla="*/ 10004424 w 12192000"/>
              <a:gd name="connsiteY38" fmla="*/ 1489801 h 3482342"/>
              <a:gd name="connsiteX39" fmla="*/ 9999951 w 12192000"/>
              <a:gd name="connsiteY39" fmla="*/ 1499127 h 3482342"/>
              <a:gd name="connsiteX40" fmla="*/ 9845462 w 12192000"/>
              <a:gd name="connsiteY40" fmla="*/ 1548192 h 3482342"/>
              <a:gd name="connsiteX41" fmla="*/ 9736156 w 12192000"/>
              <a:gd name="connsiteY41" fmla="*/ 1581928 h 3482342"/>
              <a:gd name="connsiteX42" fmla="*/ 9693355 w 12192000"/>
              <a:gd name="connsiteY42" fmla="*/ 1602632 h 3482342"/>
              <a:gd name="connsiteX43" fmla="*/ 9664242 w 12192000"/>
              <a:gd name="connsiteY43" fmla="*/ 1622075 h 3482342"/>
              <a:gd name="connsiteX44" fmla="*/ 9579195 w 12192000"/>
              <a:gd name="connsiteY44" fmla="*/ 1648017 h 3482342"/>
              <a:gd name="connsiteX45" fmla="*/ 9433652 w 12192000"/>
              <a:gd name="connsiteY45" fmla="*/ 1681174 h 3482342"/>
              <a:gd name="connsiteX46" fmla="*/ 9403775 w 12192000"/>
              <a:gd name="connsiteY46" fmla="*/ 1690403 h 3482342"/>
              <a:gd name="connsiteX47" fmla="*/ 9382503 w 12192000"/>
              <a:gd name="connsiteY47" fmla="*/ 1706957 h 3482342"/>
              <a:gd name="connsiteX48" fmla="*/ 9381410 w 12192000"/>
              <a:gd name="connsiteY48" fmla="*/ 1718312 h 3482342"/>
              <a:gd name="connsiteX49" fmla="*/ 9365685 w 12192000"/>
              <a:gd name="connsiteY49" fmla="*/ 1724772 h 3482342"/>
              <a:gd name="connsiteX50" fmla="*/ 9278020 w 12192000"/>
              <a:gd name="connsiteY50" fmla="*/ 1741161 h 3482342"/>
              <a:gd name="connsiteX51" fmla="*/ 9217145 w 12192000"/>
              <a:gd name="connsiteY51" fmla="*/ 1771195 h 3482342"/>
              <a:gd name="connsiteX52" fmla="*/ 8955875 w 12192000"/>
              <a:gd name="connsiteY52" fmla="*/ 1796806 h 3482342"/>
              <a:gd name="connsiteX53" fmla="*/ 8648415 w 12192000"/>
              <a:gd name="connsiteY53" fmla="*/ 1878623 h 3482342"/>
              <a:gd name="connsiteX54" fmla="*/ 8495949 w 12192000"/>
              <a:gd name="connsiteY54" fmla="*/ 1902425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41837 w 12192000"/>
              <a:gd name="connsiteY65" fmla="*/ 1840640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686657 w 12192000"/>
              <a:gd name="connsiteY71" fmla="*/ 1907344 h 3482342"/>
              <a:gd name="connsiteX72" fmla="*/ 6651330 w 12192000"/>
              <a:gd name="connsiteY72" fmla="*/ 1922921 h 3482342"/>
              <a:gd name="connsiteX73" fmla="*/ 6622958 w 12192000"/>
              <a:gd name="connsiteY73" fmla="*/ 1936255 h 3482342"/>
              <a:gd name="connsiteX74" fmla="*/ 6522602 w 12192000"/>
              <a:gd name="connsiteY74" fmla="*/ 1954133 h 3482342"/>
              <a:gd name="connsiteX75" fmla="*/ 6444344 w 12192000"/>
              <a:gd name="connsiteY75" fmla="*/ 1969663 h 3482342"/>
              <a:gd name="connsiteX76" fmla="*/ 6409626 w 12192000"/>
              <a:gd name="connsiteY76" fmla="*/ 1978846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87205 w 12192000"/>
              <a:gd name="connsiteY80" fmla="*/ 2060048 h 3482342"/>
              <a:gd name="connsiteX81" fmla="*/ 6138780 w 12192000"/>
              <a:gd name="connsiteY81" fmla="*/ 2081918 h 3482342"/>
              <a:gd name="connsiteX82" fmla="*/ 6120125 w 12192000"/>
              <a:gd name="connsiteY82" fmla="*/ 2109475 h 3482342"/>
              <a:gd name="connsiteX83" fmla="*/ 6056576 w 12192000"/>
              <a:gd name="connsiteY83" fmla="*/ 2120066 h 3482342"/>
              <a:gd name="connsiteX84" fmla="*/ 5993794 w 12192000"/>
              <a:gd name="connsiteY84" fmla="*/ 2122569 h 3482342"/>
              <a:gd name="connsiteX85" fmla="*/ 5943601 w 12192000"/>
              <a:gd name="connsiteY85" fmla="*/ 2137719 h 3482342"/>
              <a:gd name="connsiteX86" fmla="*/ 5898141 w 12192000"/>
              <a:gd name="connsiteY86" fmla="*/ 2144806 h 3482342"/>
              <a:gd name="connsiteX87" fmla="*/ 5855337 w 12192000"/>
              <a:gd name="connsiteY87" fmla="*/ 2137719 h 3482342"/>
              <a:gd name="connsiteX88" fmla="*/ 5817682 w 12192000"/>
              <a:gd name="connsiteY88" fmla="*/ 2157358 h 3482342"/>
              <a:gd name="connsiteX89" fmla="*/ 5735300 w 12192000"/>
              <a:gd name="connsiteY89" fmla="*/ 2158902 h 3482342"/>
              <a:gd name="connsiteX90" fmla="*/ 5591469 w 12192000"/>
              <a:gd name="connsiteY90" fmla="*/ 2178389 h 3482342"/>
              <a:gd name="connsiteX91" fmla="*/ 5505818 w 12192000"/>
              <a:gd name="connsiteY91" fmla="*/ 2194207 h 3482342"/>
              <a:gd name="connsiteX92" fmla="*/ 5452860 w 12192000"/>
              <a:gd name="connsiteY92" fmla="*/ 2180085 h 3482342"/>
              <a:gd name="connsiteX93" fmla="*/ 5414282 w 12192000"/>
              <a:gd name="connsiteY93" fmla="*/ 2183070 h 3482342"/>
              <a:gd name="connsiteX94" fmla="*/ 5368369 w 12192000"/>
              <a:gd name="connsiteY94" fmla="*/ 2204272 h 3482342"/>
              <a:gd name="connsiteX95" fmla="*/ 5336354 w 12192000"/>
              <a:gd name="connsiteY95" fmla="*/ 2218920 h 3482342"/>
              <a:gd name="connsiteX96" fmla="*/ 5291263 w 12192000"/>
              <a:gd name="connsiteY96" fmla="*/ 2239182 h 3482342"/>
              <a:gd name="connsiteX97" fmla="*/ 5255152 w 12192000"/>
              <a:gd name="connsiteY97" fmla="*/ 2247164 h 3482342"/>
              <a:gd name="connsiteX98" fmla="*/ 5233796 w 12192000"/>
              <a:gd name="connsiteY98" fmla="*/ 2268260 h 3482342"/>
              <a:gd name="connsiteX99" fmla="*/ 5212786 w 12192000"/>
              <a:gd name="connsiteY99" fmla="*/ 2296592 h 3482342"/>
              <a:gd name="connsiteX100" fmla="*/ 5173523 w 12192000"/>
              <a:gd name="connsiteY100" fmla="*/ 2309057 h 3482342"/>
              <a:gd name="connsiteX101" fmla="*/ 5123830 w 12192000"/>
              <a:gd name="connsiteY101" fmla="*/ 2307070 h 3482342"/>
              <a:gd name="connsiteX102" fmla="*/ 5065426 w 12192000"/>
              <a:gd name="connsiteY102" fmla="*/ 2324076 h 3482342"/>
              <a:gd name="connsiteX103" fmla="*/ 4975908 w 12192000"/>
              <a:gd name="connsiteY103" fmla="*/ 2364128 h 3482342"/>
              <a:gd name="connsiteX104" fmla="*/ 4913723 w 12192000"/>
              <a:gd name="connsiteY104" fmla="*/ 2385265 h 3482342"/>
              <a:gd name="connsiteX105" fmla="*/ 4746485 w 12192000"/>
              <a:gd name="connsiteY105" fmla="*/ 2451769 h 3482342"/>
              <a:gd name="connsiteX106" fmla="*/ 4681588 w 12192000"/>
              <a:gd name="connsiteY106" fmla="*/ 2467494 h 3482342"/>
              <a:gd name="connsiteX107" fmla="*/ 1783655 w 12192000"/>
              <a:gd name="connsiteY107" fmla="*/ 3163860 h 3482342"/>
              <a:gd name="connsiteX108" fmla="*/ 1325955 w 12192000"/>
              <a:gd name="connsiteY108" fmla="*/ 3176692 h 3482342"/>
              <a:gd name="connsiteX109" fmla="*/ 1190384 w 12192000"/>
              <a:gd name="connsiteY109" fmla="*/ 3203504 h 3482342"/>
              <a:gd name="connsiteX110" fmla="*/ 1094537 w 12192000"/>
              <a:gd name="connsiteY110" fmla="*/ 3229469 h 3482342"/>
              <a:gd name="connsiteX111" fmla="*/ 779276 w 12192000"/>
              <a:gd name="connsiteY111" fmla="*/ 3327290 h 3482342"/>
              <a:gd name="connsiteX112" fmla="*/ 600378 w 12192000"/>
              <a:gd name="connsiteY112" fmla="*/ 3335250 h 3482342"/>
              <a:gd name="connsiteX113" fmla="*/ 493457 w 12192000"/>
              <a:gd name="connsiteY113" fmla="*/ 3365044 h 3482342"/>
              <a:gd name="connsiteX114" fmla="*/ 349402 w 12192000"/>
              <a:gd name="connsiteY114" fmla="*/ 3380897 h 3482342"/>
              <a:gd name="connsiteX115" fmla="*/ 192183 w 12192000"/>
              <a:gd name="connsiteY115" fmla="*/ 3460075 h 3482342"/>
              <a:gd name="connsiteX116" fmla="*/ 46713 w 12192000"/>
              <a:gd name="connsiteY116" fmla="*/ 3462986 h 3482342"/>
              <a:gd name="connsiteX117" fmla="*/ 2765 w 12192000"/>
              <a:gd name="connsiteY117" fmla="*/ 3480770 h 3482342"/>
              <a:gd name="connsiteX118" fmla="*/ 0 w 12192000"/>
              <a:gd name="connsiteY118" fmla="*/ 3482342 h 3482342"/>
              <a:gd name="connsiteX119" fmla="*/ 0 w 12192000"/>
              <a:gd name="connsiteY11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6987 w 12192000"/>
              <a:gd name="connsiteY18" fmla="*/ 1000897 h 3482342"/>
              <a:gd name="connsiteX19" fmla="*/ 11193568 w 12192000"/>
              <a:gd name="connsiteY19" fmla="*/ 1039464 h 3482342"/>
              <a:gd name="connsiteX20" fmla="*/ 11175804 w 12192000"/>
              <a:gd name="connsiteY20" fmla="*/ 1067977 h 3482342"/>
              <a:gd name="connsiteX21" fmla="*/ 11120819 w 12192000"/>
              <a:gd name="connsiteY21" fmla="*/ 1126133 h 3482342"/>
              <a:gd name="connsiteX22" fmla="*/ 11028687 w 12192000"/>
              <a:gd name="connsiteY22" fmla="*/ 1199018 h 3482342"/>
              <a:gd name="connsiteX23" fmla="*/ 10960443 w 12192000"/>
              <a:gd name="connsiteY23" fmla="*/ 1244502 h 3482342"/>
              <a:gd name="connsiteX24" fmla="*/ 10850998 w 12192000"/>
              <a:gd name="connsiteY24" fmla="*/ 1269215 h 3482342"/>
              <a:gd name="connsiteX25" fmla="*/ 10815658 w 12192000"/>
              <a:gd name="connsiteY25" fmla="*/ 1287849 h 3482342"/>
              <a:gd name="connsiteX26" fmla="*/ 10679906 w 12192000"/>
              <a:gd name="connsiteY26" fmla="*/ 1324988 h 3482342"/>
              <a:gd name="connsiteX27" fmla="*/ 10636304 w 12192000"/>
              <a:gd name="connsiteY27" fmla="*/ 1317928 h 3482342"/>
              <a:gd name="connsiteX28" fmla="*/ 10603863 w 12192000"/>
              <a:gd name="connsiteY28" fmla="*/ 1346886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314361 w 12192000"/>
              <a:gd name="connsiteY34" fmla="*/ 1466924 h 3482342"/>
              <a:gd name="connsiteX35" fmla="*/ 10264922 w 12192000"/>
              <a:gd name="connsiteY35" fmla="*/ 1472107 h 3482342"/>
              <a:gd name="connsiteX36" fmla="*/ 10201385 w 12192000"/>
              <a:gd name="connsiteY36" fmla="*/ 1477515 h 3482342"/>
              <a:gd name="connsiteX37" fmla="*/ 10120184 w 12192000"/>
              <a:gd name="connsiteY37" fmla="*/ 1466924 h 3482342"/>
              <a:gd name="connsiteX38" fmla="*/ 10058690 w 12192000"/>
              <a:gd name="connsiteY38" fmla="*/ 1474888 h 3482342"/>
              <a:gd name="connsiteX39" fmla="*/ 10004424 w 12192000"/>
              <a:gd name="connsiteY39" fmla="*/ 1489801 h 3482342"/>
              <a:gd name="connsiteX40" fmla="*/ 9999951 w 12192000"/>
              <a:gd name="connsiteY40" fmla="*/ 1499127 h 3482342"/>
              <a:gd name="connsiteX41" fmla="*/ 9845462 w 12192000"/>
              <a:gd name="connsiteY41" fmla="*/ 1548192 h 3482342"/>
              <a:gd name="connsiteX42" fmla="*/ 9736156 w 12192000"/>
              <a:gd name="connsiteY42" fmla="*/ 1581928 h 3482342"/>
              <a:gd name="connsiteX43" fmla="*/ 9693355 w 12192000"/>
              <a:gd name="connsiteY43" fmla="*/ 1602632 h 3482342"/>
              <a:gd name="connsiteX44" fmla="*/ 9664242 w 12192000"/>
              <a:gd name="connsiteY44" fmla="*/ 1622075 h 3482342"/>
              <a:gd name="connsiteX45" fmla="*/ 9579195 w 12192000"/>
              <a:gd name="connsiteY45" fmla="*/ 1648017 h 3482342"/>
              <a:gd name="connsiteX46" fmla="*/ 9433652 w 12192000"/>
              <a:gd name="connsiteY46" fmla="*/ 1681174 h 3482342"/>
              <a:gd name="connsiteX47" fmla="*/ 9403775 w 12192000"/>
              <a:gd name="connsiteY47" fmla="*/ 1690403 h 3482342"/>
              <a:gd name="connsiteX48" fmla="*/ 9382503 w 12192000"/>
              <a:gd name="connsiteY48" fmla="*/ 1706957 h 3482342"/>
              <a:gd name="connsiteX49" fmla="*/ 9381410 w 12192000"/>
              <a:gd name="connsiteY49" fmla="*/ 1718312 h 3482342"/>
              <a:gd name="connsiteX50" fmla="*/ 9365685 w 12192000"/>
              <a:gd name="connsiteY50" fmla="*/ 1724772 h 3482342"/>
              <a:gd name="connsiteX51" fmla="*/ 9278020 w 12192000"/>
              <a:gd name="connsiteY51" fmla="*/ 1741161 h 3482342"/>
              <a:gd name="connsiteX52" fmla="*/ 9217145 w 12192000"/>
              <a:gd name="connsiteY52" fmla="*/ 1771195 h 3482342"/>
              <a:gd name="connsiteX53" fmla="*/ 8955875 w 12192000"/>
              <a:gd name="connsiteY53" fmla="*/ 1796806 h 3482342"/>
              <a:gd name="connsiteX54" fmla="*/ 8648415 w 12192000"/>
              <a:gd name="connsiteY54" fmla="*/ 1878623 h 3482342"/>
              <a:gd name="connsiteX55" fmla="*/ 8495949 w 12192000"/>
              <a:gd name="connsiteY55" fmla="*/ 1902425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41837 w 12192000"/>
              <a:gd name="connsiteY66" fmla="*/ 1840640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686657 w 12192000"/>
              <a:gd name="connsiteY72" fmla="*/ 1907344 h 3482342"/>
              <a:gd name="connsiteX73" fmla="*/ 6651330 w 12192000"/>
              <a:gd name="connsiteY73" fmla="*/ 1922921 h 3482342"/>
              <a:gd name="connsiteX74" fmla="*/ 6622958 w 12192000"/>
              <a:gd name="connsiteY74" fmla="*/ 1936255 h 3482342"/>
              <a:gd name="connsiteX75" fmla="*/ 6522602 w 12192000"/>
              <a:gd name="connsiteY75" fmla="*/ 1954133 h 3482342"/>
              <a:gd name="connsiteX76" fmla="*/ 6444344 w 12192000"/>
              <a:gd name="connsiteY76" fmla="*/ 1969663 h 3482342"/>
              <a:gd name="connsiteX77" fmla="*/ 6409626 w 12192000"/>
              <a:gd name="connsiteY77" fmla="*/ 1978846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87205 w 12192000"/>
              <a:gd name="connsiteY81" fmla="*/ 2060048 h 3482342"/>
              <a:gd name="connsiteX82" fmla="*/ 6138780 w 12192000"/>
              <a:gd name="connsiteY82" fmla="*/ 2081918 h 3482342"/>
              <a:gd name="connsiteX83" fmla="*/ 6120125 w 12192000"/>
              <a:gd name="connsiteY83" fmla="*/ 2109475 h 3482342"/>
              <a:gd name="connsiteX84" fmla="*/ 6056576 w 12192000"/>
              <a:gd name="connsiteY84" fmla="*/ 2120066 h 3482342"/>
              <a:gd name="connsiteX85" fmla="*/ 5993794 w 12192000"/>
              <a:gd name="connsiteY85" fmla="*/ 2122569 h 3482342"/>
              <a:gd name="connsiteX86" fmla="*/ 5943601 w 12192000"/>
              <a:gd name="connsiteY86" fmla="*/ 2137719 h 3482342"/>
              <a:gd name="connsiteX87" fmla="*/ 5898141 w 12192000"/>
              <a:gd name="connsiteY87" fmla="*/ 2144806 h 3482342"/>
              <a:gd name="connsiteX88" fmla="*/ 5855337 w 12192000"/>
              <a:gd name="connsiteY88" fmla="*/ 2137719 h 3482342"/>
              <a:gd name="connsiteX89" fmla="*/ 5817682 w 12192000"/>
              <a:gd name="connsiteY89" fmla="*/ 2157358 h 3482342"/>
              <a:gd name="connsiteX90" fmla="*/ 5735300 w 12192000"/>
              <a:gd name="connsiteY90" fmla="*/ 2158902 h 3482342"/>
              <a:gd name="connsiteX91" fmla="*/ 5591469 w 12192000"/>
              <a:gd name="connsiteY91" fmla="*/ 2178389 h 3482342"/>
              <a:gd name="connsiteX92" fmla="*/ 5505818 w 12192000"/>
              <a:gd name="connsiteY92" fmla="*/ 2194207 h 3482342"/>
              <a:gd name="connsiteX93" fmla="*/ 5452860 w 12192000"/>
              <a:gd name="connsiteY93" fmla="*/ 2180085 h 3482342"/>
              <a:gd name="connsiteX94" fmla="*/ 5414282 w 12192000"/>
              <a:gd name="connsiteY94" fmla="*/ 2183070 h 3482342"/>
              <a:gd name="connsiteX95" fmla="*/ 5368369 w 12192000"/>
              <a:gd name="connsiteY95" fmla="*/ 2204272 h 3482342"/>
              <a:gd name="connsiteX96" fmla="*/ 5336354 w 12192000"/>
              <a:gd name="connsiteY96" fmla="*/ 2218920 h 3482342"/>
              <a:gd name="connsiteX97" fmla="*/ 5291263 w 12192000"/>
              <a:gd name="connsiteY97" fmla="*/ 2239182 h 3482342"/>
              <a:gd name="connsiteX98" fmla="*/ 5255152 w 12192000"/>
              <a:gd name="connsiteY98" fmla="*/ 2247164 h 3482342"/>
              <a:gd name="connsiteX99" fmla="*/ 5233796 w 12192000"/>
              <a:gd name="connsiteY99" fmla="*/ 2268260 h 3482342"/>
              <a:gd name="connsiteX100" fmla="*/ 5212786 w 12192000"/>
              <a:gd name="connsiteY100" fmla="*/ 2296592 h 3482342"/>
              <a:gd name="connsiteX101" fmla="*/ 5173523 w 12192000"/>
              <a:gd name="connsiteY101" fmla="*/ 2309057 h 3482342"/>
              <a:gd name="connsiteX102" fmla="*/ 5123830 w 12192000"/>
              <a:gd name="connsiteY102" fmla="*/ 2307070 h 3482342"/>
              <a:gd name="connsiteX103" fmla="*/ 5065426 w 12192000"/>
              <a:gd name="connsiteY103" fmla="*/ 2324076 h 3482342"/>
              <a:gd name="connsiteX104" fmla="*/ 4975908 w 12192000"/>
              <a:gd name="connsiteY104" fmla="*/ 2364128 h 3482342"/>
              <a:gd name="connsiteX105" fmla="*/ 4913723 w 12192000"/>
              <a:gd name="connsiteY105" fmla="*/ 2385265 h 3482342"/>
              <a:gd name="connsiteX106" fmla="*/ 4746485 w 12192000"/>
              <a:gd name="connsiteY106" fmla="*/ 2451769 h 3482342"/>
              <a:gd name="connsiteX107" fmla="*/ 4681588 w 12192000"/>
              <a:gd name="connsiteY107" fmla="*/ 2467494 h 3482342"/>
              <a:gd name="connsiteX108" fmla="*/ 1783655 w 12192000"/>
              <a:gd name="connsiteY108" fmla="*/ 3163860 h 3482342"/>
              <a:gd name="connsiteX109" fmla="*/ 1325955 w 12192000"/>
              <a:gd name="connsiteY109" fmla="*/ 3176692 h 3482342"/>
              <a:gd name="connsiteX110" fmla="*/ 1190384 w 12192000"/>
              <a:gd name="connsiteY110" fmla="*/ 3203504 h 3482342"/>
              <a:gd name="connsiteX111" fmla="*/ 1094537 w 12192000"/>
              <a:gd name="connsiteY111" fmla="*/ 3229469 h 3482342"/>
              <a:gd name="connsiteX112" fmla="*/ 779276 w 12192000"/>
              <a:gd name="connsiteY112" fmla="*/ 3327290 h 3482342"/>
              <a:gd name="connsiteX113" fmla="*/ 600378 w 12192000"/>
              <a:gd name="connsiteY113" fmla="*/ 3335250 h 3482342"/>
              <a:gd name="connsiteX114" fmla="*/ 493457 w 12192000"/>
              <a:gd name="connsiteY114" fmla="*/ 3365044 h 3482342"/>
              <a:gd name="connsiteX115" fmla="*/ 349402 w 12192000"/>
              <a:gd name="connsiteY115" fmla="*/ 3380897 h 3482342"/>
              <a:gd name="connsiteX116" fmla="*/ 192183 w 12192000"/>
              <a:gd name="connsiteY116" fmla="*/ 3460075 h 3482342"/>
              <a:gd name="connsiteX117" fmla="*/ 46713 w 12192000"/>
              <a:gd name="connsiteY117" fmla="*/ 3462986 h 3482342"/>
              <a:gd name="connsiteX118" fmla="*/ 2765 w 12192000"/>
              <a:gd name="connsiteY118" fmla="*/ 3480770 h 3482342"/>
              <a:gd name="connsiteX119" fmla="*/ 0 w 12192000"/>
              <a:gd name="connsiteY119" fmla="*/ 3482342 h 3482342"/>
              <a:gd name="connsiteX120" fmla="*/ 0 w 12192000"/>
              <a:gd name="connsiteY12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24988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9834 w 12192000"/>
              <a:gd name="connsiteY30" fmla="*/ 1324989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723900 w 12192000"/>
              <a:gd name="connsiteY29" fmla="*/ 1318642 h 3482342"/>
              <a:gd name="connsiteX30" fmla="*/ 10679906 w 12192000"/>
              <a:gd name="connsiteY30" fmla="*/ 1332049 h 3482342"/>
              <a:gd name="connsiteX31" fmla="*/ 10639834 w 12192000"/>
              <a:gd name="connsiteY31" fmla="*/ 1324989 h 3482342"/>
              <a:gd name="connsiteX32" fmla="*/ 10603863 w 12192000"/>
              <a:gd name="connsiteY32" fmla="*/ 1346886 h 3482342"/>
              <a:gd name="connsiteX33" fmla="*/ 10573203 w 12192000"/>
              <a:gd name="connsiteY33" fmla="*/ 1351996 h 3482342"/>
              <a:gd name="connsiteX34" fmla="*/ 10513263 w 12192000"/>
              <a:gd name="connsiteY34" fmla="*/ 1350756 h 3482342"/>
              <a:gd name="connsiteX35" fmla="*/ 10464012 w 12192000"/>
              <a:gd name="connsiteY35" fmla="*/ 1391778 h 3482342"/>
              <a:gd name="connsiteX36" fmla="*/ 10405409 w 12192000"/>
              <a:gd name="connsiteY36" fmla="*/ 1422789 h 3482342"/>
              <a:gd name="connsiteX37" fmla="*/ 10370530 w 12192000"/>
              <a:gd name="connsiteY37" fmla="*/ 1441596 h 3482342"/>
              <a:gd name="connsiteX38" fmla="*/ 10314361 w 12192000"/>
              <a:gd name="connsiteY38" fmla="*/ 1466924 h 3482342"/>
              <a:gd name="connsiteX39" fmla="*/ 10264922 w 12192000"/>
              <a:gd name="connsiteY39" fmla="*/ 1472107 h 3482342"/>
              <a:gd name="connsiteX40" fmla="*/ 10201385 w 12192000"/>
              <a:gd name="connsiteY40" fmla="*/ 1477515 h 3482342"/>
              <a:gd name="connsiteX41" fmla="*/ 10120184 w 12192000"/>
              <a:gd name="connsiteY41" fmla="*/ 1466924 h 3482342"/>
              <a:gd name="connsiteX42" fmla="*/ 10058690 w 12192000"/>
              <a:gd name="connsiteY42" fmla="*/ 1474888 h 3482342"/>
              <a:gd name="connsiteX43" fmla="*/ 10004424 w 12192000"/>
              <a:gd name="connsiteY43" fmla="*/ 1489801 h 3482342"/>
              <a:gd name="connsiteX44" fmla="*/ 9999951 w 12192000"/>
              <a:gd name="connsiteY44" fmla="*/ 1499127 h 3482342"/>
              <a:gd name="connsiteX45" fmla="*/ 9845462 w 12192000"/>
              <a:gd name="connsiteY45" fmla="*/ 1548192 h 3482342"/>
              <a:gd name="connsiteX46" fmla="*/ 9736156 w 12192000"/>
              <a:gd name="connsiteY46" fmla="*/ 1581928 h 3482342"/>
              <a:gd name="connsiteX47" fmla="*/ 9693355 w 12192000"/>
              <a:gd name="connsiteY47" fmla="*/ 1602632 h 3482342"/>
              <a:gd name="connsiteX48" fmla="*/ 9664242 w 12192000"/>
              <a:gd name="connsiteY48" fmla="*/ 1622075 h 3482342"/>
              <a:gd name="connsiteX49" fmla="*/ 9579195 w 12192000"/>
              <a:gd name="connsiteY49" fmla="*/ 1648017 h 3482342"/>
              <a:gd name="connsiteX50" fmla="*/ 9433652 w 12192000"/>
              <a:gd name="connsiteY50" fmla="*/ 1681174 h 3482342"/>
              <a:gd name="connsiteX51" fmla="*/ 9403775 w 12192000"/>
              <a:gd name="connsiteY51" fmla="*/ 1690403 h 3482342"/>
              <a:gd name="connsiteX52" fmla="*/ 9382503 w 12192000"/>
              <a:gd name="connsiteY52" fmla="*/ 1706957 h 3482342"/>
              <a:gd name="connsiteX53" fmla="*/ 9381410 w 12192000"/>
              <a:gd name="connsiteY53" fmla="*/ 1718312 h 3482342"/>
              <a:gd name="connsiteX54" fmla="*/ 9365685 w 12192000"/>
              <a:gd name="connsiteY54" fmla="*/ 1724772 h 3482342"/>
              <a:gd name="connsiteX55" fmla="*/ 9278020 w 12192000"/>
              <a:gd name="connsiteY55" fmla="*/ 1741161 h 3482342"/>
              <a:gd name="connsiteX56" fmla="*/ 9217145 w 12192000"/>
              <a:gd name="connsiteY56" fmla="*/ 1771195 h 3482342"/>
              <a:gd name="connsiteX57" fmla="*/ 8955875 w 12192000"/>
              <a:gd name="connsiteY57" fmla="*/ 1796806 h 3482342"/>
              <a:gd name="connsiteX58" fmla="*/ 8648415 w 12192000"/>
              <a:gd name="connsiteY58" fmla="*/ 1878623 h 3482342"/>
              <a:gd name="connsiteX59" fmla="*/ 8495949 w 12192000"/>
              <a:gd name="connsiteY59" fmla="*/ 1902425 h 3482342"/>
              <a:gd name="connsiteX60" fmla="*/ 8236214 w 12192000"/>
              <a:gd name="connsiteY60" fmla="*/ 190972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41837 w 12192000"/>
              <a:gd name="connsiteY70" fmla="*/ 1840640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686657 w 12192000"/>
              <a:gd name="connsiteY76" fmla="*/ 1907344 h 3482342"/>
              <a:gd name="connsiteX77" fmla="*/ 6651330 w 12192000"/>
              <a:gd name="connsiteY77" fmla="*/ 1922921 h 3482342"/>
              <a:gd name="connsiteX78" fmla="*/ 6622958 w 12192000"/>
              <a:gd name="connsiteY78" fmla="*/ 1936255 h 3482342"/>
              <a:gd name="connsiteX79" fmla="*/ 6522602 w 12192000"/>
              <a:gd name="connsiteY79" fmla="*/ 1954133 h 3482342"/>
              <a:gd name="connsiteX80" fmla="*/ 6444344 w 12192000"/>
              <a:gd name="connsiteY80" fmla="*/ 1969663 h 3482342"/>
              <a:gd name="connsiteX81" fmla="*/ 6409626 w 12192000"/>
              <a:gd name="connsiteY81" fmla="*/ 1978846 h 3482342"/>
              <a:gd name="connsiteX82" fmla="*/ 6333446 w 12192000"/>
              <a:gd name="connsiteY82" fmla="*/ 1997163 h 3482342"/>
              <a:gd name="connsiteX83" fmla="*/ 6294933 w 12192000"/>
              <a:gd name="connsiteY83" fmla="*/ 2019412 h 3482342"/>
              <a:gd name="connsiteX84" fmla="*/ 6238719 w 12192000"/>
              <a:gd name="connsiteY84" fmla="*/ 2042547 h 3482342"/>
              <a:gd name="connsiteX85" fmla="*/ 6187205 w 12192000"/>
              <a:gd name="connsiteY85" fmla="*/ 2060048 h 3482342"/>
              <a:gd name="connsiteX86" fmla="*/ 6138780 w 12192000"/>
              <a:gd name="connsiteY86" fmla="*/ 2081918 h 3482342"/>
              <a:gd name="connsiteX87" fmla="*/ 6120125 w 12192000"/>
              <a:gd name="connsiteY87" fmla="*/ 2109475 h 3482342"/>
              <a:gd name="connsiteX88" fmla="*/ 6056576 w 12192000"/>
              <a:gd name="connsiteY88" fmla="*/ 2120066 h 3482342"/>
              <a:gd name="connsiteX89" fmla="*/ 5993794 w 12192000"/>
              <a:gd name="connsiteY89" fmla="*/ 2122569 h 3482342"/>
              <a:gd name="connsiteX90" fmla="*/ 5943601 w 12192000"/>
              <a:gd name="connsiteY90" fmla="*/ 2137719 h 3482342"/>
              <a:gd name="connsiteX91" fmla="*/ 5898141 w 12192000"/>
              <a:gd name="connsiteY91" fmla="*/ 2144806 h 3482342"/>
              <a:gd name="connsiteX92" fmla="*/ 5855337 w 12192000"/>
              <a:gd name="connsiteY92" fmla="*/ 2137719 h 3482342"/>
              <a:gd name="connsiteX93" fmla="*/ 5817682 w 12192000"/>
              <a:gd name="connsiteY93" fmla="*/ 2157358 h 3482342"/>
              <a:gd name="connsiteX94" fmla="*/ 5735300 w 12192000"/>
              <a:gd name="connsiteY94" fmla="*/ 2158902 h 3482342"/>
              <a:gd name="connsiteX95" fmla="*/ 5591469 w 12192000"/>
              <a:gd name="connsiteY95" fmla="*/ 2178389 h 3482342"/>
              <a:gd name="connsiteX96" fmla="*/ 5505818 w 12192000"/>
              <a:gd name="connsiteY96" fmla="*/ 2194207 h 3482342"/>
              <a:gd name="connsiteX97" fmla="*/ 5452860 w 12192000"/>
              <a:gd name="connsiteY97" fmla="*/ 2180085 h 3482342"/>
              <a:gd name="connsiteX98" fmla="*/ 5414282 w 12192000"/>
              <a:gd name="connsiteY98" fmla="*/ 2183070 h 3482342"/>
              <a:gd name="connsiteX99" fmla="*/ 5368369 w 12192000"/>
              <a:gd name="connsiteY99" fmla="*/ 2204272 h 3482342"/>
              <a:gd name="connsiteX100" fmla="*/ 5336354 w 12192000"/>
              <a:gd name="connsiteY100" fmla="*/ 2218920 h 3482342"/>
              <a:gd name="connsiteX101" fmla="*/ 5291263 w 12192000"/>
              <a:gd name="connsiteY101" fmla="*/ 2239182 h 3482342"/>
              <a:gd name="connsiteX102" fmla="*/ 5255152 w 12192000"/>
              <a:gd name="connsiteY102" fmla="*/ 2247164 h 3482342"/>
              <a:gd name="connsiteX103" fmla="*/ 5233796 w 12192000"/>
              <a:gd name="connsiteY103" fmla="*/ 2268260 h 3482342"/>
              <a:gd name="connsiteX104" fmla="*/ 5212786 w 12192000"/>
              <a:gd name="connsiteY104" fmla="*/ 2296592 h 3482342"/>
              <a:gd name="connsiteX105" fmla="*/ 5173523 w 12192000"/>
              <a:gd name="connsiteY105" fmla="*/ 2309057 h 3482342"/>
              <a:gd name="connsiteX106" fmla="*/ 5123830 w 12192000"/>
              <a:gd name="connsiteY106" fmla="*/ 2307070 h 3482342"/>
              <a:gd name="connsiteX107" fmla="*/ 5065426 w 12192000"/>
              <a:gd name="connsiteY107" fmla="*/ 2324076 h 3482342"/>
              <a:gd name="connsiteX108" fmla="*/ 4975908 w 12192000"/>
              <a:gd name="connsiteY108" fmla="*/ 2364128 h 3482342"/>
              <a:gd name="connsiteX109" fmla="*/ 4913723 w 12192000"/>
              <a:gd name="connsiteY109" fmla="*/ 2385265 h 3482342"/>
              <a:gd name="connsiteX110" fmla="*/ 4746485 w 12192000"/>
              <a:gd name="connsiteY110" fmla="*/ 2451769 h 3482342"/>
              <a:gd name="connsiteX111" fmla="*/ 4681588 w 12192000"/>
              <a:gd name="connsiteY111" fmla="*/ 2467494 h 3482342"/>
              <a:gd name="connsiteX112" fmla="*/ 1783655 w 12192000"/>
              <a:gd name="connsiteY112" fmla="*/ 3163860 h 3482342"/>
              <a:gd name="connsiteX113" fmla="*/ 1325955 w 12192000"/>
              <a:gd name="connsiteY113" fmla="*/ 3176692 h 3482342"/>
              <a:gd name="connsiteX114" fmla="*/ 1190384 w 12192000"/>
              <a:gd name="connsiteY114" fmla="*/ 3203504 h 3482342"/>
              <a:gd name="connsiteX115" fmla="*/ 1094537 w 12192000"/>
              <a:gd name="connsiteY115" fmla="*/ 3229469 h 3482342"/>
              <a:gd name="connsiteX116" fmla="*/ 779276 w 12192000"/>
              <a:gd name="connsiteY116" fmla="*/ 3327290 h 3482342"/>
              <a:gd name="connsiteX117" fmla="*/ 600378 w 12192000"/>
              <a:gd name="connsiteY117" fmla="*/ 3335250 h 3482342"/>
              <a:gd name="connsiteX118" fmla="*/ 493457 w 12192000"/>
              <a:gd name="connsiteY118" fmla="*/ 3365044 h 3482342"/>
              <a:gd name="connsiteX119" fmla="*/ 349402 w 12192000"/>
              <a:gd name="connsiteY119" fmla="*/ 3380897 h 3482342"/>
              <a:gd name="connsiteX120" fmla="*/ 192183 w 12192000"/>
              <a:gd name="connsiteY120" fmla="*/ 3460075 h 3482342"/>
              <a:gd name="connsiteX121" fmla="*/ 46713 w 12192000"/>
              <a:gd name="connsiteY121" fmla="*/ 3462986 h 3482342"/>
              <a:gd name="connsiteX122" fmla="*/ 2765 w 12192000"/>
              <a:gd name="connsiteY122" fmla="*/ 3480770 h 3482342"/>
              <a:gd name="connsiteX123" fmla="*/ 0 w 12192000"/>
              <a:gd name="connsiteY123" fmla="*/ 3482342 h 3482342"/>
              <a:gd name="connsiteX124" fmla="*/ 0 w 12192000"/>
              <a:gd name="connsiteY12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79242 w 12192000"/>
              <a:gd name="connsiteY27" fmla="*/ 1269215 h 3482342"/>
              <a:gd name="connsiteX28" fmla="*/ 10850998 w 12192000"/>
              <a:gd name="connsiteY28" fmla="*/ 1269215 h 3482342"/>
              <a:gd name="connsiteX29" fmla="*/ 10815658 w 12192000"/>
              <a:gd name="connsiteY29" fmla="*/ 1287849 h 3482342"/>
              <a:gd name="connsiteX30" fmla="*/ 10723900 w 12192000"/>
              <a:gd name="connsiteY30" fmla="*/ 1318642 h 3482342"/>
              <a:gd name="connsiteX31" fmla="*/ 10679906 w 12192000"/>
              <a:gd name="connsiteY31" fmla="*/ 1332049 h 3482342"/>
              <a:gd name="connsiteX32" fmla="*/ 10639834 w 12192000"/>
              <a:gd name="connsiteY32" fmla="*/ 1324989 h 3482342"/>
              <a:gd name="connsiteX33" fmla="*/ 10603863 w 12192000"/>
              <a:gd name="connsiteY33" fmla="*/ 1346886 h 3482342"/>
              <a:gd name="connsiteX34" fmla="*/ 10573203 w 12192000"/>
              <a:gd name="connsiteY34" fmla="*/ 1351996 h 3482342"/>
              <a:gd name="connsiteX35" fmla="*/ 10513263 w 12192000"/>
              <a:gd name="connsiteY35" fmla="*/ 1350756 h 3482342"/>
              <a:gd name="connsiteX36" fmla="*/ 10464012 w 12192000"/>
              <a:gd name="connsiteY36" fmla="*/ 1391778 h 3482342"/>
              <a:gd name="connsiteX37" fmla="*/ 10405409 w 12192000"/>
              <a:gd name="connsiteY37" fmla="*/ 1422789 h 3482342"/>
              <a:gd name="connsiteX38" fmla="*/ 10370530 w 12192000"/>
              <a:gd name="connsiteY38" fmla="*/ 1441596 h 3482342"/>
              <a:gd name="connsiteX39" fmla="*/ 10314361 w 12192000"/>
              <a:gd name="connsiteY39" fmla="*/ 1466924 h 3482342"/>
              <a:gd name="connsiteX40" fmla="*/ 10264922 w 12192000"/>
              <a:gd name="connsiteY40" fmla="*/ 1472107 h 3482342"/>
              <a:gd name="connsiteX41" fmla="*/ 10201385 w 12192000"/>
              <a:gd name="connsiteY41" fmla="*/ 1477515 h 3482342"/>
              <a:gd name="connsiteX42" fmla="*/ 10120184 w 12192000"/>
              <a:gd name="connsiteY42" fmla="*/ 1466924 h 3482342"/>
              <a:gd name="connsiteX43" fmla="*/ 10058690 w 12192000"/>
              <a:gd name="connsiteY43" fmla="*/ 1474888 h 3482342"/>
              <a:gd name="connsiteX44" fmla="*/ 10004424 w 12192000"/>
              <a:gd name="connsiteY44" fmla="*/ 1489801 h 3482342"/>
              <a:gd name="connsiteX45" fmla="*/ 9999951 w 12192000"/>
              <a:gd name="connsiteY45" fmla="*/ 1499127 h 3482342"/>
              <a:gd name="connsiteX46" fmla="*/ 9845462 w 12192000"/>
              <a:gd name="connsiteY46" fmla="*/ 1548192 h 3482342"/>
              <a:gd name="connsiteX47" fmla="*/ 9736156 w 12192000"/>
              <a:gd name="connsiteY47" fmla="*/ 1581928 h 3482342"/>
              <a:gd name="connsiteX48" fmla="*/ 9693355 w 12192000"/>
              <a:gd name="connsiteY48" fmla="*/ 1602632 h 3482342"/>
              <a:gd name="connsiteX49" fmla="*/ 9664242 w 12192000"/>
              <a:gd name="connsiteY49" fmla="*/ 1622075 h 3482342"/>
              <a:gd name="connsiteX50" fmla="*/ 9579195 w 12192000"/>
              <a:gd name="connsiteY50" fmla="*/ 1648017 h 3482342"/>
              <a:gd name="connsiteX51" fmla="*/ 9433652 w 12192000"/>
              <a:gd name="connsiteY51" fmla="*/ 1681174 h 3482342"/>
              <a:gd name="connsiteX52" fmla="*/ 9403775 w 12192000"/>
              <a:gd name="connsiteY52" fmla="*/ 1690403 h 3482342"/>
              <a:gd name="connsiteX53" fmla="*/ 9382503 w 12192000"/>
              <a:gd name="connsiteY53" fmla="*/ 1706957 h 3482342"/>
              <a:gd name="connsiteX54" fmla="*/ 9381410 w 12192000"/>
              <a:gd name="connsiteY54" fmla="*/ 1718312 h 3482342"/>
              <a:gd name="connsiteX55" fmla="*/ 9365685 w 12192000"/>
              <a:gd name="connsiteY55" fmla="*/ 1724772 h 3482342"/>
              <a:gd name="connsiteX56" fmla="*/ 9278020 w 12192000"/>
              <a:gd name="connsiteY56" fmla="*/ 1741161 h 3482342"/>
              <a:gd name="connsiteX57" fmla="*/ 9217145 w 12192000"/>
              <a:gd name="connsiteY57" fmla="*/ 1771195 h 3482342"/>
              <a:gd name="connsiteX58" fmla="*/ 8955875 w 12192000"/>
              <a:gd name="connsiteY58" fmla="*/ 1796806 h 3482342"/>
              <a:gd name="connsiteX59" fmla="*/ 8648415 w 12192000"/>
              <a:gd name="connsiteY59" fmla="*/ 1878623 h 3482342"/>
              <a:gd name="connsiteX60" fmla="*/ 8495949 w 12192000"/>
              <a:gd name="connsiteY60" fmla="*/ 1902425 h 3482342"/>
              <a:gd name="connsiteX61" fmla="*/ 8236214 w 12192000"/>
              <a:gd name="connsiteY61" fmla="*/ 190972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41837 w 12192000"/>
              <a:gd name="connsiteY71" fmla="*/ 1840640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686657 w 12192000"/>
              <a:gd name="connsiteY77" fmla="*/ 1907344 h 3482342"/>
              <a:gd name="connsiteX78" fmla="*/ 6651330 w 12192000"/>
              <a:gd name="connsiteY78" fmla="*/ 1922921 h 3482342"/>
              <a:gd name="connsiteX79" fmla="*/ 6622958 w 12192000"/>
              <a:gd name="connsiteY79" fmla="*/ 1936255 h 3482342"/>
              <a:gd name="connsiteX80" fmla="*/ 6522602 w 12192000"/>
              <a:gd name="connsiteY80" fmla="*/ 1954133 h 3482342"/>
              <a:gd name="connsiteX81" fmla="*/ 6444344 w 12192000"/>
              <a:gd name="connsiteY81" fmla="*/ 1969663 h 3482342"/>
              <a:gd name="connsiteX82" fmla="*/ 6409626 w 12192000"/>
              <a:gd name="connsiteY82" fmla="*/ 1978846 h 3482342"/>
              <a:gd name="connsiteX83" fmla="*/ 6333446 w 12192000"/>
              <a:gd name="connsiteY83" fmla="*/ 1997163 h 3482342"/>
              <a:gd name="connsiteX84" fmla="*/ 6294933 w 12192000"/>
              <a:gd name="connsiteY84" fmla="*/ 2019412 h 3482342"/>
              <a:gd name="connsiteX85" fmla="*/ 6238719 w 12192000"/>
              <a:gd name="connsiteY85" fmla="*/ 2042547 h 3482342"/>
              <a:gd name="connsiteX86" fmla="*/ 6187205 w 12192000"/>
              <a:gd name="connsiteY86" fmla="*/ 2060048 h 3482342"/>
              <a:gd name="connsiteX87" fmla="*/ 6138780 w 12192000"/>
              <a:gd name="connsiteY87" fmla="*/ 2081918 h 3482342"/>
              <a:gd name="connsiteX88" fmla="*/ 6120125 w 12192000"/>
              <a:gd name="connsiteY88" fmla="*/ 2109475 h 3482342"/>
              <a:gd name="connsiteX89" fmla="*/ 6056576 w 12192000"/>
              <a:gd name="connsiteY89" fmla="*/ 2120066 h 3482342"/>
              <a:gd name="connsiteX90" fmla="*/ 5993794 w 12192000"/>
              <a:gd name="connsiteY90" fmla="*/ 2122569 h 3482342"/>
              <a:gd name="connsiteX91" fmla="*/ 5943601 w 12192000"/>
              <a:gd name="connsiteY91" fmla="*/ 2137719 h 3482342"/>
              <a:gd name="connsiteX92" fmla="*/ 5898141 w 12192000"/>
              <a:gd name="connsiteY92" fmla="*/ 2144806 h 3482342"/>
              <a:gd name="connsiteX93" fmla="*/ 5855337 w 12192000"/>
              <a:gd name="connsiteY93" fmla="*/ 2137719 h 3482342"/>
              <a:gd name="connsiteX94" fmla="*/ 5817682 w 12192000"/>
              <a:gd name="connsiteY94" fmla="*/ 2157358 h 3482342"/>
              <a:gd name="connsiteX95" fmla="*/ 5735300 w 12192000"/>
              <a:gd name="connsiteY95" fmla="*/ 2158902 h 3482342"/>
              <a:gd name="connsiteX96" fmla="*/ 5591469 w 12192000"/>
              <a:gd name="connsiteY96" fmla="*/ 2178389 h 3482342"/>
              <a:gd name="connsiteX97" fmla="*/ 5505818 w 12192000"/>
              <a:gd name="connsiteY97" fmla="*/ 2194207 h 3482342"/>
              <a:gd name="connsiteX98" fmla="*/ 5452860 w 12192000"/>
              <a:gd name="connsiteY98" fmla="*/ 2180085 h 3482342"/>
              <a:gd name="connsiteX99" fmla="*/ 5414282 w 12192000"/>
              <a:gd name="connsiteY99" fmla="*/ 2183070 h 3482342"/>
              <a:gd name="connsiteX100" fmla="*/ 5368369 w 12192000"/>
              <a:gd name="connsiteY100" fmla="*/ 2204272 h 3482342"/>
              <a:gd name="connsiteX101" fmla="*/ 5336354 w 12192000"/>
              <a:gd name="connsiteY101" fmla="*/ 2218920 h 3482342"/>
              <a:gd name="connsiteX102" fmla="*/ 5291263 w 12192000"/>
              <a:gd name="connsiteY102" fmla="*/ 2239182 h 3482342"/>
              <a:gd name="connsiteX103" fmla="*/ 5255152 w 12192000"/>
              <a:gd name="connsiteY103" fmla="*/ 2247164 h 3482342"/>
              <a:gd name="connsiteX104" fmla="*/ 5233796 w 12192000"/>
              <a:gd name="connsiteY104" fmla="*/ 2268260 h 3482342"/>
              <a:gd name="connsiteX105" fmla="*/ 5212786 w 12192000"/>
              <a:gd name="connsiteY105" fmla="*/ 2296592 h 3482342"/>
              <a:gd name="connsiteX106" fmla="*/ 5173523 w 12192000"/>
              <a:gd name="connsiteY106" fmla="*/ 2309057 h 3482342"/>
              <a:gd name="connsiteX107" fmla="*/ 5123830 w 12192000"/>
              <a:gd name="connsiteY107" fmla="*/ 2307070 h 3482342"/>
              <a:gd name="connsiteX108" fmla="*/ 5065426 w 12192000"/>
              <a:gd name="connsiteY108" fmla="*/ 2324076 h 3482342"/>
              <a:gd name="connsiteX109" fmla="*/ 4975908 w 12192000"/>
              <a:gd name="connsiteY109" fmla="*/ 2364128 h 3482342"/>
              <a:gd name="connsiteX110" fmla="*/ 4913723 w 12192000"/>
              <a:gd name="connsiteY110" fmla="*/ 2385265 h 3482342"/>
              <a:gd name="connsiteX111" fmla="*/ 4746485 w 12192000"/>
              <a:gd name="connsiteY111" fmla="*/ 2451769 h 3482342"/>
              <a:gd name="connsiteX112" fmla="*/ 4681588 w 12192000"/>
              <a:gd name="connsiteY112" fmla="*/ 2467494 h 3482342"/>
              <a:gd name="connsiteX113" fmla="*/ 1783655 w 12192000"/>
              <a:gd name="connsiteY113" fmla="*/ 3163860 h 3482342"/>
              <a:gd name="connsiteX114" fmla="*/ 1325955 w 12192000"/>
              <a:gd name="connsiteY114" fmla="*/ 3176692 h 3482342"/>
              <a:gd name="connsiteX115" fmla="*/ 1190384 w 12192000"/>
              <a:gd name="connsiteY115" fmla="*/ 3203504 h 3482342"/>
              <a:gd name="connsiteX116" fmla="*/ 1094537 w 12192000"/>
              <a:gd name="connsiteY116" fmla="*/ 3229469 h 3482342"/>
              <a:gd name="connsiteX117" fmla="*/ 779276 w 12192000"/>
              <a:gd name="connsiteY117" fmla="*/ 3327290 h 3482342"/>
              <a:gd name="connsiteX118" fmla="*/ 600378 w 12192000"/>
              <a:gd name="connsiteY118" fmla="*/ 3335250 h 3482342"/>
              <a:gd name="connsiteX119" fmla="*/ 493457 w 12192000"/>
              <a:gd name="connsiteY119" fmla="*/ 3365044 h 3482342"/>
              <a:gd name="connsiteX120" fmla="*/ 349402 w 12192000"/>
              <a:gd name="connsiteY120" fmla="*/ 3380897 h 3482342"/>
              <a:gd name="connsiteX121" fmla="*/ 192183 w 12192000"/>
              <a:gd name="connsiteY121" fmla="*/ 3460075 h 3482342"/>
              <a:gd name="connsiteX122" fmla="*/ 46713 w 12192000"/>
              <a:gd name="connsiteY122" fmla="*/ 3462986 h 3482342"/>
              <a:gd name="connsiteX123" fmla="*/ 2765 w 12192000"/>
              <a:gd name="connsiteY123" fmla="*/ 3480770 h 3482342"/>
              <a:gd name="connsiteX124" fmla="*/ 0 w 12192000"/>
              <a:gd name="connsiteY124" fmla="*/ 3482342 h 3482342"/>
              <a:gd name="connsiteX125" fmla="*/ 0 w 12192000"/>
              <a:gd name="connsiteY12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14361 w 12192000"/>
              <a:gd name="connsiteY40" fmla="*/ 1466924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51958 w 12192000"/>
              <a:gd name="connsiteY43" fmla="*/ 1477515 h 3482342"/>
              <a:gd name="connsiteX44" fmla="*/ 10120184 w 12192000"/>
              <a:gd name="connsiteY44" fmla="*/ 1466924 h 3482342"/>
              <a:gd name="connsiteX45" fmla="*/ 10058690 w 12192000"/>
              <a:gd name="connsiteY45" fmla="*/ 1474888 h 3482342"/>
              <a:gd name="connsiteX46" fmla="*/ 10004424 w 12192000"/>
              <a:gd name="connsiteY46" fmla="*/ 1489801 h 3482342"/>
              <a:gd name="connsiteX47" fmla="*/ 9999951 w 12192000"/>
              <a:gd name="connsiteY47" fmla="*/ 1499127 h 3482342"/>
              <a:gd name="connsiteX48" fmla="*/ 9845462 w 12192000"/>
              <a:gd name="connsiteY48" fmla="*/ 1548192 h 3482342"/>
              <a:gd name="connsiteX49" fmla="*/ 9736156 w 12192000"/>
              <a:gd name="connsiteY49" fmla="*/ 1581928 h 3482342"/>
              <a:gd name="connsiteX50" fmla="*/ 9693355 w 12192000"/>
              <a:gd name="connsiteY50" fmla="*/ 1602632 h 3482342"/>
              <a:gd name="connsiteX51" fmla="*/ 9664242 w 12192000"/>
              <a:gd name="connsiteY51" fmla="*/ 1622075 h 3482342"/>
              <a:gd name="connsiteX52" fmla="*/ 9579195 w 12192000"/>
              <a:gd name="connsiteY52" fmla="*/ 1648017 h 3482342"/>
              <a:gd name="connsiteX53" fmla="*/ 9433652 w 12192000"/>
              <a:gd name="connsiteY53" fmla="*/ 1681174 h 3482342"/>
              <a:gd name="connsiteX54" fmla="*/ 9403775 w 12192000"/>
              <a:gd name="connsiteY54" fmla="*/ 1690403 h 3482342"/>
              <a:gd name="connsiteX55" fmla="*/ 9382503 w 12192000"/>
              <a:gd name="connsiteY55" fmla="*/ 1706957 h 3482342"/>
              <a:gd name="connsiteX56" fmla="*/ 9381410 w 12192000"/>
              <a:gd name="connsiteY56" fmla="*/ 1718312 h 3482342"/>
              <a:gd name="connsiteX57" fmla="*/ 9365685 w 12192000"/>
              <a:gd name="connsiteY57" fmla="*/ 1724772 h 3482342"/>
              <a:gd name="connsiteX58" fmla="*/ 9278020 w 12192000"/>
              <a:gd name="connsiteY58" fmla="*/ 1741161 h 3482342"/>
              <a:gd name="connsiteX59" fmla="*/ 9217145 w 12192000"/>
              <a:gd name="connsiteY59" fmla="*/ 1771195 h 3482342"/>
              <a:gd name="connsiteX60" fmla="*/ 8955875 w 12192000"/>
              <a:gd name="connsiteY60" fmla="*/ 1796806 h 3482342"/>
              <a:gd name="connsiteX61" fmla="*/ 8648415 w 12192000"/>
              <a:gd name="connsiteY61" fmla="*/ 1878623 h 3482342"/>
              <a:gd name="connsiteX62" fmla="*/ 8495949 w 12192000"/>
              <a:gd name="connsiteY62" fmla="*/ 1902425 h 3482342"/>
              <a:gd name="connsiteX63" fmla="*/ 8236214 w 12192000"/>
              <a:gd name="connsiteY63" fmla="*/ 1909725 h 3482342"/>
              <a:gd name="connsiteX64" fmla="*/ 8132104 w 12192000"/>
              <a:gd name="connsiteY64" fmla="*/ 1895727 h 3482342"/>
              <a:gd name="connsiteX65" fmla="*/ 7918078 w 12192000"/>
              <a:gd name="connsiteY65" fmla="*/ 1862668 h 3482342"/>
              <a:gd name="connsiteX66" fmla="*/ 7817899 w 12192000"/>
              <a:gd name="connsiteY66" fmla="*/ 1862176 h 3482342"/>
              <a:gd name="connsiteX67" fmla="*/ 7768994 w 12192000"/>
              <a:gd name="connsiteY67" fmla="*/ 1855721 h 3482342"/>
              <a:gd name="connsiteX68" fmla="*/ 7618027 w 12192000"/>
              <a:gd name="connsiteY68" fmla="*/ 1830959 h 3482342"/>
              <a:gd name="connsiteX69" fmla="*/ 7449425 w 12192000"/>
              <a:gd name="connsiteY69" fmla="*/ 1810910 h 3482342"/>
              <a:gd name="connsiteX70" fmla="*/ 7342915 w 12192000"/>
              <a:gd name="connsiteY70" fmla="*/ 1819827 h 3482342"/>
              <a:gd name="connsiteX71" fmla="*/ 7255191 w 12192000"/>
              <a:gd name="connsiteY71" fmla="*/ 1834354 h 3482342"/>
              <a:gd name="connsiteX72" fmla="*/ 7131205 w 12192000"/>
              <a:gd name="connsiteY72" fmla="*/ 1845557 h 3482342"/>
              <a:gd name="connsiteX73" fmla="*/ 6941837 w 12192000"/>
              <a:gd name="connsiteY73" fmla="*/ 1840640 h 3482342"/>
              <a:gd name="connsiteX74" fmla="*/ 6837145 w 12192000"/>
              <a:gd name="connsiteY74" fmla="*/ 1870724 h 3482342"/>
              <a:gd name="connsiteX75" fmla="*/ 6753991 w 12192000"/>
              <a:gd name="connsiteY75" fmla="*/ 1860969 h 3482342"/>
              <a:gd name="connsiteX76" fmla="*/ 6727754 w 12192000"/>
              <a:gd name="connsiteY76" fmla="*/ 1882372 h 3482342"/>
              <a:gd name="connsiteX77" fmla="*/ 6723371 w 12192000"/>
              <a:gd name="connsiteY77" fmla="*/ 1886494 h 3482342"/>
              <a:gd name="connsiteX78" fmla="*/ 6702779 w 12192000"/>
              <a:gd name="connsiteY78" fmla="*/ 1893601 h 3482342"/>
              <a:gd name="connsiteX79" fmla="*/ 6686657 w 12192000"/>
              <a:gd name="connsiteY79" fmla="*/ 1907344 h 3482342"/>
              <a:gd name="connsiteX80" fmla="*/ 6651330 w 12192000"/>
              <a:gd name="connsiteY80" fmla="*/ 1922921 h 3482342"/>
              <a:gd name="connsiteX81" fmla="*/ 6622958 w 12192000"/>
              <a:gd name="connsiteY81" fmla="*/ 1936255 h 3482342"/>
              <a:gd name="connsiteX82" fmla="*/ 6522602 w 12192000"/>
              <a:gd name="connsiteY82" fmla="*/ 1954133 h 3482342"/>
              <a:gd name="connsiteX83" fmla="*/ 6444344 w 12192000"/>
              <a:gd name="connsiteY83" fmla="*/ 1969663 h 3482342"/>
              <a:gd name="connsiteX84" fmla="*/ 6409626 w 12192000"/>
              <a:gd name="connsiteY84" fmla="*/ 1978846 h 3482342"/>
              <a:gd name="connsiteX85" fmla="*/ 6333446 w 12192000"/>
              <a:gd name="connsiteY85" fmla="*/ 1997163 h 3482342"/>
              <a:gd name="connsiteX86" fmla="*/ 6294933 w 12192000"/>
              <a:gd name="connsiteY86" fmla="*/ 2019412 h 3482342"/>
              <a:gd name="connsiteX87" fmla="*/ 6238719 w 12192000"/>
              <a:gd name="connsiteY87" fmla="*/ 2042547 h 3482342"/>
              <a:gd name="connsiteX88" fmla="*/ 6187205 w 12192000"/>
              <a:gd name="connsiteY88" fmla="*/ 2060048 h 3482342"/>
              <a:gd name="connsiteX89" fmla="*/ 6138780 w 12192000"/>
              <a:gd name="connsiteY89" fmla="*/ 2081918 h 3482342"/>
              <a:gd name="connsiteX90" fmla="*/ 6120125 w 12192000"/>
              <a:gd name="connsiteY90" fmla="*/ 2109475 h 3482342"/>
              <a:gd name="connsiteX91" fmla="*/ 6056576 w 12192000"/>
              <a:gd name="connsiteY91" fmla="*/ 2120066 h 3482342"/>
              <a:gd name="connsiteX92" fmla="*/ 5993794 w 12192000"/>
              <a:gd name="connsiteY92" fmla="*/ 2122569 h 3482342"/>
              <a:gd name="connsiteX93" fmla="*/ 5943601 w 12192000"/>
              <a:gd name="connsiteY93" fmla="*/ 2137719 h 3482342"/>
              <a:gd name="connsiteX94" fmla="*/ 5898141 w 12192000"/>
              <a:gd name="connsiteY94" fmla="*/ 2144806 h 3482342"/>
              <a:gd name="connsiteX95" fmla="*/ 5855337 w 12192000"/>
              <a:gd name="connsiteY95" fmla="*/ 2137719 h 3482342"/>
              <a:gd name="connsiteX96" fmla="*/ 5817682 w 12192000"/>
              <a:gd name="connsiteY96" fmla="*/ 2157358 h 3482342"/>
              <a:gd name="connsiteX97" fmla="*/ 5735300 w 12192000"/>
              <a:gd name="connsiteY97" fmla="*/ 2158902 h 3482342"/>
              <a:gd name="connsiteX98" fmla="*/ 5591469 w 12192000"/>
              <a:gd name="connsiteY98" fmla="*/ 2178389 h 3482342"/>
              <a:gd name="connsiteX99" fmla="*/ 5505818 w 12192000"/>
              <a:gd name="connsiteY99" fmla="*/ 2194207 h 3482342"/>
              <a:gd name="connsiteX100" fmla="*/ 5452860 w 12192000"/>
              <a:gd name="connsiteY100" fmla="*/ 2180085 h 3482342"/>
              <a:gd name="connsiteX101" fmla="*/ 5414282 w 12192000"/>
              <a:gd name="connsiteY101" fmla="*/ 2183070 h 3482342"/>
              <a:gd name="connsiteX102" fmla="*/ 5368369 w 12192000"/>
              <a:gd name="connsiteY102" fmla="*/ 2204272 h 3482342"/>
              <a:gd name="connsiteX103" fmla="*/ 5336354 w 12192000"/>
              <a:gd name="connsiteY103" fmla="*/ 2218920 h 3482342"/>
              <a:gd name="connsiteX104" fmla="*/ 5291263 w 12192000"/>
              <a:gd name="connsiteY104" fmla="*/ 2239182 h 3482342"/>
              <a:gd name="connsiteX105" fmla="*/ 5255152 w 12192000"/>
              <a:gd name="connsiteY105" fmla="*/ 2247164 h 3482342"/>
              <a:gd name="connsiteX106" fmla="*/ 5233796 w 12192000"/>
              <a:gd name="connsiteY106" fmla="*/ 2268260 h 3482342"/>
              <a:gd name="connsiteX107" fmla="*/ 5212786 w 12192000"/>
              <a:gd name="connsiteY107" fmla="*/ 2296592 h 3482342"/>
              <a:gd name="connsiteX108" fmla="*/ 5173523 w 12192000"/>
              <a:gd name="connsiteY108" fmla="*/ 2309057 h 3482342"/>
              <a:gd name="connsiteX109" fmla="*/ 5123830 w 12192000"/>
              <a:gd name="connsiteY109" fmla="*/ 2307070 h 3482342"/>
              <a:gd name="connsiteX110" fmla="*/ 5065426 w 12192000"/>
              <a:gd name="connsiteY110" fmla="*/ 2324076 h 3482342"/>
              <a:gd name="connsiteX111" fmla="*/ 4975908 w 12192000"/>
              <a:gd name="connsiteY111" fmla="*/ 2364128 h 3482342"/>
              <a:gd name="connsiteX112" fmla="*/ 4913723 w 12192000"/>
              <a:gd name="connsiteY112" fmla="*/ 2385265 h 3482342"/>
              <a:gd name="connsiteX113" fmla="*/ 4746485 w 12192000"/>
              <a:gd name="connsiteY113" fmla="*/ 2451769 h 3482342"/>
              <a:gd name="connsiteX114" fmla="*/ 4681588 w 12192000"/>
              <a:gd name="connsiteY114" fmla="*/ 2467494 h 3482342"/>
              <a:gd name="connsiteX115" fmla="*/ 1783655 w 12192000"/>
              <a:gd name="connsiteY115" fmla="*/ 3163860 h 3482342"/>
              <a:gd name="connsiteX116" fmla="*/ 1325955 w 12192000"/>
              <a:gd name="connsiteY116" fmla="*/ 3176692 h 3482342"/>
              <a:gd name="connsiteX117" fmla="*/ 1190384 w 12192000"/>
              <a:gd name="connsiteY117" fmla="*/ 3203504 h 3482342"/>
              <a:gd name="connsiteX118" fmla="*/ 1094537 w 12192000"/>
              <a:gd name="connsiteY118" fmla="*/ 3229469 h 3482342"/>
              <a:gd name="connsiteX119" fmla="*/ 779276 w 12192000"/>
              <a:gd name="connsiteY119" fmla="*/ 3327290 h 3482342"/>
              <a:gd name="connsiteX120" fmla="*/ 600378 w 12192000"/>
              <a:gd name="connsiteY120" fmla="*/ 3335250 h 3482342"/>
              <a:gd name="connsiteX121" fmla="*/ 493457 w 12192000"/>
              <a:gd name="connsiteY121" fmla="*/ 3365044 h 3482342"/>
              <a:gd name="connsiteX122" fmla="*/ 349402 w 12192000"/>
              <a:gd name="connsiteY122" fmla="*/ 3380897 h 3482342"/>
              <a:gd name="connsiteX123" fmla="*/ 192183 w 12192000"/>
              <a:gd name="connsiteY123" fmla="*/ 3460075 h 3482342"/>
              <a:gd name="connsiteX124" fmla="*/ 46713 w 12192000"/>
              <a:gd name="connsiteY124" fmla="*/ 3462986 h 3482342"/>
              <a:gd name="connsiteX125" fmla="*/ 2765 w 12192000"/>
              <a:gd name="connsiteY125" fmla="*/ 3480770 h 3482342"/>
              <a:gd name="connsiteX126" fmla="*/ 0 w 12192000"/>
              <a:gd name="connsiteY126" fmla="*/ 3482342 h 3482342"/>
              <a:gd name="connsiteX127" fmla="*/ 0 w 12192000"/>
              <a:gd name="connsiteY12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29629 w 12192000"/>
              <a:gd name="connsiteY42" fmla="*/ 1470454 h 3482342"/>
              <a:gd name="connsiteX43" fmla="*/ 10201385 w 12192000"/>
              <a:gd name="connsiteY43" fmla="*/ 1477515 h 3482342"/>
              <a:gd name="connsiteX44" fmla="*/ 10151958 w 12192000"/>
              <a:gd name="connsiteY44" fmla="*/ 1477515 h 3482342"/>
              <a:gd name="connsiteX45" fmla="*/ 10120184 w 12192000"/>
              <a:gd name="connsiteY45" fmla="*/ 1466924 h 3482342"/>
              <a:gd name="connsiteX46" fmla="*/ 10058690 w 12192000"/>
              <a:gd name="connsiteY46" fmla="*/ 1474888 h 3482342"/>
              <a:gd name="connsiteX47" fmla="*/ 10004424 w 12192000"/>
              <a:gd name="connsiteY47" fmla="*/ 1489801 h 3482342"/>
              <a:gd name="connsiteX48" fmla="*/ 9999951 w 12192000"/>
              <a:gd name="connsiteY48" fmla="*/ 1499127 h 3482342"/>
              <a:gd name="connsiteX49" fmla="*/ 9845462 w 12192000"/>
              <a:gd name="connsiteY49" fmla="*/ 1548192 h 3482342"/>
              <a:gd name="connsiteX50" fmla="*/ 9736156 w 12192000"/>
              <a:gd name="connsiteY50" fmla="*/ 1581928 h 3482342"/>
              <a:gd name="connsiteX51" fmla="*/ 9693355 w 12192000"/>
              <a:gd name="connsiteY51" fmla="*/ 1602632 h 3482342"/>
              <a:gd name="connsiteX52" fmla="*/ 9664242 w 12192000"/>
              <a:gd name="connsiteY52" fmla="*/ 1622075 h 3482342"/>
              <a:gd name="connsiteX53" fmla="*/ 9579195 w 12192000"/>
              <a:gd name="connsiteY53" fmla="*/ 1648017 h 3482342"/>
              <a:gd name="connsiteX54" fmla="*/ 9433652 w 12192000"/>
              <a:gd name="connsiteY54" fmla="*/ 1681174 h 3482342"/>
              <a:gd name="connsiteX55" fmla="*/ 9403775 w 12192000"/>
              <a:gd name="connsiteY55" fmla="*/ 1690403 h 3482342"/>
              <a:gd name="connsiteX56" fmla="*/ 9382503 w 12192000"/>
              <a:gd name="connsiteY56" fmla="*/ 1706957 h 3482342"/>
              <a:gd name="connsiteX57" fmla="*/ 9381410 w 12192000"/>
              <a:gd name="connsiteY57" fmla="*/ 1718312 h 3482342"/>
              <a:gd name="connsiteX58" fmla="*/ 9365685 w 12192000"/>
              <a:gd name="connsiteY58" fmla="*/ 1724772 h 3482342"/>
              <a:gd name="connsiteX59" fmla="*/ 9278020 w 12192000"/>
              <a:gd name="connsiteY59" fmla="*/ 1741161 h 3482342"/>
              <a:gd name="connsiteX60" fmla="*/ 9217145 w 12192000"/>
              <a:gd name="connsiteY60" fmla="*/ 1771195 h 3482342"/>
              <a:gd name="connsiteX61" fmla="*/ 8955875 w 12192000"/>
              <a:gd name="connsiteY61" fmla="*/ 1796806 h 3482342"/>
              <a:gd name="connsiteX62" fmla="*/ 8648415 w 12192000"/>
              <a:gd name="connsiteY62" fmla="*/ 1878623 h 3482342"/>
              <a:gd name="connsiteX63" fmla="*/ 8495949 w 12192000"/>
              <a:gd name="connsiteY63" fmla="*/ 1902425 h 3482342"/>
              <a:gd name="connsiteX64" fmla="*/ 8236214 w 12192000"/>
              <a:gd name="connsiteY64" fmla="*/ 1909725 h 3482342"/>
              <a:gd name="connsiteX65" fmla="*/ 8132104 w 12192000"/>
              <a:gd name="connsiteY65" fmla="*/ 1895727 h 3482342"/>
              <a:gd name="connsiteX66" fmla="*/ 7918078 w 12192000"/>
              <a:gd name="connsiteY66" fmla="*/ 1862668 h 3482342"/>
              <a:gd name="connsiteX67" fmla="*/ 7817899 w 12192000"/>
              <a:gd name="connsiteY67" fmla="*/ 1862176 h 3482342"/>
              <a:gd name="connsiteX68" fmla="*/ 7768994 w 12192000"/>
              <a:gd name="connsiteY68" fmla="*/ 1855721 h 3482342"/>
              <a:gd name="connsiteX69" fmla="*/ 7618027 w 12192000"/>
              <a:gd name="connsiteY69" fmla="*/ 1830959 h 3482342"/>
              <a:gd name="connsiteX70" fmla="*/ 7449425 w 12192000"/>
              <a:gd name="connsiteY70" fmla="*/ 1810910 h 3482342"/>
              <a:gd name="connsiteX71" fmla="*/ 7342915 w 12192000"/>
              <a:gd name="connsiteY71" fmla="*/ 1819827 h 3482342"/>
              <a:gd name="connsiteX72" fmla="*/ 7255191 w 12192000"/>
              <a:gd name="connsiteY72" fmla="*/ 1834354 h 3482342"/>
              <a:gd name="connsiteX73" fmla="*/ 7131205 w 12192000"/>
              <a:gd name="connsiteY73" fmla="*/ 1845557 h 3482342"/>
              <a:gd name="connsiteX74" fmla="*/ 6941837 w 12192000"/>
              <a:gd name="connsiteY74" fmla="*/ 1840640 h 3482342"/>
              <a:gd name="connsiteX75" fmla="*/ 6837145 w 12192000"/>
              <a:gd name="connsiteY75" fmla="*/ 1870724 h 3482342"/>
              <a:gd name="connsiteX76" fmla="*/ 6753991 w 12192000"/>
              <a:gd name="connsiteY76" fmla="*/ 1860969 h 3482342"/>
              <a:gd name="connsiteX77" fmla="*/ 6727754 w 12192000"/>
              <a:gd name="connsiteY77" fmla="*/ 1882372 h 3482342"/>
              <a:gd name="connsiteX78" fmla="*/ 6723371 w 12192000"/>
              <a:gd name="connsiteY78" fmla="*/ 1886494 h 3482342"/>
              <a:gd name="connsiteX79" fmla="*/ 6702779 w 12192000"/>
              <a:gd name="connsiteY79" fmla="*/ 1893601 h 3482342"/>
              <a:gd name="connsiteX80" fmla="*/ 6686657 w 12192000"/>
              <a:gd name="connsiteY80" fmla="*/ 1907344 h 3482342"/>
              <a:gd name="connsiteX81" fmla="*/ 6651330 w 12192000"/>
              <a:gd name="connsiteY81" fmla="*/ 1922921 h 3482342"/>
              <a:gd name="connsiteX82" fmla="*/ 6622958 w 12192000"/>
              <a:gd name="connsiteY82" fmla="*/ 1936255 h 3482342"/>
              <a:gd name="connsiteX83" fmla="*/ 6522602 w 12192000"/>
              <a:gd name="connsiteY83" fmla="*/ 1954133 h 3482342"/>
              <a:gd name="connsiteX84" fmla="*/ 6444344 w 12192000"/>
              <a:gd name="connsiteY84" fmla="*/ 1969663 h 3482342"/>
              <a:gd name="connsiteX85" fmla="*/ 6409626 w 12192000"/>
              <a:gd name="connsiteY85" fmla="*/ 1978846 h 3482342"/>
              <a:gd name="connsiteX86" fmla="*/ 6333446 w 12192000"/>
              <a:gd name="connsiteY86" fmla="*/ 1997163 h 3482342"/>
              <a:gd name="connsiteX87" fmla="*/ 6294933 w 12192000"/>
              <a:gd name="connsiteY87" fmla="*/ 2019412 h 3482342"/>
              <a:gd name="connsiteX88" fmla="*/ 6238719 w 12192000"/>
              <a:gd name="connsiteY88" fmla="*/ 2042547 h 3482342"/>
              <a:gd name="connsiteX89" fmla="*/ 6187205 w 12192000"/>
              <a:gd name="connsiteY89" fmla="*/ 2060048 h 3482342"/>
              <a:gd name="connsiteX90" fmla="*/ 6138780 w 12192000"/>
              <a:gd name="connsiteY90" fmla="*/ 2081918 h 3482342"/>
              <a:gd name="connsiteX91" fmla="*/ 6120125 w 12192000"/>
              <a:gd name="connsiteY91" fmla="*/ 2109475 h 3482342"/>
              <a:gd name="connsiteX92" fmla="*/ 6056576 w 12192000"/>
              <a:gd name="connsiteY92" fmla="*/ 2120066 h 3482342"/>
              <a:gd name="connsiteX93" fmla="*/ 5993794 w 12192000"/>
              <a:gd name="connsiteY93" fmla="*/ 2122569 h 3482342"/>
              <a:gd name="connsiteX94" fmla="*/ 5943601 w 12192000"/>
              <a:gd name="connsiteY94" fmla="*/ 2137719 h 3482342"/>
              <a:gd name="connsiteX95" fmla="*/ 5898141 w 12192000"/>
              <a:gd name="connsiteY95" fmla="*/ 2144806 h 3482342"/>
              <a:gd name="connsiteX96" fmla="*/ 5855337 w 12192000"/>
              <a:gd name="connsiteY96" fmla="*/ 2137719 h 3482342"/>
              <a:gd name="connsiteX97" fmla="*/ 5817682 w 12192000"/>
              <a:gd name="connsiteY97" fmla="*/ 2157358 h 3482342"/>
              <a:gd name="connsiteX98" fmla="*/ 5735300 w 12192000"/>
              <a:gd name="connsiteY98" fmla="*/ 2158902 h 3482342"/>
              <a:gd name="connsiteX99" fmla="*/ 5591469 w 12192000"/>
              <a:gd name="connsiteY99" fmla="*/ 2178389 h 3482342"/>
              <a:gd name="connsiteX100" fmla="*/ 5505818 w 12192000"/>
              <a:gd name="connsiteY100" fmla="*/ 2194207 h 3482342"/>
              <a:gd name="connsiteX101" fmla="*/ 5452860 w 12192000"/>
              <a:gd name="connsiteY101" fmla="*/ 2180085 h 3482342"/>
              <a:gd name="connsiteX102" fmla="*/ 5414282 w 12192000"/>
              <a:gd name="connsiteY102" fmla="*/ 2183070 h 3482342"/>
              <a:gd name="connsiteX103" fmla="*/ 5368369 w 12192000"/>
              <a:gd name="connsiteY103" fmla="*/ 2204272 h 3482342"/>
              <a:gd name="connsiteX104" fmla="*/ 5336354 w 12192000"/>
              <a:gd name="connsiteY104" fmla="*/ 2218920 h 3482342"/>
              <a:gd name="connsiteX105" fmla="*/ 5291263 w 12192000"/>
              <a:gd name="connsiteY105" fmla="*/ 2239182 h 3482342"/>
              <a:gd name="connsiteX106" fmla="*/ 5255152 w 12192000"/>
              <a:gd name="connsiteY106" fmla="*/ 2247164 h 3482342"/>
              <a:gd name="connsiteX107" fmla="*/ 5233796 w 12192000"/>
              <a:gd name="connsiteY107" fmla="*/ 2268260 h 3482342"/>
              <a:gd name="connsiteX108" fmla="*/ 5212786 w 12192000"/>
              <a:gd name="connsiteY108" fmla="*/ 2296592 h 3482342"/>
              <a:gd name="connsiteX109" fmla="*/ 5173523 w 12192000"/>
              <a:gd name="connsiteY109" fmla="*/ 2309057 h 3482342"/>
              <a:gd name="connsiteX110" fmla="*/ 5123830 w 12192000"/>
              <a:gd name="connsiteY110" fmla="*/ 2307070 h 3482342"/>
              <a:gd name="connsiteX111" fmla="*/ 5065426 w 12192000"/>
              <a:gd name="connsiteY111" fmla="*/ 2324076 h 3482342"/>
              <a:gd name="connsiteX112" fmla="*/ 4975908 w 12192000"/>
              <a:gd name="connsiteY112" fmla="*/ 2364128 h 3482342"/>
              <a:gd name="connsiteX113" fmla="*/ 4913723 w 12192000"/>
              <a:gd name="connsiteY113" fmla="*/ 2385265 h 3482342"/>
              <a:gd name="connsiteX114" fmla="*/ 4746485 w 12192000"/>
              <a:gd name="connsiteY114" fmla="*/ 2451769 h 3482342"/>
              <a:gd name="connsiteX115" fmla="*/ 4681588 w 12192000"/>
              <a:gd name="connsiteY115" fmla="*/ 2467494 h 3482342"/>
              <a:gd name="connsiteX116" fmla="*/ 1783655 w 12192000"/>
              <a:gd name="connsiteY116" fmla="*/ 3163860 h 3482342"/>
              <a:gd name="connsiteX117" fmla="*/ 1325955 w 12192000"/>
              <a:gd name="connsiteY117" fmla="*/ 3176692 h 3482342"/>
              <a:gd name="connsiteX118" fmla="*/ 1190384 w 12192000"/>
              <a:gd name="connsiteY118" fmla="*/ 3203504 h 3482342"/>
              <a:gd name="connsiteX119" fmla="*/ 1094537 w 12192000"/>
              <a:gd name="connsiteY119" fmla="*/ 3229469 h 3482342"/>
              <a:gd name="connsiteX120" fmla="*/ 779276 w 12192000"/>
              <a:gd name="connsiteY120" fmla="*/ 3327290 h 3482342"/>
              <a:gd name="connsiteX121" fmla="*/ 600378 w 12192000"/>
              <a:gd name="connsiteY121" fmla="*/ 3335250 h 3482342"/>
              <a:gd name="connsiteX122" fmla="*/ 493457 w 12192000"/>
              <a:gd name="connsiteY122" fmla="*/ 3365044 h 3482342"/>
              <a:gd name="connsiteX123" fmla="*/ 349402 w 12192000"/>
              <a:gd name="connsiteY123" fmla="*/ 3380897 h 3482342"/>
              <a:gd name="connsiteX124" fmla="*/ 192183 w 12192000"/>
              <a:gd name="connsiteY124" fmla="*/ 3460075 h 3482342"/>
              <a:gd name="connsiteX125" fmla="*/ 46713 w 12192000"/>
              <a:gd name="connsiteY125" fmla="*/ 3462986 h 3482342"/>
              <a:gd name="connsiteX126" fmla="*/ 2765 w 12192000"/>
              <a:gd name="connsiteY126" fmla="*/ 3480770 h 3482342"/>
              <a:gd name="connsiteX127" fmla="*/ 0 w 12192000"/>
              <a:gd name="connsiteY127" fmla="*/ 3482342 h 3482342"/>
              <a:gd name="connsiteX128" fmla="*/ 0 w 12192000"/>
              <a:gd name="connsiteY12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87356 w 12192000"/>
              <a:gd name="connsiteY37" fmla="*/ 1385722 h 3482342"/>
              <a:gd name="connsiteX38" fmla="*/ 10464012 w 12192000"/>
              <a:gd name="connsiteY38" fmla="*/ 1391778 h 3482342"/>
              <a:gd name="connsiteX39" fmla="*/ 10405409 w 12192000"/>
              <a:gd name="connsiteY39" fmla="*/ 1422789 h 3482342"/>
              <a:gd name="connsiteX40" fmla="*/ 10370530 w 12192000"/>
              <a:gd name="connsiteY40" fmla="*/ 1441596 h 3482342"/>
              <a:gd name="connsiteX41" fmla="*/ 10300239 w 12192000"/>
              <a:gd name="connsiteY41" fmla="*/ 1456332 h 3482342"/>
              <a:gd name="connsiteX42" fmla="*/ 10264922 w 12192000"/>
              <a:gd name="connsiteY42" fmla="*/ 1472107 h 3482342"/>
              <a:gd name="connsiteX43" fmla="*/ 10229629 w 12192000"/>
              <a:gd name="connsiteY43" fmla="*/ 1470454 h 3482342"/>
              <a:gd name="connsiteX44" fmla="*/ 10201385 w 12192000"/>
              <a:gd name="connsiteY44" fmla="*/ 1477515 h 3482342"/>
              <a:gd name="connsiteX45" fmla="*/ 10151958 w 12192000"/>
              <a:gd name="connsiteY45" fmla="*/ 1477515 h 3482342"/>
              <a:gd name="connsiteX46" fmla="*/ 10120184 w 12192000"/>
              <a:gd name="connsiteY46" fmla="*/ 1466924 h 3482342"/>
              <a:gd name="connsiteX47" fmla="*/ 10058690 w 12192000"/>
              <a:gd name="connsiteY47" fmla="*/ 1474888 h 3482342"/>
              <a:gd name="connsiteX48" fmla="*/ 10004424 w 12192000"/>
              <a:gd name="connsiteY48" fmla="*/ 1489801 h 3482342"/>
              <a:gd name="connsiteX49" fmla="*/ 9999951 w 12192000"/>
              <a:gd name="connsiteY49" fmla="*/ 1499127 h 3482342"/>
              <a:gd name="connsiteX50" fmla="*/ 9845462 w 12192000"/>
              <a:gd name="connsiteY50" fmla="*/ 1548192 h 3482342"/>
              <a:gd name="connsiteX51" fmla="*/ 9736156 w 12192000"/>
              <a:gd name="connsiteY51" fmla="*/ 1581928 h 3482342"/>
              <a:gd name="connsiteX52" fmla="*/ 9693355 w 12192000"/>
              <a:gd name="connsiteY52" fmla="*/ 1602632 h 3482342"/>
              <a:gd name="connsiteX53" fmla="*/ 9664242 w 12192000"/>
              <a:gd name="connsiteY53" fmla="*/ 1622075 h 3482342"/>
              <a:gd name="connsiteX54" fmla="*/ 9579195 w 12192000"/>
              <a:gd name="connsiteY54" fmla="*/ 1648017 h 3482342"/>
              <a:gd name="connsiteX55" fmla="*/ 9433652 w 12192000"/>
              <a:gd name="connsiteY55" fmla="*/ 1681174 h 3482342"/>
              <a:gd name="connsiteX56" fmla="*/ 9403775 w 12192000"/>
              <a:gd name="connsiteY56" fmla="*/ 1690403 h 3482342"/>
              <a:gd name="connsiteX57" fmla="*/ 9382503 w 12192000"/>
              <a:gd name="connsiteY57" fmla="*/ 1706957 h 3482342"/>
              <a:gd name="connsiteX58" fmla="*/ 9381410 w 12192000"/>
              <a:gd name="connsiteY58" fmla="*/ 1718312 h 3482342"/>
              <a:gd name="connsiteX59" fmla="*/ 9365685 w 12192000"/>
              <a:gd name="connsiteY59" fmla="*/ 1724772 h 3482342"/>
              <a:gd name="connsiteX60" fmla="*/ 9278020 w 12192000"/>
              <a:gd name="connsiteY60" fmla="*/ 1741161 h 3482342"/>
              <a:gd name="connsiteX61" fmla="*/ 9217145 w 12192000"/>
              <a:gd name="connsiteY61" fmla="*/ 1771195 h 3482342"/>
              <a:gd name="connsiteX62" fmla="*/ 8955875 w 12192000"/>
              <a:gd name="connsiteY62" fmla="*/ 1796806 h 3482342"/>
              <a:gd name="connsiteX63" fmla="*/ 8648415 w 12192000"/>
              <a:gd name="connsiteY63" fmla="*/ 1878623 h 3482342"/>
              <a:gd name="connsiteX64" fmla="*/ 8495949 w 12192000"/>
              <a:gd name="connsiteY64" fmla="*/ 1902425 h 3482342"/>
              <a:gd name="connsiteX65" fmla="*/ 8236214 w 12192000"/>
              <a:gd name="connsiteY65" fmla="*/ 1909725 h 3482342"/>
              <a:gd name="connsiteX66" fmla="*/ 8132104 w 12192000"/>
              <a:gd name="connsiteY66" fmla="*/ 1895727 h 3482342"/>
              <a:gd name="connsiteX67" fmla="*/ 7918078 w 12192000"/>
              <a:gd name="connsiteY67" fmla="*/ 1862668 h 3482342"/>
              <a:gd name="connsiteX68" fmla="*/ 7817899 w 12192000"/>
              <a:gd name="connsiteY68" fmla="*/ 1862176 h 3482342"/>
              <a:gd name="connsiteX69" fmla="*/ 7768994 w 12192000"/>
              <a:gd name="connsiteY69" fmla="*/ 1855721 h 3482342"/>
              <a:gd name="connsiteX70" fmla="*/ 7618027 w 12192000"/>
              <a:gd name="connsiteY70" fmla="*/ 1830959 h 3482342"/>
              <a:gd name="connsiteX71" fmla="*/ 7449425 w 12192000"/>
              <a:gd name="connsiteY71" fmla="*/ 1810910 h 3482342"/>
              <a:gd name="connsiteX72" fmla="*/ 7342915 w 12192000"/>
              <a:gd name="connsiteY72" fmla="*/ 1819827 h 3482342"/>
              <a:gd name="connsiteX73" fmla="*/ 7255191 w 12192000"/>
              <a:gd name="connsiteY73" fmla="*/ 1834354 h 3482342"/>
              <a:gd name="connsiteX74" fmla="*/ 7131205 w 12192000"/>
              <a:gd name="connsiteY74" fmla="*/ 1845557 h 3482342"/>
              <a:gd name="connsiteX75" fmla="*/ 6941837 w 12192000"/>
              <a:gd name="connsiteY75" fmla="*/ 1840640 h 3482342"/>
              <a:gd name="connsiteX76" fmla="*/ 6837145 w 12192000"/>
              <a:gd name="connsiteY76" fmla="*/ 1870724 h 3482342"/>
              <a:gd name="connsiteX77" fmla="*/ 6753991 w 12192000"/>
              <a:gd name="connsiteY77" fmla="*/ 1860969 h 3482342"/>
              <a:gd name="connsiteX78" fmla="*/ 6727754 w 12192000"/>
              <a:gd name="connsiteY78" fmla="*/ 1882372 h 3482342"/>
              <a:gd name="connsiteX79" fmla="*/ 6723371 w 12192000"/>
              <a:gd name="connsiteY79" fmla="*/ 1886494 h 3482342"/>
              <a:gd name="connsiteX80" fmla="*/ 6702779 w 12192000"/>
              <a:gd name="connsiteY80" fmla="*/ 1893601 h 3482342"/>
              <a:gd name="connsiteX81" fmla="*/ 6686657 w 12192000"/>
              <a:gd name="connsiteY81" fmla="*/ 1907344 h 3482342"/>
              <a:gd name="connsiteX82" fmla="*/ 6651330 w 12192000"/>
              <a:gd name="connsiteY82" fmla="*/ 1922921 h 3482342"/>
              <a:gd name="connsiteX83" fmla="*/ 6622958 w 12192000"/>
              <a:gd name="connsiteY83" fmla="*/ 1936255 h 3482342"/>
              <a:gd name="connsiteX84" fmla="*/ 6522602 w 12192000"/>
              <a:gd name="connsiteY84" fmla="*/ 1954133 h 3482342"/>
              <a:gd name="connsiteX85" fmla="*/ 6444344 w 12192000"/>
              <a:gd name="connsiteY85" fmla="*/ 1969663 h 3482342"/>
              <a:gd name="connsiteX86" fmla="*/ 6409626 w 12192000"/>
              <a:gd name="connsiteY86" fmla="*/ 1978846 h 3482342"/>
              <a:gd name="connsiteX87" fmla="*/ 6333446 w 12192000"/>
              <a:gd name="connsiteY87" fmla="*/ 1997163 h 3482342"/>
              <a:gd name="connsiteX88" fmla="*/ 6294933 w 12192000"/>
              <a:gd name="connsiteY88" fmla="*/ 2019412 h 3482342"/>
              <a:gd name="connsiteX89" fmla="*/ 6238719 w 12192000"/>
              <a:gd name="connsiteY89" fmla="*/ 2042547 h 3482342"/>
              <a:gd name="connsiteX90" fmla="*/ 6187205 w 12192000"/>
              <a:gd name="connsiteY90" fmla="*/ 2060048 h 3482342"/>
              <a:gd name="connsiteX91" fmla="*/ 6138780 w 12192000"/>
              <a:gd name="connsiteY91" fmla="*/ 2081918 h 3482342"/>
              <a:gd name="connsiteX92" fmla="*/ 6120125 w 12192000"/>
              <a:gd name="connsiteY92" fmla="*/ 2109475 h 3482342"/>
              <a:gd name="connsiteX93" fmla="*/ 6056576 w 12192000"/>
              <a:gd name="connsiteY93" fmla="*/ 2120066 h 3482342"/>
              <a:gd name="connsiteX94" fmla="*/ 5993794 w 12192000"/>
              <a:gd name="connsiteY94" fmla="*/ 2122569 h 3482342"/>
              <a:gd name="connsiteX95" fmla="*/ 5943601 w 12192000"/>
              <a:gd name="connsiteY95" fmla="*/ 2137719 h 3482342"/>
              <a:gd name="connsiteX96" fmla="*/ 5898141 w 12192000"/>
              <a:gd name="connsiteY96" fmla="*/ 2144806 h 3482342"/>
              <a:gd name="connsiteX97" fmla="*/ 5855337 w 12192000"/>
              <a:gd name="connsiteY97" fmla="*/ 2137719 h 3482342"/>
              <a:gd name="connsiteX98" fmla="*/ 5817682 w 12192000"/>
              <a:gd name="connsiteY98" fmla="*/ 2157358 h 3482342"/>
              <a:gd name="connsiteX99" fmla="*/ 5735300 w 12192000"/>
              <a:gd name="connsiteY99" fmla="*/ 2158902 h 3482342"/>
              <a:gd name="connsiteX100" fmla="*/ 5591469 w 12192000"/>
              <a:gd name="connsiteY100" fmla="*/ 2178389 h 3482342"/>
              <a:gd name="connsiteX101" fmla="*/ 5505818 w 12192000"/>
              <a:gd name="connsiteY101" fmla="*/ 2194207 h 3482342"/>
              <a:gd name="connsiteX102" fmla="*/ 5452860 w 12192000"/>
              <a:gd name="connsiteY102" fmla="*/ 2180085 h 3482342"/>
              <a:gd name="connsiteX103" fmla="*/ 5414282 w 12192000"/>
              <a:gd name="connsiteY103" fmla="*/ 2183070 h 3482342"/>
              <a:gd name="connsiteX104" fmla="*/ 5368369 w 12192000"/>
              <a:gd name="connsiteY104" fmla="*/ 2204272 h 3482342"/>
              <a:gd name="connsiteX105" fmla="*/ 5336354 w 12192000"/>
              <a:gd name="connsiteY105" fmla="*/ 2218920 h 3482342"/>
              <a:gd name="connsiteX106" fmla="*/ 5291263 w 12192000"/>
              <a:gd name="connsiteY106" fmla="*/ 2239182 h 3482342"/>
              <a:gd name="connsiteX107" fmla="*/ 5255152 w 12192000"/>
              <a:gd name="connsiteY107" fmla="*/ 2247164 h 3482342"/>
              <a:gd name="connsiteX108" fmla="*/ 5233796 w 12192000"/>
              <a:gd name="connsiteY108" fmla="*/ 2268260 h 3482342"/>
              <a:gd name="connsiteX109" fmla="*/ 5212786 w 12192000"/>
              <a:gd name="connsiteY109" fmla="*/ 2296592 h 3482342"/>
              <a:gd name="connsiteX110" fmla="*/ 5173523 w 12192000"/>
              <a:gd name="connsiteY110" fmla="*/ 2309057 h 3482342"/>
              <a:gd name="connsiteX111" fmla="*/ 5123830 w 12192000"/>
              <a:gd name="connsiteY111" fmla="*/ 2307070 h 3482342"/>
              <a:gd name="connsiteX112" fmla="*/ 5065426 w 12192000"/>
              <a:gd name="connsiteY112" fmla="*/ 2324076 h 3482342"/>
              <a:gd name="connsiteX113" fmla="*/ 4975908 w 12192000"/>
              <a:gd name="connsiteY113" fmla="*/ 2364128 h 3482342"/>
              <a:gd name="connsiteX114" fmla="*/ 4913723 w 12192000"/>
              <a:gd name="connsiteY114" fmla="*/ 2385265 h 3482342"/>
              <a:gd name="connsiteX115" fmla="*/ 4746485 w 12192000"/>
              <a:gd name="connsiteY115" fmla="*/ 2451769 h 3482342"/>
              <a:gd name="connsiteX116" fmla="*/ 4681588 w 12192000"/>
              <a:gd name="connsiteY116" fmla="*/ 2467494 h 3482342"/>
              <a:gd name="connsiteX117" fmla="*/ 1783655 w 12192000"/>
              <a:gd name="connsiteY117" fmla="*/ 3163860 h 3482342"/>
              <a:gd name="connsiteX118" fmla="*/ 1325955 w 12192000"/>
              <a:gd name="connsiteY118" fmla="*/ 3176692 h 3482342"/>
              <a:gd name="connsiteX119" fmla="*/ 1190384 w 12192000"/>
              <a:gd name="connsiteY119" fmla="*/ 3203504 h 3482342"/>
              <a:gd name="connsiteX120" fmla="*/ 1094537 w 12192000"/>
              <a:gd name="connsiteY120" fmla="*/ 3229469 h 3482342"/>
              <a:gd name="connsiteX121" fmla="*/ 779276 w 12192000"/>
              <a:gd name="connsiteY121" fmla="*/ 3327290 h 3482342"/>
              <a:gd name="connsiteX122" fmla="*/ 600378 w 12192000"/>
              <a:gd name="connsiteY122" fmla="*/ 3335250 h 3482342"/>
              <a:gd name="connsiteX123" fmla="*/ 493457 w 12192000"/>
              <a:gd name="connsiteY123" fmla="*/ 3365044 h 3482342"/>
              <a:gd name="connsiteX124" fmla="*/ 349402 w 12192000"/>
              <a:gd name="connsiteY124" fmla="*/ 3380897 h 3482342"/>
              <a:gd name="connsiteX125" fmla="*/ 192183 w 12192000"/>
              <a:gd name="connsiteY125" fmla="*/ 3460075 h 3482342"/>
              <a:gd name="connsiteX126" fmla="*/ 46713 w 12192000"/>
              <a:gd name="connsiteY126" fmla="*/ 3462986 h 3482342"/>
              <a:gd name="connsiteX127" fmla="*/ 2765 w 12192000"/>
              <a:gd name="connsiteY127" fmla="*/ 3480770 h 3482342"/>
              <a:gd name="connsiteX128" fmla="*/ 0 w 12192000"/>
              <a:gd name="connsiteY128" fmla="*/ 3482342 h 3482342"/>
              <a:gd name="connsiteX129" fmla="*/ 0 w 12192000"/>
              <a:gd name="connsiteY12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50756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7375 w 12192000"/>
              <a:gd name="connsiteY36" fmla="*/ 1375130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58690 w 12192000"/>
              <a:gd name="connsiteY49" fmla="*/ 1474888 h 3482342"/>
              <a:gd name="connsiteX50" fmla="*/ 10004424 w 12192000"/>
              <a:gd name="connsiteY50" fmla="*/ 1489801 h 3482342"/>
              <a:gd name="connsiteX51" fmla="*/ 9999951 w 12192000"/>
              <a:gd name="connsiteY51" fmla="*/ 1499127 h 3482342"/>
              <a:gd name="connsiteX52" fmla="*/ 9845462 w 12192000"/>
              <a:gd name="connsiteY52" fmla="*/ 1548192 h 3482342"/>
              <a:gd name="connsiteX53" fmla="*/ 9736156 w 12192000"/>
              <a:gd name="connsiteY53" fmla="*/ 1581928 h 3482342"/>
              <a:gd name="connsiteX54" fmla="*/ 9693355 w 12192000"/>
              <a:gd name="connsiteY54" fmla="*/ 1602632 h 3482342"/>
              <a:gd name="connsiteX55" fmla="*/ 9664242 w 12192000"/>
              <a:gd name="connsiteY55" fmla="*/ 1622075 h 3482342"/>
              <a:gd name="connsiteX56" fmla="*/ 9579195 w 12192000"/>
              <a:gd name="connsiteY56" fmla="*/ 1648017 h 3482342"/>
              <a:gd name="connsiteX57" fmla="*/ 9433652 w 12192000"/>
              <a:gd name="connsiteY57" fmla="*/ 1681174 h 3482342"/>
              <a:gd name="connsiteX58" fmla="*/ 9403775 w 12192000"/>
              <a:gd name="connsiteY58" fmla="*/ 1690403 h 3482342"/>
              <a:gd name="connsiteX59" fmla="*/ 9382503 w 12192000"/>
              <a:gd name="connsiteY59" fmla="*/ 1706957 h 3482342"/>
              <a:gd name="connsiteX60" fmla="*/ 9381410 w 12192000"/>
              <a:gd name="connsiteY60" fmla="*/ 1718312 h 3482342"/>
              <a:gd name="connsiteX61" fmla="*/ 9365685 w 12192000"/>
              <a:gd name="connsiteY61" fmla="*/ 1724772 h 3482342"/>
              <a:gd name="connsiteX62" fmla="*/ 9278020 w 12192000"/>
              <a:gd name="connsiteY62" fmla="*/ 1741161 h 3482342"/>
              <a:gd name="connsiteX63" fmla="*/ 9217145 w 12192000"/>
              <a:gd name="connsiteY63" fmla="*/ 1771195 h 3482342"/>
              <a:gd name="connsiteX64" fmla="*/ 8955875 w 12192000"/>
              <a:gd name="connsiteY64" fmla="*/ 1796806 h 3482342"/>
              <a:gd name="connsiteX65" fmla="*/ 8648415 w 12192000"/>
              <a:gd name="connsiteY65" fmla="*/ 1878623 h 3482342"/>
              <a:gd name="connsiteX66" fmla="*/ 8495949 w 12192000"/>
              <a:gd name="connsiteY66" fmla="*/ 1902425 h 3482342"/>
              <a:gd name="connsiteX67" fmla="*/ 8236214 w 12192000"/>
              <a:gd name="connsiteY67" fmla="*/ 1909725 h 3482342"/>
              <a:gd name="connsiteX68" fmla="*/ 8132104 w 12192000"/>
              <a:gd name="connsiteY68" fmla="*/ 1895727 h 3482342"/>
              <a:gd name="connsiteX69" fmla="*/ 7918078 w 12192000"/>
              <a:gd name="connsiteY69" fmla="*/ 1862668 h 3482342"/>
              <a:gd name="connsiteX70" fmla="*/ 7817899 w 12192000"/>
              <a:gd name="connsiteY70" fmla="*/ 1862176 h 3482342"/>
              <a:gd name="connsiteX71" fmla="*/ 7768994 w 12192000"/>
              <a:gd name="connsiteY71" fmla="*/ 1855721 h 3482342"/>
              <a:gd name="connsiteX72" fmla="*/ 7618027 w 12192000"/>
              <a:gd name="connsiteY72" fmla="*/ 1830959 h 3482342"/>
              <a:gd name="connsiteX73" fmla="*/ 7449425 w 12192000"/>
              <a:gd name="connsiteY73" fmla="*/ 1810910 h 3482342"/>
              <a:gd name="connsiteX74" fmla="*/ 7342915 w 12192000"/>
              <a:gd name="connsiteY74" fmla="*/ 1819827 h 3482342"/>
              <a:gd name="connsiteX75" fmla="*/ 7255191 w 12192000"/>
              <a:gd name="connsiteY75" fmla="*/ 1834354 h 3482342"/>
              <a:gd name="connsiteX76" fmla="*/ 7131205 w 12192000"/>
              <a:gd name="connsiteY76" fmla="*/ 1845557 h 3482342"/>
              <a:gd name="connsiteX77" fmla="*/ 6941837 w 12192000"/>
              <a:gd name="connsiteY77" fmla="*/ 1840640 h 3482342"/>
              <a:gd name="connsiteX78" fmla="*/ 6837145 w 12192000"/>
              <a:gd name="connsiteY78" fmla="*/ 1870724 h 3482342"/>
              <a:gd name="connsiteX79" fmla="*/ 6753991 w 12192000"/>
              <a:gd name="connsiteY79" fmla="*/ 1860969 h 3482342"/>
              <a:gd name="connsiteX80" fmla="*/ 6727754 w 12192000"/>
              <a:gd name="connsiteY80" fmla="*/ 1882372 h 3482342"/>
              <a:gd name="connsiteX81" fmla="*/ 6723371 w 12192000"/>
              <a:gd name="connsiteY81" fmla="*/ 1886494 h 3482342"/>
              <a:gd name="connsiteX82" fmla="*/ 6702779 w 12192000"/>
              <a:gd name="connsiteY82" fmla="*/ 1893601 h 3482342"/>
              <a:gd name="connsiteX83" fmla="*/ 6686657 w 12192000"/>
              <a:gd name="connsiteY83" fmla="*/ 1907344 h 3482342"/>
              <a:gd name="connsiteX84" fmla="*/ 6651330 w 12192000"/>
              <a:gd name="connsiteY84" fmla="*/ 1922921 h 3482342"/>
              <a:gd name="connsiteX85" fmla="*/ 6622958 w 12192000"/>
              <a:gd name="connsiteY85" fmla="*/ 1936255 h 3482342"/>
              <a:gd name="connsiteX86" fmla="*/ 6522602 w 12192000"/>
              <a:gd name="connsiteY86" fmla="*/ 1954133 h 3482342"/>
              <a:gd name="connsiteX87" fmla="*/ 6444344 w 12192000"/>
              <a:gd name="connsiteY87" fmla="*/ 1969663 h 3482342"/>
              <a:gd name="connsiteX88" fmla="*/ 6409626 w 12192000"/>
              <a:gd name="connsiteY88" fmla="*/ 1978846 h 3482342"/>
              <a:gd name="connsiteX89" fmla="*/ 6333446 w 12192000"/>
              <a:gd name="connsiteY89" fmla="*/ 1997163 h 3482342"/>
              <a:gd name="connsiteX90" fmla="*/ 6294933 w 12192000"/>
              <a:gd name="connsiteY90" fmla="*/ 2019412 h 3482342"/>
              <a:gd name="connsiteX91" fmla="*/ 6238719 w 12192000"/>
              <a:gd name="connsiteY91" fmla="*/ 2042547 h 3482342"/>
              <a:gd name="connsiteX92" fmla="*/ 6187205 w 12192000"/>
              <a:gd name="connsiteY92" fmla="*/ 2060048 h 3482342"/>
              <a:gd name="connsiteX93" fmla="*/ 6138780 w 12192000"/>
              <a:gd name="connsiteY93" fmla="*/ 2081918 h 3482342"/>
              <a:gd name="connsiteX94" fmla="*/ 6120125 w 12192000"/>
              <a:gd name="connsiteY94" fmla="*/ 2109475 h 3482342"/>
              <a:gd name="connsiteX95" fmla="*/ 6056576 w 12192000"/>
              <a:gd name="connsiteY95" fmla="*/ 2120066 h 3482342"/>
              <a:gd name="connsiteX96" fmla="*/ 5993794 w 12192000"/>
              <a:gd name="connsiteY96" fmla="*/ 2122569 h 3482342"/>
              <a:gd name="connsiteX97" fmla="*/ 5943601 w 12192000"/>
              <a:gd name="connsiteY97" fmla="*/ 2137719 h 3482342"/>
              <a:gd name="connsiteX98" fmla="*/ 5898141 w 12192000"/>
              <a:gd name="connsiteY98" fmla="*/ 2144806 h 3482342"/>
              <a:gd name="connsiteX99" fmla="*/ 5855337 w 12192000"/>
              <a:gd name="connsiteY99" fmla="*/ 2137719 h 3482342"/>
              <a:gd name="connsiteX100" fmla="*/ 5817682 w 12192000"/>
              <a:gd name="connsiteY100" fmla="*/ 2157358 h 3482342"/>
              <a:gd name="connsiteX101" fmla="*/ 5735300 w 12192000"/>
              <a:gd name="connsiteY101" fmla="*/ 2158902 h 3482342"/>
              <a:gd name="connsiteX102" fmla="*/ 5591469 w 12192000"/>
              <a:gd name="connsiteY102" fmla="*/ 2178389 h 3482342"/>
              <a:gd name="connsiteX103" fmla="*/ 5505818 w 12192000"/>
              <a:gd name="connsiteY103" fmla="*/ 2194207 h 3482342"/>
              <a:gd name="connsiteX104" fmla="*/ 5452860 w 12192000"/>
              <a:gd name="connsiteY104" fmla="*/ 2180085 h 3482342"/>
              <a:gd name="connsiteX105" fmla="*/ 5414282 w 12192000"/>
              <a:gd name="connsiteY105" fmla="*/ 2183070 h 3482342"/>
              <a:gd name="connsiteX106" fmla="*/ 5368369 w 12192000"/>
              <a:gd name="connsiteY106" fmla="*/ 2204272 h 3482342"/>
              <a:gd name="connsiteX107" fmla="*/ 5336354 w 12192000"/>
              <a:gd name="connsiteY107" fmla="*/ 2218920 h 3482342"/>
              <a:gd name="connsiteX108" fmla="*/ 5291263 w 12192000"/>
              <a:gd name="connsiteY108" fmla="*/ 2239182 h 3482342"/>
              <a:gd name="connsiteX109" fmla="*/ 5255152 w 12192000"/>
              <a:gd name="connsiteY109" fmla="*/ 2247164 h 3482342"/>
              <a:gd name="connsiteX110" fmla="*/ 5233796 w 12192000"/>
              <a:gd name="connsiteY110" fmla="*/ 2268260 h 3482342"/>
              <a:gd name="connsiteX111" fmla="*/ 5212786 w 12192000"/>
              <a:gd name="connsiteY111" fmla="*/ 2296592 h 3482342"/>
              <a:gd name="connsiteX112" fmla="*/ 5173523 w 12192000"/>
              <a:gd name="connsiteY112" fmla="*/ 2309057 h 3482342"/>
              <a:gd name="connsiteX113" fmla="*/ 5123830 w 12192000"/>
              <a:gd name="connsiteY113" fmla="*/ 2307070 h 3482342"/>
              <a:gd name="connsiteX114" fmla="*/ 5065426 w 12192000"/>
              <a:gd name="connsiteY114" fmla="*/ 2324076 h 3482342"/>
              <a:gd name="connsiteX115" fmla="*/ 4975908 w 12192000"/>
              <a:gd name="connsiteY115" fmla="*/ 2364128 h 3482342"/>
              <a:gd name="connsiteX116" fmla="*/ 4913723 w 12192000"/>
              <a:gd name="connsiteY116" fmla="*/ 2385265 h 3482342"/>
              <a:gd name="connsiteX117" fmla="*/ 4746485 w 12192000"/>
              <a:gd name="connsiteY117" fmla="*/ 2451769 h 3482342"/>
              <a:gd name="connsiteX118" fmla="*/ 4681588 w 12192000"/>
              <a:gd name="connsiteY118" fmla="*/ 2467494 h 3482342"/>
              <a:gd name="connsiteX119" fmla="*/ 1783655 w 12192000"/>
              <a:gd name="connsiteY119" fmla="*/ 3163860 h 3482342"/>
              <a:gd name="connsiteX120" fmla="*/ 1325955 w 12192000"/>
              <a:gd name="connsiteY120" fmla="*/ 3176692 h 3482342"/>
              <a:gd name="connsiteX121" fmla="*/ 1190384 w 12192000"/>
              <a:gd name="connsiteY121" fmla="*/ 3203504 h 3482342"/>
              <a:gd name="connsiteX122" fmla="*/ 1094537 w 12192000"/>
              <a:gd name="connsiteY122" fmla="*/ 3229469 h 3482342"/>
              <a:gd name="connsiteX123" fmla="*/ 779276 w 12192000"/>
              <a:gd name="connsiteY123" fmla="*/ 3327290 h 3482342"/>
              <a:gd name="connsiteX124" fmla="*/ 600378 w 12192000"/>
              <a:gd name="connsiteY124" fmla="*/ 3335250 h 3482342"/>
              <a:gd name="connsiteX125" fmla="*/ 493457 w 12192000"/>
              <a:gd name="connsiteY125" fmla="*/ 3365044 h 3482342"/>
              <a:gd name="connsiteX126" fmla="*/ 349402 w 12192000"/>
              <a:gd name="connsiteY126" fmla="*/ 3380897 h 3482342"/>
              <a:gd name="connsiteX127" fmla="*/ 192183 w 12192000"/>
              <a:gd name="connsiteY127" fmla="*/ 3460075 h 3482342"/>
              <a:gd name="connsiteX128" fmla="*/ 46713 w 12192000"/>
              <a:gd name="connsiteY128" fmla="*/ 3462986 h 3482342"/>
              <a:gd name="connsiteX129" fmla="*/ 2765 w 12192000"/>
              <a:gd name="connsiteY129" fmla="*/ 3480770 h 3482342"/>
              <a:gd name="connsiteX130" fmla="*/ 0 w 12192000"/>
              <a:gd name="connsiteY130" fmla="*/ 3482342 h 3482342"/>
              <a:gd name="connsiteX131" fmla="*/ 0 w 12192000"/>
              <a:gd name="connsiteY13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495949 w 12192000"/>
              <a:gd name="connsiteY67" fmla="*/ 1902425 h 3482342"/>
              <a:gd name="connsiteX68" fmla="*/ 8236214 w 12192000"/>
              <a:gd name="connsiteY68" fmla="*/ 1909725 h 3482342"/>
              <a:gd name="connsiteX69" fmla="*/ 8132104 w 12192000"/>
              <a:gd name="connsiteY69" fmla="*/ 1895727 h 3482342"/>
              <a:gd name="connsiteX70" fmla="*/ 7918078 w 12192000"/>
              <a:gd name="connsiteY70" fmla="*/ 1862668 h 3482342"/>
              <a:gd name="connsiteX71" fmla="*/ 7817899 w 12192000"/>
              <a:gd name="connsiteY71" fmla="*/ 1862176 h 3482342"/>
              <a:gd name="connsiteX72" fmla="*/ 7768994 w 12192000"/>
              <a:gd name="connsiteY72" fmla="*/ 1855721 h 3482342"/>
              <a:gd name="connsiteX73" fmla="*/ 7618027 w 12192000"/>
              <a:gd name="connsiteY73" fmla="*/ 1830959 h 3482342"/>
              <a:gd name="connsiteX74" fmla="*/ 7449425 w 12192000"/>
              <a:gd name="connsiteY74" fmla="*/ 1810910 h 3482342"/>
              <a:gd name="connsiteX75" fmla="*/ 7342915 w 12192000"/>
              <a:gd name="connsiteY75" fmla="*/ 1819827 h 3482342"/>
              <a:gd name="connsiteX76" fmla="*/ 7255191 w 12192000"/>
              <a:gd name="connsiteY76" fmla="*/ 1834354 h 3482342"/>
              <a:gd name="connsiteX77" fmla="*/ 7131205 w 12192000"/>
              <a:gd name="connsiteY77" fmla="*/ 1845557 h 3482342"/>
              <a:gd name="connsiteX78" fmla="*/ 6941837 w 12192000"/>
              <a:gd name="connsiteY78" fmla="*/ 1840640 h 3482342"/>
              <a:gd name="connsiteX79" fmla="*/ 6837145 w 12192000"/>
              <a:gd name="connsiteY79" fmla="*/ 1870724 h 3482342"/>
              <a:gd name="connsiteX80" fmla="*/ 6753991 w 12192000"/>
              <a:gd name="connsiteY80" fmla="*/ 1860969 h 3482342"/>
              <a:gd name="connsiteX81" fmla="*/ 6727754 w 12192000"/>
              <a:gd name="connsiteY81" fmla="*/ 1882372 h 3482342"/>
              <a:gd name="connsiteX82" fmla="*/ 6723371 w 12192000"/>
              <a:gd name="connsiteY82" fmla="*/ 1886494 h 3482342"/>
              <a:gd name="connsiteX83" fmla="*/ 6702779 w 12192000"/>
              <a:gd name="connsiteY83" fmla="*/ 1893601 h 3482342"/>
              <a:gd name="connsiteX84" fmla="*/ 6686657 w 12192000"/>
              <a:gd name="connsiteY84" fmla="*/ 1907344 h 3482342"/>
              <a:gd name="connsiteX85" fmla="*/ 6651330 w 12192000"/>
              <a:gd name="connsiteY85" fmla="*/ 1922921 h 3482342"/>
              <a:gd name="connsiteX86" fmla="*/ 6622958 w 12192000"/>
              <a:gd name="connsiteY86" fmla="*/ 1936255 h 3482342"/>
              <a:gd name="connsiteX87" fmla="*/ 6522602 w 12192000"/>
              <a:gd name="connsiteY87" fmla="*/ 1954133 h 3482342"/>
              <a:gd name="connsiteX88" fmla="*/ 6444344 w 12192000"/>
              <a:gd name="connsiteY88" fmla="*/ 1969663 h 3482342"/>
              <a:gd name="connsiteX89" fmla="*/ 6409626 w 12192000"/>
              <a:gd name="connsiteY89" fmla="*/ 1978846 h 3482342"/>
              <a:gd name="connsiteX90" fmla="*/ 6333446 w 12192000"/>
              <a:gd name="connsiteY90" fmla="*/ 1997163 h 3482342"/>
              <a:gd name="connsiteX91" fmla="*/ 6294933 w 12192000"/>
              <a:gd name="connsiteY91" fmla="*/ 2019412 h 3482342"/>
              <a:gd name="connsiteX92" fmla="*/ 6238719 w 12192000"/>
              <a:gd name="connsiteY92" fmla="*/ 2042547 h 3482342"/>
              <a:gd name="connsiteX93" fmla="*/ 6187205 w 12192000"/>
              <a:gd name="connsiteY93" fmla="*/ 2060048 h 3482342"/>
              <a:gd name="connsiteX94" fmla="*/ 6138780 w 12192000"/>
              <a:gd name="connsiteY94" fmla="*/ 2081918 h 3482342"/>
              <a:gd name="connsiteX95" fmla="*/ 6120125 w 12192000"/>
              <a:gd name="connsiteY95" fmla="*/ 2109475 h 3482342"/>
              <a:gd name="connsiteX96" fmla="*/ 6056576 w 12192000"/>
              <a:gd name="connsiteY96" fmla="*/ 2120066 h 3482342"/>
              <a:gd name="connsiteX97" fmla="*/ 5993794 w 12192000"/>
              <a:gd name="connsiteY97" fmla="*/ 2122569 h 3482342"/>
              <a:gd name="connsiteX98" fmla="*/ 5943601 w 12192000"/>
              <a:gd name="connsiteY98" fmla="*/ 2137719 h 3482342"/>
              <a:gd name="connsiteX99" fmla="*/ 5898141 w 12192000"/>
              <a:gd name="connsiteY99" fmla="*/ 2144806 h 3482342"/>
              <a:gd name="connsiteX100" fmla="*/ 5855337 w 12192000"/>
              <a:gd name="connsiteY100" fmla="*/ 2137719 h 3482342"/>
              <a:gd name="connsiteX101" fmla="*/ 5817682 w 12192000"/>
              <a:gd name="connsiteY101" fmla="*/ 2157358 h 3482342"/>
              <a:gd name="connsiteX102" fmla="*/ 5735300 w 12192000"/>
              <a:gd name="connsiteY102" fmla="*/ 2158902 h 3482342"/>
              <a:gd name="connsiteX103" fmla="*/ 5591469 w 12192000"/>
              <a:gd name="connsiteY103" fmla="*/ 2178389 h 3482342"/>
              <a:gd name="connsiteX104" fmla="*/ 5505818 w 12192000"/>
              <a:gd name="connsiteY104" fmla="*/ 2194207 h 3482342"/>
              <a:gd name="connsiteX105" fmla="*/ 5452860 w 12192000"/>
              <a:gd name="connsiteY105" fmla="*/ 2180085 h 3482342"/>
              <a:gd name="connsiteX106" fmla="*/ 5414282 w 12192000"/>
              <a:gd name="connsiteY106" fmla="*/ 2183070 h 3482342"/>
              <a:gd name="connsiteX107" fmla="*/ 5368369 w 12192000"/>
              <a:gd name="connsiteY107" fmla="*/ 2204272 h 3482342"/>
              <a:gd name="connsiteX108" fmla="*/ 5336354 w 12192000"/>
              <a:gd name="connsiteY108" fmla="*/ 2218920 h 3482342"/>
              <a:gd name="connsiteX109" fmla="*/ 5291263 w 12192000"/>
              <a:gd name="connsiteY109" fmla="*/ 2239182 h 3482342"/>
              <a:gd name="connsiteX110" fmla="*/ 5255152 w 12192000"/>
              <a:gd name="connsiteY110" fmla="*/ 2247164 h 3482342"/>
              <a:gd name="connsiteX111" fmla="*/ 5233796 w 12192000"/>
              <a:gd name="connsiteY111" fmla="*/ 2268260 h 3482342"/>
              <a:gd name="connsiteX112" fmla="*/ 5212786 w 12192000"/>
              <a:gd name="connsiteY112" fmla="*/ 2296592 h 3482342"/>
              <a:gd name="connsiteX113" fmla="*/ 5173523 w 12192000"/>
              <a:gd name="connsiteY113" fmla="*/ 2309057 h 3482342"/>
              <a:gd name="connsiteX114" fmla="*/ 5123830 w 12192000"/>
              <a:gd name="connsiteY114" fmla="*/ 2307070 h 3482342"/>
              <a:gd name="connsiteX115" fmla="*/ 5065426 w 12192000"/>
              <a:gd name="connsiteY115" fmla="*/ 2324076 h 3482342"/>
              <a:gd name="connsiteX116" fmla="*/ 4975908 w 12192000"/>
              <a:gd name="connsiteY116" fmla="*/ 2364128 h 3482342"/>
              <a:gd name="connsiteX117" fmla="*/ 4913723 w 12192000"/>
              <a:gd name="connsiteY117" fmla="*/ 2385265 h 3482342"/>
              <a:gd name="connsiteX118" fmla="*/ 4746485 w 12192000"/>
              <a:gd name="connsiteY118" fmla="*/ 2451769 h 3482342"/>
              <a:gd name="connsiteX119" fmla="*/ 4681588 w 12192000"/>
              <a:gd name="connsiteY119" fmla="*/ 2467494 h 3482342"/>
              <a:gd name="connsiteX120" fmla="*/ 1783655 w 12192000"/>
              <a:gd name="connsiteY120" fmla="*/ 3163860 h 3482342"/>
              <a:gd name="connsiteX121" fmla="*/ 1325955 w 12192000"/>
              <a:gd name="connsiteY121" fmla="*/ 3176692 h 3482342"/>
              <a:gd name="connsiteX122" fmla="*/ 1190384 w 12192000"/>
              <a:gd name="connsiteY122" fmla="*/ 3203504 h 3482342"/>
              <a:gd name="connsiteX123" fmla="*/ 1094537 w 12192000"/>
              <a:gd name="connsiteY123" fmla="*/ 3229469 h 3482342"/>
              <a:gd name="connsiteX124" fmla="*/ 779276 w 12192000"/>
              <a:gd name="connsiteY124" fmla="*/ 3327290 h 3482342"/>
              <a:gd name="connsiteX125" fmla="*/ 600378 w 12192000"/>
              <a:gd name="connsiteY125" fmla="*/ 3335250 h 3482342"/>
              <a:gd name="connsiteX126" fmla="*/ 493457 w 12192000"/>
              <a:gd name="connsiteY126" fmla="*/ 3365044 h 3482342"/>
              <a:gd name="connsiteX127" fmla="*/ 349402 w 12192000"/>
              <a:gd name="connsiteY127" fmla="*/ 3380897 h 3482342"/>
              <a:gd name="connsiteX128" fmla="*/ 192183 w 12192000"/>
              <a:gd name="connsiteY128" fmla="*/ 3460075 h 3482342"/>
              <a:gd name="connsiteX129" fmla="*/ 46713 w 12192000"/>
              <a:gd name="connsiteY129" fmla="*/ 3462986 h 3482342"/>
              <a:gd name="connsiteX130" fmla="*/ 2765 w 12192000"/>
              <a:gd name="connsiteY130" fmla="*/ 3480770 h 3482342"/>
              <a:gd name="connsiteX131" fmla="*/ 0 w 12192000"/>
              <a:gd name="connsiteY131" fmla="*/ 3482342 h 3482342"/>
              <a:gd name="connsiteX132" fmla="*/ 0 w 12192000"/>
              <a:gd name="connsiteY13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506541 w 12192000"/>
              <a:gd name="connsiteY68" fmla="*/ 190595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6304 w 12192000"/>
              <a:gd name="connsiteY34" fmla="*/ 1342641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71654 w 12192000"/>
              <a:gd name="connsiteY25" fmla="*/ 1177422 h 3482342"/>
              <a:gd name="connsiteX26" fmla="*/ 11028687 w 12192000"/>
              <a:gd name="connsiteY26" fmla="*/ 1199018 h 3482342"/>
              <a:gd name="connsiteX27" fmla="*/ 10974565 w 12192000"/>
              <a:gd name="connsiteY27" fmla="*/ 1226849 h 3482342"/>
              <a:gd name="connsiteX28" fmla="*/ 10960443 w 12192000"/>
              <a:gd name="connsiteY28" fmla="*/ 1244502 h 3482342"/>
              <a:gd name="connsiteX29" fmla="*/ 10879242 w 12192000"/>
              <a:gd name="connsiteY29" fmla="*/ 1269215 h 3482342"/>
              <a:gd name="connsiteX30" fmla="*/ 10850998 w 12192000"/>
              <a:gd name="connsiteY30" fmla="*/ 1269215 h 3482342"/>
              <a:gd name="connsiteX31" fmla="*/ 10815658 w 12192000"/>
              <a:gd name="connsiteY31" fmla="*/ 1287849 h 3482342"/>
              <a:gd name="connsiteX32" fmla="*/ 10723900 w 12192000"/>
              <a:gd name="connsiteY32" fmla="*/ 1318642 h 3482342"/>
              <a:gd name="connsiteX33" fmla="*/ 10699186 w 12192000"/>
              <a:gd name="connsiteY33" fmla="*/ 1322173 h 3482342"/>
              <a:gd name="connsiteX34" fmla="*/ 10676375 w 12192000"/>
              <a:gd name="connsiteY34" fmla="*/ 1342640 h 3482342"/>
              <a:gd name="connsiteX35" fmla="*/ 10636304 w 12192000"/>
              <a:gd name="connsiteY35" fmla="*/ 1342641 h 3482342"/>
              <a:gd name="connsiteX36" fmla="*/ 10603863 w 12192000"/>
              <a:gd name="connsiteY36" fmla="*/ 1346886 h 3482342"/>
              <a:gd name="connsiteX37" fmla="*/ 10573203 w 12192000"/>
              <a:gd name="connsiteY37" fmla="*/ 1351996 h 3482342"/>
              <a:gd name="connsiteX38" fmla="*/ 10547375 w 12192000"/>
              <a:gd name="connsiteY38" fmla="*/ 1375130 h 3482342"/>
              <a:gd name="connsiteX39" fmla="*/ 10513263 w 12192000"/>
              <a:gd name="connsiteY39" fmla="*/ 1371939 h 3482342"/>
              <a:gd name="connsiteX40" fmla="*/ 10487356 w 12192000"/>
              <a:gd name="connsiteY40" fmla="*/ 1385722 h 3482342"/>
              <a:gd name="connsiteX41" fmla="*/ 10464012 w 12192000"/>
              <a:gd name="connsiteY41" fmla="*/ 1391778 h 3482342"/>
              <a:gd name="connsiteX42" fmla="*/ 10439694 w 12192000"/>
              <a:gd name="connsiteY42" fmla="*/ 1406905 h 3482342"/>
              <a:gd name="connsiteX43" fmla="*/ 10405409 w 12192000"/>
              <a:gd name="connsiteY43" fmla="*/ 1422789 h 3482342"/>
              <a:gd name="connsiteX44" fmla="*/ 10370530 w 12192000"/>
              <a:gd name="connsiteY44" fmla="*/ 1441596 h 3482342"/>
              <a:gd name="connsiteX45" fmla="*/ 10300239 w 12192000"/>
              <a:gd name="connsiteY45" fmla="*/ 1456332 h 3482342"/>
              <a:gd name="connsiteX46" fmla="*/ 10264922 w 12192000"/>
              <a:gd name="connsiteY46" fmla="*/ 1472107 h 3482342"/>
              <a:gd name="connsiteX47" fmla="*/ 10229629 w 12192000"/>
              <a:gd name="connsiteY47" fmla="*/ 1470454 h 3482342"/>
              <a:gd name="connsiteX48" fmla="*/ 10201385 w 12192000"/>
              <a:gd name="connsiteY48" fmla="*/ 1477515 h 3482342"/>
              <a:gd name="connsiteX49" fmla="*/ 10151958 w 12192000"/>
              <a:gd name="connsiteY49" fmla="*/ 1477515 h 3482342"/>
              <a:gd name="connsiteX50" fmla="*/ 10120184 w 12192000"/>
              <a:gd name="connsiteY50" fmla="*/ 1466924 h 3482342"/>
              <a:gd name="connsiteX51" fmla="*/ 10081348 w 12192000"/>
              <a:gd name="connsiteY51" fmla="*/ 1481046 h 3482342"/>
              <a:gd name="connsiteX52" fmla="*/ 10058690 w 12192000"/>
              <a:gd name="connsiteY52" fmla="*/ 1474888 h 3482342"/>
              <a:gd name="connsiteX53" fmla="*/ 10004424 w 12192000"/>
              <a:gd name="connsiteY53" fmla="*/ 1489801 h 3482342"/>
              <a:gd name="connsiteX54" fmla="*/ 9999951 w 12192000"/>
              <a:gd name="connsiteY54" fmla="*/ 1499127 h 3482342"/>
              <a:gd name="connsiteX55" fmla="*/ 9845462 w 12192000"/>
              <a:gd name="connsiteY55" fmla="*/ 1548192 h 3482342"/>
              <a:gd name="connsiteX56" fmla="*/ 9736156 w 12192000"/>
              <a:gd name="connsiteY56" fmla="*/ 1581928 h 3482342"/>
              <a:gd name="connsiteX57" fmla="*/ 9693355 w 12192000"/>
              <a:gd name="connsiteY57" fmla="*/ 1602632 h 3482342"/>
              <a:gd name="connsiteX58" fmla="*/ 9664242 w 12192000"/>
              <a:gd name="connsiteY58" fmla="*/ 1622075 h 3482342"/>
              <a:gd name="connsiteX59" fmla="*/ 9579195 w 12192000"/>
              <a:gd name="connsiteY59" fmla="*/ 1648017 h 3482342"/>
              <a:gd name="connsiteX60" fmla="*/ 9433652 w 12192000"/>
              <a:gd name="connsiteY60" fmla="*/ 1681174 h 3482342"/>
              <a:gd name="connsiteX61" fmla="*/ 9403775 w 12192000"/>
              <a:gd name="connsiteY61" fmla="*/ 1690403 h 3482342"/>
              <a:gd name="connsiteX62" fmla="*/ 9382503 w 12192000"/>
              <a:gd name="connsiteY62" fmla="*/ 1706957 h 3482342"/>
              <a:gd name="connsiteX63" fmla="*/ 9381410 w 12192000"/>
              <a:gd name="connsiteY63" fmla="*/ 1718312 h 3482342"/>
              <a:gd name="connsiteX64" fmla="*/ 9365685 w 12192000"/>
              <a:gd name="connsiteY64" fmla="*/ 1724772 h 3482342"/>
              <a:gd name="connsiteX65" fmla="*/ 9278020 w 12192000"/>
              <a:gd name="connsiteY65" fmla="*/ 1741161 h 3482342"/>
              <a:gd name="connsiteX66" fmla="*/ 9217145 w 12192000"/>
              <a:gd name="connsiteY66" fmla="*/ 1771195 h 3482342"/>
              <a:gd name="connsiteX67" fmla="*/ 8955875 w 12192000"/>
              <a:gd name="connsiteY67" fmla="*/ 1796806 h 3482342"/>
              <a:gd name="connsiteX68" fmla="*/ 8648415 w 12192000"/>
              <a:gd name="connsiteY68" fmla="*/ 1878623 h 3482342"/>
              <a:gd name="connsiteX69" fmla="*/ 8538519 w 12192000"/>
              <a:gd name="connsiteY69" fmla="*/ 1894114 h 3482342"/>
              <a:gd name="connsiteX70" fmla="*/ 8506541 w 12192000"/>
              <a:gd name="connsiteY70" fmla="*/ 1905955 h 3482342"/>
              <a:gd name="connsiteX71" fmla="*/ 8236214 w 12192000"/>
              <a:gd name="connsiteY71" fmla="*/ 1909725 h 3482342"/>
              <a:gd name="connsiteX72" fmla="*/ 8132104 w 12192000"/>
              <a:gd name="connsiteY72" fmla="*/ 1895727 h 3482342"/>
              <a:gd name="connsiteX73" fmla="*/ 7918078 w 12192000"/>
              <a:gd name="connsiteY73" fmla="*/ 1862668 h 3482342"/>
              <a:gd name="connsiteX74" fmla="*/ 7817899 w 12192000"/>
              <a:gd name="connsiteY74" fmla="*/ 1862176 h 3482342"/>
              <a:gd name="connsiteX75" fmla="*/ 7768994 w 12192000"/>
              <a:gd name="connsiteY75" fmla="*/ 1855721 h 3482342"/>
              <a:gd name="connsiteX76" fmla="*/ 7618027 w 12192000"/>
              <a:gd name="connsiteY76" fmla="*/ 1830959 h 3482342"/>
              <a:gd name="connsiteX77" fmla="*/ 7449425 w 12192000"/>
              <a:gd name="connsiteY77" fmla="*/ 1810910 h 3482342"/>
              <a:gd name="connsiteX78" fmla="*/ 7342915 w 12192000"/>
              <a:gd name="connsiteY78" fmla="*/ 1819827 h 3482342"/>
              <a:gd name="connsiteX79" fmla="*/ 7255191 w 12192000"/>
              <a:gd name="connsiteY79" fmla="*/ 1834354 h 3482342"/>
              <a:gd name="connsiteX80" fmla="*/ 7131205 w 12192000"/>
              <a:gd name="connsiteY80" fmla="*/ 1845557 h 3482342"/>
              <a:gd name="connsiteX81" fmla="*/ 6941837 w 12192000"/>
              <a:gd name="connsiteY81" fmla="*/ 1840640 h 3482342"/>
              <a:gd name="connsiteX82" fmla="*/ 6837145 w 12192000"/>
              <a:gd name="connsiteY82" fmla="*/ 1870724 h 3482342"/>
              <a:gd name="connsiteX83" fmla="*/ 6753991 w 12192000"/>
              <a:gd name="connsiteY83" fmla="*/ 1860969 h 3482342"/>
              <a:gd name="connsiteX84" fmla="*/ 6727754 w 12192000"/>
              <a:gd name="connsiteY84" fmla="*/ 1882372 h 3482342"/>
              <a:gd name="connsiteX85" fmla="*/ 6723371 w 12192000"/>
              <a:gd name="connsiteY85" fmla="*/ 1886494 h 3482342"/>
              <a:gd name="connsiteX86" fmla="*/ 6702779 w 12192000"/>
              <a:gd name="connsiteY86" fmla="*/ 1893601 h 3482342"/>
              <a:gd name="connsiteX87" fmla="*/ 6686657 w 12192000"/>
              <a:gd name="connsiteY87" fmla="*/ 1907344 h 3482342"/>
              <a:gd name="connsiteX88" fmla="*/ 6651330 w 12192000"/>
              <a:gd name="connsiteY88" fmla="*/ 1922921 h 3482342"/>
              <a:gd name="connsiteX89" fmla="*/ 6622958 w 12192000"/>
              <a:gd name="connsiteY89" fmla="*/ 1936255 h 3482342"/>
              <a:gd name="connsiteX90" fmla="*/ 6522602 w 12192000"/>
              <a:gd name="connsiteY90" fmla="*/ 1954133 h 3482342"/>
              <a:gd name="connsiteX91" fmla="*/ 6444344 w 12192000"/>
              <a:gd name="connsiteY91" fmla="*/ 1969663 h 3482342"/>
              <a:gd name="connsiteX92" fmla="*/ 6409626 w 12192000"/>
              <a:gd name="connsiteY92" fmla="*/ 1978846 h 3482342"/>
              <a:gd name="connsiteX93" fmla="*/ 6333446 w 12192000"/>
              <a:gd name="connsiteY93" fmla="*/ 1997163 h 3482342"/>
              <a:gd name="connsiteX94" fmla="*/ 6294933 w 12192000"/>
              <a:gd name="connsiteY94" fmla="*/ 2019412 h 3482342"/>
              <a:gd name="connsiteX95" fmla="*/ 6238719 w 12192000"/>
              <a:gd name="connsiteY95" fmla="*/ 2042547 h 3482342"/>
              <a:gd name="connsiteX96" fmla="*/ 6187205 w 12192000"/>
              <a:gd name="connsiteY96" fmla="*/ 2060048 h 3482342"/>
              <a:gd name="connsiteX97" fmla="*/ 6138780 w 12192000"/>
              <a:gd name="connsiteY97" fmla="*/ 2081918 h 3482342"/>
              <a:gd name="connsiteX98" fmla="*/ 6120125 w 12192000"/>
              <a:gd name="connsiteY98" fmla="*/ 2109475 h 3482342"/>
              <a:gd name="connsiteX99" fmla="*/ 6056576 w 12192000"/>
              <a:gd name="connsiteY99" fmla="*/ 2120066 h 3482342"/>
              <a:gd name="connsiteX100" fmla="*/ 5993794 w 12192000"/>
              <a:gd name="connsiteY100" fmla="*/ 2122569 h 3482342"/>
              <a:gd name="connsiteX101" fmla="*/ 5943601 w 12192000"/>
              <a:gd name="connsiteY101" fmla="*/ 2137719 h 3482342"/>
              <a:gd name="connsiteX102" fmla="*/ 5898141 w 12192000"/>
              <a:gd name="connsiteY102" fmla="*/ 2144806 h 3482342"/>
              <a:gd name="connsiteX103" fmla="*/ 5855337 w 12192000"/>
              <a:gd name="connsiteY103" fmla="*/ 2137719 h 3482342"/>
              <a:gd name="connsiteX104" fmla="*/ 5817682 w 12192000"/>
              <a:gd name="connsiteY104" fmla="*/ 2157358 h 3482342"/>
              <a:gd name="connsiteX105" fmla="*/ 5735300 w 12192000"/>
              <a:gd name="connsiteY105" fmla="*/ 2158902 h 3482342"/>
              <a:gd name="connsiteX106" fmla="*/ 5591469 w 12192000"/>
              <a:gd name="connsiteY106" fmla="*/ 2178389 h 3482342"/>
              <a:gd name="connsiteX107" fmla="*/ 5505818 w 12192000"/>
              <a:gd name="connsiteY107" fmla="*/ 2194207 h 3482342"/>
              <a:gd name="connsiteX108" fmla="*/ 5452860 w 12192000"/>
              <a:gd name="connsiteY108" fmla="*/ 2180085 h 3482342"/>
              <a:gd name="connsiteX109" fmla="*/ 5414282 w 12192000"/>
              <a:gd name="connsiteY109" fmla="*/ 2183070 h 3482342"/>
              <a:gd name="connsiteX110" fmla="*/ 5368369 w 12192000"/>
              <a:gd name="connsiteY110" fmla="*/ 2204272 h 3482342"/>
              <a:gd name="connsiteX111" fmla="*/ 5336354 w 12192000"/>
              <a:gd name="connsiteY111" fmla="*/ 2218920 h 3482342"/>
              <a:gd name="connsiteX112" fmla="*/ 5291263 w 12192000"/>
              <a:gd name="connsiteY112" fmla="*/ 2239182 h 3482342"/>
              <a:gd name="connsiteX113" fmla="*/ 5255152 w 12192000"/>
              <a:gd name="connsiteY113" fmla="*/ 2247164 h 3482342"/>
              <a:gd name="connsiteX114" fmla="*/ 5233796 w 12192000"/>
              <a:gd name="connsiteY114" fmla="*/ 2268260 h 3482342"/>
              <a:gd name="connsiteX115" fmla="*/ 5212786 w 12192000"/>
              <a:gd name="connsiteY115" fmla="*/ 2296592 h 3482342"/>
              <a:gd name="connsiteX116" fmla="*/ 5173523 w 12192000"/>
              <a:gd name="connsiteY116" fmla="*/ 2309057 h 3482342"/>
              <a:gd name="connsiteX117" fmla="*/ 5123830 w 12192000"/>
              <a:gd name="connsiteY117" fmla="*/ 2307070 h 3482342"/>
              <a:gd name="connsiteX118" fmla="*/ 5065426 w 12192000"/>
              <a:gd name="connsiteY118" fmla="*/ 2324076 h 3482342"/>
              <a:gd name="connsiteX119" fmla="*/ 4975908 w 12192000"/>
              <a:gd name="connsiteY119" fmla="*/ 2364128 h 3482342"/>
              <a:gd name="connsiteX120" fmla="*/ 4913723 w 12192000"/>
              <a:gd name="connsiteY120" fmla="*/ 2385265 h 3482342"/>
              <a:gd name="connsiteX121" fmla="*/ 4746485 w 12192000"/>
              <a:gd name="connsiteY121" fmla="*/ 2451769 h 3482342"/>
              <a:gd name="connsiteX122" fmla="*/ 4681588 w 12192000"/>
              <a:gd name="connsiteY122" fmla="*/ 2467494 h 3482342"/>
              <a:gd name="connsiteX123" fmla="*/ 1783655 w 12192000"/>
              <a:gd name="connsiteY123" fmla="*/ 3163860 h 3482342"/>
              <a:gd name="connsiteX124" fmla="*/ 1325955 w 12192000"/>
              <a:gd name="connsiteY124" fmla="*/ 3176692 h 3482342"/>
              <a:gd name="connsiteX125" fmla="*/ 1190384 w 12192000"/>
              <a:gd name="connsiteY125" fmla="*/ 3203504 h 3482342"/>
              <a:gd name="connsiteX126" fmla="*/ 1094537 w 12192000"/>
              <a:gd name="connsiteY126" fmla="*/ 3229469 h 3482342"/>
              <a:gd name="connsiteX127" fmla="*/ 779276 w 12192000"/>
              <a:gd name="connsiteY127" fmla="*/ 3327290 h 3482342"/>
              <a:gd name="connsiteX128" fmla="*/ 600378 w 12192000"/>
              <a:gd name="connsiteY128" fmla="*/ 3335250 h 3482342"/>
              <a:gd name="connsiteX129" fmla="*/ 493457 w 12192000"/>
              <a:gd name="connsiteY129" fmla="*/ 3365044 h 3482342"/>
              <a:gd name="connsiteX130" fmla="*/ 349402 w 12192000"/>
              <a:gd name="connsiteY130" fmla="*/ 3380897 h 3482342"/>
              <a:gd name="connsiteX131" fmla="*/ 192183 w 12192000"/>
              <a:gd name="connsiteY131" fmla="*/ 3460075 h 3482342"/>
              <a:gd name="connsiteX132" fmla="*/ 46713 w 12192000"/>
              <a:gd name="connsiteY132" fmla="*/ 3462986 h 3482342"/>
              <a:gd name="connsiteX133" fmla="*/ 2765 w 12192000"/>
              <a:gd name="connsiteY133" fmla="*/ 3480770 h 3482342"/>
              <a:gd name="connsiteX134" fmla="*/ 0 w 12192000"/>
              <a:gd name="connsiteY134" fmla="*/ 3482342 h 3482342"/>
              <a:gd name="connsiteX135" fmla="*/ 0 w 12192000"/>
              <a:gd name="connsiteY13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601229 w 12192000"/>
              <a:gd name="connsiteY15" fmla="*/ 785537 h 3482342"/>
              <a:gd name="connsiteX16" fmla="*/ 11501920 w 12192000"/>
              <a:gd name="connsiteY16" fmla="*/ 813109 h 3482342"/>
              <a:gd name="connsiteX17" fmla="*/ 11405286 w 12192000"/>
              <a:gd name="connsiteY17" fmla="*/ 849086 h 3482342"/>
              <a:gd name="connsiteX18" fmla="*/ 11338523 w 12192000"/>
              <a:gd name="connsiteY18" fmla="*/ 852810 h 3482342"/>
              <a:gd name="connsiteX19" fmla="*/ 11313493 w 12192000"/>
              <a:gd name="connsiteY19" fmla="*/ 880860 h 3482342"/>
              <a:gd name="connsiteX20" fmla="*/ 11228040 w 12192000"/>
              <a:gd name="connsiteY20" fmla="*/ 958953 h 3482342"/>
              <a:gd name="connsiteX21" fmla="*/ 11196987 w 12192000"/>
              <a:gd name="connsiteY21" fmla="*/ 1000897 h 3482342"/>
              <a:gd name="connsiteX22" fmla="*/ 11193568 w 12192000"/>
              <a:gd name="connsiteY22" fmla="*/ 1039464 h 3482342"/>
              <a:gd name="connsiteX23" fmla="*/ 11175804 w 12192000"/>
              <a:gd name="connsiteY23" fmla="*/ 1067977 h 3482342"/>
              <a:gd name="connsiteX24" fmla="*/ 11133438 w 12192000"/>
              <a:gd name="connsiteY24" fmla="*/ 1106812 h 3482342"/>
              <a:gd name="connsiteX25" fmla="*/ 11120819 w 12192000"/>
              <a:gd name="connsiteY25" fmla="*/ 1126133 h 3482342"/>
              <a:gd name="connsiteX26" fmla="*/ 11071654 w 12192000"/>
              <a:gd name="connsiteY26" fmla="*/ 1177422 h 3482342"/>
              <a:gd name="connsiteX27" fmla="*/ 11028687 w 12192000"/>
              <a:gd name="connsiteY27" fmla="*/ 1199018 h 3482342"/>
              <a:gd name="connsiteX28" fmla="*/ 10974565 w 12192000"/>
              <a:gd name="connsiteY28" fmla="*/ 1226849 h 3482342"/>
              <a:gd name="connsiteX29" fmla="*/ 10960443 w 12192000"/>
              <a:gd name="connsiteY29" fmla="*/ 1244502 h 3482342"/>
              <a:gd name="connsiteX30" fmla="*/ 10879242 w 12192000"/>
              <a:gd name="connsiteY30" fmla="*/ 1269215 h 3482342"/>
              <a:gd name="connsiteX31" fmla="*/ 10850998 w 12192000"/>
              <a:gd name="connsiteY31" fmla="*/ 1269215 h 3482342"/>
              <a:gd name="connsiteX32" fmla="*/ 10815658 w 12192000"/>
              <a:gd name="connsiteY32" fmla="*/ 1287849 h 3482342"/>
              <a:gd name="connsiteX33" fmla="*/ 10723900 w 12192000"/>
              <a:gd name="connsiteY33" fmla="*/ 1318642 h 3482342"/>
              <a:gd name="connsiteX34" fmla="*/ 10699186 w 12192000"/>
              <a:gd name="connsiteY34" fmla="*/ 1322173 h 3482342"/>
              <a:gd name="connsiteX35" fmla="*/ 10676375 w 12192000"/>
              <a:gd name="connsiteY35" fmla="*/ 1342640 h 3482342"/>
              <a:gd name="connsiteX36" fmla="*/ 10636304 w 12192000"/>
              <a:gd name="connsiteY36" fmla="*/ 1342641 h 3482342"/>
              <a:gd name="connsiteX37" fmla="*/ 10603863 w 12192000"/>
              <a:gd name="connsiteY37" fmla="*/ 1346886 h 3482342"/>
              <a:gd name="connsiteX38" fmla="*/ 10573203 w 12192000"/>
              <a:gd name="connsiteY38" fmla="*/ 1351996 h 3482342"/>
              <a:gd name="connsiteX39" fmla="*/ 10547375 w 12192000"/>
              <a:gd name="connsiteY39" fmla="*/ 1375130 h 3482342"/>
              <a:gd name="connsiteX40" fmla="*/ 10513263 w 12192000"/>
              <a:gd name="connsiteY40" fmla="*/ 1371939 h 3482342"/>
              <a:gd name="connsiteX41" fmla="*/ 10487356 w 12192000"/>
              <a:gd name="connsiteY41" fmla="*/ 1385722 h 3482342"/>
              <a:gd name="connsiteX42" fmla="*/ 10464012 w 12192000"/>
              <a:gd name="connsiteY42" fmla="*/ 1391778 h 3482342"/>
              <a:gd name="connsiteX43" fmla="*/ 10439694 w 12192000"/>
              <a:gd name="connsiteY43" fmla="*/ 1406905 h 3482342"/>
              <a:gd name="connsiteX44" fmla="*/ 10405409 w 12192000"/>
              <a:gd name="connsiteY44" fmla="*/ 1422789 h 3482342"/>
              <a:gd name="connsiteX45" fmla="*/ 10370530 w 12192000"/>
              <a:gd name="connsiteY45" fmla="*/ 1441596 h 3482342"/>
              <a:gd name="connsiteX46" fmla="*/ 10300239 w 12192000"/>
              <a:gd name="connsiteY46" fmla="*/ 1456332 h 3482342"/>
              <a:gd name="connsiteX47" fmla="*/ 10264922 w 12192000"/>
              <a:gd name="connsiteY47" fmla="*/ 1472107 h 3482342"/>
              <a:gd name="connsiteX48" fmla="*/ 10229629 w 12192000"/>
              <a:gd name="connsiteY48" fmla="*/ 1470454 h 3482342"/>
              <a:gd name="connsiteX49" fmla="*/ 10201385 w 12192000"/>
              <a:gd name="connsiteY49" fmla="*/ 1477515 h 3482342"/>
              <a:gd name="connsiteX50" fmla="*/ 10151958 w 12192000"/>
              <a:gd name="connsiteY50" fmla="*/ 1477515 h 3482342"/>
              <a:gd name="connsiteX51" fmla="*/ 10120184 w 12192000"/>
              <a:gd name="connsiteY51" fmla="*/ 1466924 h 3482342"/>
              <a:gd name="connsiteX52" fmla="*/ 10081348 w 12192000"/>
              <a:gd name="connsiteY52" fmla="*/ 1481046 h 3482342"/>
              <a:gd name="connsiteX53" fmla="*/ 10058690 w 12192000"/>
              <a:gd name="connsiteY53" fmla="*/ 1474888 h 3482342"/>
              <a:gd name="connsiteX54" fmla="*/ 10004424 w 12192000"/>
              <a:gd name="connsiteY54" fmla="*/ 1489801 h 3482342"/>
              <a:gd name="connsiteX55" fmla="*/ 9999951 w 12192000"/>
              <a:gd name="connsiteY55" fmla="*/ 1499127 h 3482342"/>
              <a:gd name="connsiteX56" fmla="*/ 9845462 w 12192000"/>
              <a:gd name="connsiteY56" fmla="*/ 1548192 h 3482342"/>
              <a:gd name="connsiteX57" fmla="*/ 9736156 w 12192000"/>
              <a:gd name="connsiteY57" fmla="*/ 1581928 h 3482342"/>
              <a:gd name="connsiteX58" fmla="*/ 9693355 w 12192000"/>
              <a:gd name="connsiteY58" fmla="*/ 1602632 h 3482342"/>
              <a:gd name="connsiteX59" fmla="*/ 9664242 w 12192000"/>
              <a:gd name="connsiteY59" fmla="*/ 1622075 h 3482342"/>
              <a:gd name="connsiteX60" fmla="*/ 9579195 w 12192000"/>
              <a:gd name="connsiteY60" fmla="*/ 1648017 h 3482342"/>
              <a:gd name="connsiteX61" fmla="*/ 9433652 w 12192000"/>
              <a:gd name="connsiteY61" fmla="*/ 1681174 h 3482342"/>
              <a:gd name="connsiteX62" fmla="*/ 9403775 w 12192000"/>
              <a:gd name="connsiteY62" fmla="*/ 1690403 h 3482342"/>
              <a:gd name="connsiteX63" fmla="*/ 9382503 w 12192000"/>
              <a:gd name="connsiteY63" fmla="*/ 1706957 h 3482342"/>
              <a:gd name="connsiteX64" fmla="*/ 9381410 w 12192000"/>
              <a:gd name="connsiteY64" fmla="*/ 1718312 h 3482342"/>
              <a:gd name="connsiteX65" fmla="*/ 9365685 w 12192000"/>
              <a:gd name="connsiteY65" fmla="*/ 1724772 h 3482342"/>
              <a:gd name="connsiteX66" fmla="*/ 9278020 w 12192000"/>
              <a:gd name="connsiteY66" fmla="*/ 1741161 h 3482342"/>
              <a:gd name="connsiteX67" fmla="*/ 9217145 w 12192000"/>
              <a:gd name="connsiteY67" fmla="*/ 1771195 h 3482342"/>
              <a:gd name="connsiteX68" fmla="*/ 8955875 w 12192000"/>
              <a:gd name="connsiteY68" fmla="*/ 1796806 h 3482342"/>
              <a:gd name="connsiteX69" fmla="*/ 8648415 w 12192000"/>
              <a:gd name="connsiteY69" fmla="*/ 1878623 h 3482342"/>
              <a:gd name="connsiteX70" fmla="*/ 8538519 w 12192000"/>
              <a:gd name="connsiteY70" fmla="*/ 1894114 h 3482342"/>
              <a:gd name="connsiteX71" fmla="*/ 8506541 w 12192000"/>
              <a:gd name="connsiteY71" fmla="*/ 1905955 h 3482342"/>
              <a:gd name="connsiteX72" fmla="*/ 8236214 w 12192000"/>
              <a:gd name="connsiteY72" fmla="*/ 1909725 h 3482342"/>
              <a:gd name="connsiteX73" fmla="*/ 8132104 w 12192000"/>
              <a:gd name="connsiteY73" fmla="*/ 1895727 h 3482342"/>
              <a:gd name="connsiteX74" fmla="*/ 7918078 w 12192000"/>
              <a:gd name="connsiteY74" fmla="*/ 1862668 h 3482342"/>
              <a:gd name="connsiteX75" fmla="*/ 7817899 w 12192000"/>
              <a:gd name="connsiteY75" fmla="*/ 1862176 h 3482342"/>
              <a:gd name="connsiteX76" fmla="*/ 7768994 w 12192000"/>
              <a:gd name="connsiteY76" fmla="*/ 1855721 h 3482342"/>
              <a:gd name="connsiteX77" fmla="*/ 7618027 w 12192000"/>
              <a:gd name="connsiteY77" fmla="*/ 1830959 h 3482342"/>
              <a:gd name="connsiteX78" fmla="*/ 7449425 w 12192000"/>
              <a:gd name="connsiteY78" fmla="*/ 1810910 h 3482342"/>
              <a:gd name="connsiteX79" fmla="*/ 7342915 w 12192000"/>
              <a:gd name="connsiteY79" fmla="*/ 1819827 h 3482342"/>
              <a:gd name="connsiteX80" fmla="*/ 7255191 w 12192000"/>
              <a:gd name="connsiteY80" fmla="*/ 1834354 h 3482342"/>
              <a:gd name="connsiteX81" fmla="*/ 7131205 w 12192000"/>
              <a:gd name="connsiteY81" fmla="*/ 1845557 h 3482342"/>
              <a:gd name="connsiteX82" fmla="*/ 6941837 w 12192000"/>
              <a:gd name="connsiteY82" fmla="*/ 1840640 h 3482342"/>
              <a:gd name="connsiteX83" fmla="*/ 6837145 w 12192000"/>
              <a:gd name="connsiteY83" fmla="*/ 1870724 h 3482342"/>
              <a:gd name="connsiteX84" fmla="*/ 6753991 w 12192000"/>
              <a:gd name="connsiteY84" fmla="*/ 1860969 h 3482342"/>
              <a:gd name="connsiteX85" fmla="*/ 6727754 w 12192000"/>
              <a:gd name="connsiteY85" fmla="*/ 1882372 h 3482342"/>
              <a:gd name="connsiteX86" fmla="*/ 6723371 w 12192000"/>
              <a:gd name="connsiteY86" fmla="*/ 1886494 h 3482342"/>
              <a:gd name="connsiteX87" fmla="*/ 6702779 w 12192000"/>
              <a:gd name="connsiteY87" fmla="*/ 1893601 h 3482342"/>
              <a:gd name="connsiteX88" fmla="*/ 6686657 w 12192000"/>
              <a:gd name="connsiteY88" fmla="*/ 1907344 h 3482342"/>
              <a:gd name="connsiteX89" fmla="*/ 6651330 w 12192000"/>
              <a:gd name="connsiteY89" fmla="*/ 1922921 h 3482342"/>
              <a:gd name="connsiteX90" fmla="*/ 6622958 w 12192000"/>
              <a:gd name="connsiteY90" fmla="*/ 1936255 h 3482342"/>
              <a:gd name="connsiteX91" fmla="*/ 6522602 w 12192000"/>
              <a:gd name="connsiteY91" fmla="*/ 1954133 h 3482342"/>
              <a:gd name="connsiteX92" fmla="*/ 6444344 w 12192000"/>
              <a:gd name="connsiteY92" fmla="*/ 1969663 h 3482342"/>
              <a:gd name="connsiteX93" fmla="*/ 6409626 w 12192000"/>
              <a:gd name="connsiteY93" fmla="*/ 1978846 h 3482342"/>
              <a:gd name="connsiteX94" fmla="*/ 6333446 w 12192000"/>
              <a:gd name="connsiteY94" fmla="*/ 1997163 h 3482342"/>
              <a:gd name="connsiteX95" fmla="*/ 6294933 w 12192000"/>
              <a:gd name="connsiteY95" fmla="*/ 2019412 h 3482342"/>
              <a:gd name="connsiteX96" fmla="*/ 6238719 w 12192000"/>
              <a:gd name="connsiteY96" fmla="*/ 2042547 h 3482342"/>
              <a:gd name="connsiteX97" fmla="*/ 6187205 w 12192000"/>
              <a:gd name="connsiteY97" fmla="*/ 2060048 h 3482342"/>
              <a:gd name="connsiteX98" fmla="*/ 6138780 w 12192000"/>
              <a:gd name="connsiteY98" fmla="*/ 2081918 h 3482342"/>
              <a:gd name="connsiteX99" fmla="*/ 6120125 w 12192000"/>
              <a:gd name="connsiteY99" fmla="*/ 2109475 h 3482342"/>
              <a:gd name="connsiteX100" fmla="*/ 6056576 w 12192000"/>
              <a:gd name="connsiteY100" fmla="*/ 2120066 h 3482342"/>
              <a:gd name="connsiteX101" fmla="*/ 5993794 w 12192000"/>
              <a:gd name="connsiteY101" fmla="*/ 2122569 h 3482342"/>
              <a:gd name="connsiteX102" fmla="*/ 5943601 w 12192000"/>
              <a:gd name="connsiteY102" fmla="*/ 2137719 h 3482342"/>
              <a:gd name="connsiteX103" fmla="*/ 5898141 w 12192000"/>
              <a:gd name="connsiteY103" fmla="*/ 2144806 h 3482342"/>
              <a:gd name="connsiteX104" fmla="*/ 5855337 w 12192000"/>
              <a:gd name="connsiteY104" fmla="*/ 2137719 h 3482342"/>
              <a:gd name="connsiteX105" fmla="*/ 5817682 w 12192000"/>
              <a:gd name="connsiteY105" fmla="*/ 2157358 h 3482342"/>
              <a:gd name="connsiteX106" fmla="*/ 5735300 w 12192000"/>
              <a:gd name="connsiteY106" fmla="*/ 2158902 h 3482342"/>
              <a:gd name="connsiteX107" fmla="*/ 5591469 w 12192000"/>
              <a:gd name="connsiteY107" fmla="*/ 2178389 h 3482342"/>
              <a:gd name="connsiteX108" fmla="*/ 5505818 w 12192000"/>
              <a:gd name="connsiteY108" fmla="*/ 2194207 h 3482342"/>
              <a:gd name="connsiteX109" fmla="*/ 5452860 w 12192000"/>
              <a:gd name="connsiteY109" fmla="*/ 2180085 h 3482342"/>
              <a:gd name="connsiteX110" fmla="*/ 5414282 w 12192000"/>
              <a:gd name="connsiteY110" fmla="*/ 2183070 h 3482342"/>
              <a:gd name="connsiteX111" fmla="*/ 5368369 w 12192000"/>
              <a:gd name="connsiteY111" fmla="*/ 2204272 h 3482342"/>
              <a:gd name="connsiteX112" fmla="*/ 5336354 w 12192000"/>
              <a:gd name="connsiteY112" fmla="*/ 2218920 h 3482342"/>
              <a:gd name="connsiteX113" fmla="*/ 5291263 w 12192000"/>
              <a:gd name="connsiteY113" fmla="*/ 2239182 h 3482342"/>
              <a:gd name="connsiteX114" fmla="*/ 5255152 w 12192000"/>
              <a:gd name="connsiteY114" fmla="*/ 2247164 h 3482342"/>
              <a:gd name="connsiteX115" fmla="*/ 5233796 w 12192000"/>
              <a:gd name="connsiteY115" fmla="*/ 2268260 h 3482342"/>
              <a:gd name="connsiteX116" fmla="*/ 5212786 w 12192000"/>
              <a:gd name="connsiteY116" fmla="*/ 2296592 h 3482342"/>
              <a:gd name="connsiteX117" fmla="*/ 5173523 w 12192000"/>
              <a:gd name="connsiteY117" fmla="*/ 2309057 h 3482342"/>
              <a:gd name="connsiteX118" fmla="*/ 5123830 w 12192000"/>
              <a:gd name="connsiteY118" fmla="*/ 2307070 h 3482342"/>
              <a:gd name="connsiteX119" fmla="*/ 5065426 w 12192000"/>
              <a:gd name="connsiteY119" fmla="*/ 2324076 h 3482342"/>
              <a:gd name="connsiteX120" fmla="*/ 4975908 w 12192000"/>
              <a:gd name="connsiteY120" fmla="*/ 2364128 h 3482342"/>
              <a:gd name="connsiteX121" fmla="*/ 4913723 w 12192000"/>
              <a:gd name="connsiteY121" fmla="*/ 2385265 h 3482342"/>
              <a:gd name="connsiteX122" fmla="*/ 4746485 w 12192000"/>
              <a:gd name="connsiteY122" fmla="*/ 2451769 h 3482342"/>
              <a:gd name="connsiteX123" fmla="*/ 4681588 w 12192000"/>
              <a:gd name="connsiteY123" fmla="*/ 2467494 h 3482342"/>
              <a:gd name="connsiteX124" fmla="*/ 1783655 w 12192000"/>
              <a:gd name="connsiteY124" fmla="*/ 3163860 h 3482342"/>
              <a:gd name="connsiteX125" fmla="*/ 1325955 w 12192000"/>
              <a:gd name="connsiteY125" fmla="*/ 3176692 h 3482342"/>
              <a:gd name="connsiteX126" fmla="*/ 1190384 w 12192000"/>
              <a:gd name="connsiteY126" fmla="*/ 3203504 h 3482342"/>
              <a:gd name="connsiteX127" fmla="*/ 1094537 w 12192000"/>
              <a:gd name="connsiteY127" fmla="*/ 3229469 h 3482342"/>
              <a:gd name="connsiteX128" fmla="*/ 779276 w 12192000"/>
              <a:gd name="connsiteY128" fmla="*/ 3327290 h 3482342"/>
              <a:gd name="connsiteX129" fmla="*/ 600378 w 12192000"/>
              <a:gd name="connsiteY129" fmla="*/ 3335250 h 3482342"/>
              <a:gd name="connsiteX130" fmla="*/ 493457 w 12192000"/>
              <a:gd name="connsiteY130" fmla="*/ 3365044 h 3482342"/>
              <a:gd name="connsiteX131" fmla="*/ 349402 w 12192000"/>
              <a:gd name="connsiteY131" fmla="*/ 3380897 h 3482342"/>
              <a:gd name="connsiteX132" fmla="*/ 192183 w 12192000"/>
              <a:gd name="connsiteY132" fmla="*/ 3460075 h 3482342"/>
              <a:gd name="connsiteX133" fmla="*/ 46713 w 12192000"/>
              <a:gd name="connsiteY133" fmla="*/ 3462986 h 3482342"/>
              <a:gd name="connsiteX134" fmla="*/ 2765 w 12192000"/>
              <a:gd name="connsiteY134" fmla="*/ 3480770 h 3482342"/>
              <a:gd name="connsiteX135" fmla="*/ 0 w 12192000"/>
              <a:gd name="connsiteY135" fmla="*/ 3482342 h 3482342"/>
              <a:gd name="connsiteX136" fmla="*/ 0 w 12192000"/>
              <a:gd name="connsiteY13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7717 w 12192000"/>
              <a:gd name="connsiteY14" fmla="*/ 746701 h 3482342"/>
              <a:gd name="connsiteX15" fmla="*/ 11656818 w 12192000"/>
              <a:gd name="connsiteY15" fmla="*/ 769062 h 3482342"/>
              <a:gd name="connsiteX16" fmla="*/ 11601229 w 12192000"/>
              <a:gd name="connsiteY16" fmla="*/ 785537 h 3482342"/>
              <a:gd name="connsiteX17" fmla="*/ 11501920 w 12192000"/>
              <a:gd name="connsiteY17" fmla="*/ 813109 h 3482342"/>
              <a:gd name="connsiteX18" fmla="*/ 11405286 w 12192000"/>
              <a:gd name="connsiteY18" fmla="*/ 849086 h 3482342"/>
              <a:gd name="connsiteX19" fmla="*/ 11338523 w 12192000"/>
              <a:gd name="connsiteY19" fmla="*/ 852810 h 3482342"/>
              <a:gd name="connsiteX20" fmla="*/ 11313493 w 12192000"/>
              <a:gd name="connsiteY20" fmla="*/ 880860 h 3482342"/>
              <a:gd name="connsiteX21" fmla="*/ 11228040 w 12192000"/>
              <a:gd name="connsiteY21" fmla="*/ 958953 h 3482342"/>
              <a:gd name="connsiteX22" fmla="*/ 11196987 w 12192000"/>
              <a:gd name="connsiteY22" fmla="*/ 1000897 h 3482342"/>
              <a:gd name="connsiteX23" fmla="*/ 11193568 w 12192000"/>
              <a:gd name="connsiteY23" fmla="*/ 1039464 h 3482342"/>
              <a:gd name="connsiteX24" fmla="*/ 11175804 w 12192000"/>
              <a:gd name="connsiteY24" fmla="*/ 1067977 h 3482342"/>
              <a:gd name="connsiteX25" fmla="*/ 11133438 w 12192000"/>
              <a:gd name="connsiteY25" fmla="*/ 1106812 h 3482342"/>
              <a:gd name="connsiteX26" fmla="*/ 11120819 w 12192000"/>
              <a:gd name="connsiteY26" fmla="*/ 1126133 h 3482342"/>
              <a:gd name="connsiteX27" fmla="*/ 11071654 w 12192000"/>
              <a:gd name="connsiteY27" fmla="*/ 1177422 h 3482342"/>
              <a:gd name="connsiteX28" fmla="*/ 11028687 w 12192000"/>
              <a:gd name="connsiteY28" fmla="*/ 1199018 h 3482342"/>
              <a:gd name="connsiteX29" fmla="*/ 10974565 w 12192000"/>
              <a:gd name="connsiteY29" fmla="*/ 1226849 h 3482342"/>
              <a:gd name="connsiteX30" fmla="*/ 10960443 w 12192000"/>
              <a:gd name="connsiteY30" fmla="*/ 1244502 h 3482342"/>
              <a:gd name="connsiteX31" fmla="*/ 10879242 w 12192000"/>
              <a:gd name="connsiteY31" fmla="*/ 1269215 h 3482342"/>
              <a:gd name="connsiteX32" fmla="*/ 10850998 w 12192000"/>
              <a:gd name="connsiteY32" fmla="*/ 1269215 h 3482342"/>
              <a:gd name="connsiteX33" fmla="*/ 10815658 w 12192000"/>
              <a:gd name="connsiteY33" fmla="*/ 1287849 h 3482342"/>
              <a:gd name="connsiteX34" fmla="*/ 10723900 w 12192000"/>
              <a:gd name="connsiteY34" fmla="*/ 1318642 h 3482342"/>
              <a:gd name="connsiteX35" fmla="*/ 10699186 w 12192000"/>
              <a:gd name="connsiteY35" fmla="*/ 1322173 h 3482342"/>
              <a:gd name="connsiteX36" fmla="*/ 10676375 w 12192000"/>
              <a:gd name="connsiteY36" fmla="*/ 1342640 h 3482342"/>
              <a:gd name="connsiteX37" fmla="*/ 10636304 w 12192000"/>
              <a:gd name="connsiteY37" fmla="*/ 1342641 h 3482342"/>
              <a:gd name="connsiteX38" fmla="*/ 10603863 w 12192000"/>
              <a:gd name="connsiteY38" fmla="*/ 1346886 h 3482342"/>
              <a:gd name="connsiteX39" fmla="*/ 10573203 w 12192000"/>
              <a:gd name="connsiteY39" fmla="*/ 1351996 h 3482342"/>
              <a:gd name="connsiteX40" fmla="*/ 10547375 w 12192000"/>
              <a:gd name="connsiteY40" fmla="*/ 1375130 h 3482342"/>
              <a:gd name="connsiteX41" fmla="*/ 10513263 w 12192000"/>
              <a:gd name="connsiteY41" fmla="*/ 1371939 h 3482342"/>
              <a:gd name="connsiteX42" fmla="*/ 10487356 w 12192000"/>
              <a:gd name="connsiteY42" fmla="*/ 1385722 h 3482342"/>
              <a:gd name="connsiteX43" fmla="*/ 10464012 w 12192000"/>
              <a:gd name="connsiteY43" fmla="*/ 1391778 h 3482342"/>
              <a:gd name="connsiteX44" fmla="*/ 10439694 w 12192000"/>
              <a:gd name="connsiteY44" fmla="*/ 1406905 h 3482342"/>
              <a:gd name="connsiteX45" fmla="*/ 10405409 w 12192000"/>
              <a:gd name="connsiteY45" fmla="*/ 1422789 h 3482342"/>
              <a:gd name="connsiteX46" fmla="*/ 10370530 w 12192000"/>
              <a:gd name="connsiteY46" fmla="*/ 1441596 h 3482342"/>
              <a:gd name="connsiteX47" fmla="*/ 10300239 w 12192000"/>
              <a:gd name="connsiteY47" fmla="*/ 1456332 h 3482342"/>
              <a:gd name="connsiteX48" fmla="*/ 10264922 w 12192000"/>
              <a:gd name="connsiteY48" fmla="*/ 1472107 h 3482342"/>
              <a:gd name="connsiteX49" fmla="*/ 10229629 w 12192000"/>
              <a:gd name="connsiteY49" fmla="*/ 1470454 h 3482342"/>
              <a:gd name="connsiteX50" fmla="*/ 10201385 w 12192000"/>
              <a:gd name="connsiteY50" fmla="*/ 1477515 h 3482342"/>
              <a:gd name="connsiteX51" fmla="*/ 10151958 w 12192000"/>
              <a:gd name="connsiteY51" fmla="*/ 1477515 h 3482342"/>
              <a:gd name="connsiteX52" fmla="*/ 10120184 w 12192000"/>
              <a:gd name="connsiteY52" fmla="*/ 1466924 h 3482342"/>
              <a:gd name="connsiteX53" fmla="*/ 10081348 w 12192000"/>
              <a:gd name="connsiteY53" fmla="*/ 1481046 h 3482342"/>
              <a:gd name="connsiteX54" fmla="*/ 10058690 w 12192000"/>
              <a:gd name="connsiteY54" fmla="*/ 1474888 h 3482342"/>
              <a:gd name="connsiteX55" fmla="*/ 10004424 w 12192000"/>
              <a:gd name="connsiteY55" fmla="*/ 1489801 h 3482342"/>
              <a:gd name="connsiteX56" fmla="*/ 9999951 w 12192000"/>
              <a:gd name="connsiteY56" fmla="*/ 1499127 h 3482342"/>
              <a:gd name="connsiteX57" fmla="*/ 9845462 w 12192000"/>
              <a:gd name="connsiteY57" fmla="*/ 1548192 h 3482342"/>
              <a:gd name="connsiteX58" fmla="*/ 9736156 w 12192000"/>
              <a:gd name="connsiteY58" fmla="*/ 1581928 h 3482342"/>
              <a:gd name="connsiteX59" fmla="*/ 9693355 w 12192000"/>
              <a:gd name="connsiteY59" fmla="*/ 1602632 h 3482342"/>
              <a:gd name="connsiteX60" fmla="*/ 9664242 w 12192000"/>
              <a:gd name="connsiteY60" fmla="*/ 1622075 h 3482342"/>
              <a:gd name="connsiteX61" fmla="*/ 9579195 w 12192000"/>
              <a:gd name="connsiteY61" fmla="*/ 1648017 h 3482342"/>
              <a:gd name="connsiteX62" fmla="*/ 9433652 w 12192000"/>
              <a:gd name="connsiteY62" fmla="*/ 1681174 h 3482342"/>
              <a:gd name="connsiteX63" fmla="*/ 9403775 w 12192000"/>
              <a:gd name="connsiteY63" fmla="*/ 1690403 h 3482342"/>
              <a:gd name="connsiteX64" fmla="*/ 9382503 w 12192000"/>
              <a:gd name="connsiteY64" fmla="*/ 1706957 h 3482342"/>
              <a:gd name="connsiteX65" fmla="*/ 9381410 w 12192000"/>
              <a:gd name="connsiteY65" fmla="*/ 1718312 h 3482342"/>
              <a:gd name="connsiteX66" fmla="*/ 9365685 w 12192000"/>
              <a:gd name="connsiteY66" fmla="*/ 1724772 h 3482342"/>
              <a:gd name="connsiteX67" fmla="*/ 9278020 w 12192000"/>
              <a:gd name="connsiteY67" fmla="*/ 1741161 h 3482342"/>
              <a:gd name="connsiteX68" fmla="*/ 9217145 w 12192000"/>
              <a:gd name="connsiteY68" fmla="*/ 1771195 h 3482342"/>
              <a:gd name="connsiteX69" fmla="*/ 8955875 w 12192000"/>
              <a:gd name="connsiteY69" fmla="*/ 1796806 h 3482342"/>
              <a:gd name="connsiteX70" fmla="*/ 8648415 w 12192000"/>
              <a:gd name="connsiteY70" fmla="*/ 1878623 h 3482342"/>
              <a:gd name="connsiteX71" fmla="*/ 8538519 w 12192000"/>
              <a:gd name="connsiteY71" fmla="*/ 1894114 h 3482342"/>
              <a:gd name="connsiteX72" fmla="*/ 8506541 w 12192000"/>
              <a:gd name="connsiteY72" fmla="*/ 1905955 h 3482342"/>
              <a:gd name="connsiteX73" fmla="*/ 8236214 w 12192000"/>
              <a:gd name="connsiteY73" fmla="*/ 1909725 h 3482342"/>
              <a:gd name="connsiteX74" fmla="*/ 8132104 w 12192000"/>
              <a:gd name="connsiteY74" fmla="*/ 1895727 h 3482342"/>
              <a:gd name="connsiteX75" fmla="*/ 7918078 w 12192000"/>
              <a:gd name="connsiteY75" fmla="*/ 1862668 h 3482342"/>
              <a:gd name="connsiteX76" fmla="*/ 7817899 w 12192000"/>
              <a:gd name="connsiteY76" fmla="*/ 1862176 h 3482342"/>
              <a:gd name="connsiteX77" fmla="*/ 7768994 w 12192000"/>
              <a:gd name="connsiteY77" fmla="*/ 1855721 h 3482342"/>
              <a:gd name="connsiteX78" fmla="*/ 7618027 w 12192000"/>
              <a:gd name="connsiteY78" fmla="*/ 1830959 h 3482342"/>
              <a:gd name="connsiteX79" fmla="*/ 7449425 w 12192000"/>
              <a:gd name="connsiteY79" fmla="*/ 1810910 h 3482342"/>
              <a:gd name="connsiteX80" fmla="*/ 7342915 w 12192000"/>
              <a:gd name="connsiteY80" fmla="*/ 1819827 h 3482342"/>
              <a:gd name="connsiteX81" fmla="*/ 7255191 w 12192000"/>
              <a:gd name="connsiteY81" fmla="*/ 1834354 h 3482342"/>
              <a:gd name="connsiteX82" fmla="*/ 7131205 w 12192000"/>
              <a:gd name="connsiteY82" fmla="*/ 1845557 h 3482342"/>
              <a:gd name="connsiteX83" fmla="*/ 6941837 w 12192000"/>
              <a:gd name="connsiteY83" fmla="*/ 1840640 h 3482342"/>
              <a:gd name="connsiteX84" fmla="*/ 6837145 w 12192000"/>
              <a:gd name="connsiteY84" fmla="*/ 1870724 h 3482342"/>
              <a:gd name="connsiteX85" fmla="*/ 6753991 w 12192000"/>
              <a:gd name="connsiteY85" fmla="*/ 1860969 h 3482342"/>
              <a:gd name="connsiteX86" fmla="*/ 6727754 w 12192000"/>
              <a:gd name="connsiteY86" fmla="*/ 1882372 h 3482342"/>
              <a:gd name="connsiteX87" fmla="*/ 6723371 w 12192000"/>
              <a:gd name="connsiteY87" fmla="*/ 1886494 h 3482342"/>
              <a:gd name="connsiteX88" fmla="*/ 6702779 w 12192000"/>
              <a:gd name="connsiteY88" fmla="*/ 1893601 h 3482342"/>
              <a:gd name="connsiteX89" fmla="*/ 6686657 w 12192000"/>
              <a:gd name="connsiteY89" fmla="*/ 1907344 h 3482342"/>
              <a:gd name="connsiteX90" fmla="*/ 6651330 w 12192000"/>
              <a:gd name="connsiteY90" fmla="*/ 1922921 h 3482342"/>
              <a:gd name="connsiteX91" fmla="*/ 6622958 w 12192000"/>
              <a:gd name="connsiteY91" fmla="*/ 1936255 h 3482342"/>
              <a:gd name="connsiteX92" fmla="*/ 6522602 w 12192000"/>
              <a:gd name="connsiteY92" fmla="*/ 1954133 h 3482342"/>
              <a:gd name="connsiteX93" fmla="*/ 6444344 w 12192000"/>
              <a:gd name="connsiteY93" fmla="*/ 1969663 h 3482342"/>
              <a:gd name="connsiteX94" fmla="*/ 6409626 w 12192000"/>
              <a:gd name="connsiteY94" fmla="*/ 1978846 h 3482342"/>
              <a:gd name="connsiteX95" fmla="*/ 6333446 w 12192000"/>
              <a:gd name="connsiteY95" fmla="*/ 1997163 h 3482342"/>
              <a:gd name="connsiteX96" fmla="*/ 6294933 w 12192000"/>
              <a:gd name="connsiteY96" fmla="*/ 2019412 h 3482342"/>
              <a:gd name="connsiteX97" fmla="*/ 6238719 w 12192000"/>
              <a:gd name="connsiteY97" fmla="*/ 2042547 h 3482342"/>
              <a:gd name="connsiteX98" fmla="*/ 6187205 w 12192000"/>
              <a:gd name="connsiteY98" fmla="*/ 2060048 h 3482342"/>
              <a:gd name="connsiteX99" fmla="*/ 6138780 w 12192000"/>
              <a:gd name="connsiteY99" fmla="*/ 2081918 h 3482342"/>
              <a:gd name="connsiteX100" fmla="*/ 6120125 w 12192000"/>
              <a:gd name="connsiteY100" fmla="*/ 2109475 h 3482342"/>
              <a:gd name="connsiteX101" fmla="*/ 6056576 w 12192000"/>
              <a:gd name="connsiteY101" fmla="*/ 2120066 h 3482342"/>
              <a:gd name="connsiteX102" fmla="*/ 5993794 w 12192000"/>
              <a:gd name="connsiteY102" fmla="*/ 2122569 h 3482342"/>
              <a:gd name="connsiteX103" fmla="*/ 5943601 w 12192000"/>
              <a:gd name="connsiteY103" fmla="*/ 2137719 h 3482342"/>
              <a:gd name="connsiteX104" fmla="*/ 5898141 w 12192000"/>
              <a:gd name="connsiteY104" fmla="*/ 2144806 h 3482342"/>
              <a:gd name="connsiteX105" fmla="*/ 5855337 w 12192000"/>
              <a:gd name="connsiteY105" fmla="*/ 2137719 h 3482342"/>
              <a:gd name="connsiteX106" fmla="*/ 5817682 w 12192000"/>
              <a:gd name="connsiteY106" fmla="*/ 2157358 h 3482342"/>
              <a:gd name="connsiteX107" fmla="*/ 5735300 w 12192000"/>
              <a:gd name="connsiteY107" fmla="*/ 2158902 h 3482342"/>
              <a:gd name="connsiteX108" fmla="*/ 5591469 w 12192000"/>
              <a:gd name="connsiteY108" fmla="*/ 2178389 h 3482342"/>
              <a:gd name="connsiteX109" fmla="*/ 5505818 w 12192000"/>
              <a:gd name="connsiteY109" fmla="*/ 2194207 h 3482342"/>
              <a:gd name="connsiteX110" fmla="*/ 5452860 w 12192000"/>
              <a:gd name="connsiteY110" fmla="*/ 2180085 h 3482342"/>
              <a:gd name="connsiteX111" fmla="*/ 5414282 w 12192000"/>
              <a:gd name="connsiteY111" fmla="*/ 2183070 h 3482342"/>
              <a:gd name="connsiteX112" fmla="*/ 5368369 w 12192000"/>
              <a:gd name="connsiteY112" fmla="*/ 2204272 h 3482342"/>
              <a:gd name="connsiteX113" fmla="*/ 5336354 w 12192000"/>
              <a:gd name="connsiteY113" fmla="*/ 2218920 h 3482342"/>
              <a:gd name="connsiteX114" fmla="*/ 5291263 w 12192000"/>
              <a:gd name="connsiteY114" fmla="*/ 2239182 h 3482342"/>
              <a:gd name="connsiteX115" fmla="*/ 5255152 w 12192000"/>
              <a:gd name="connsiteY115" fmla="*/ 2247164 h 3482342"/>
              <a:gd name="connsiteX116" fmla="*/ 5233796 w 12192000"/>
              <a:gd name="connsiteY116" fmla="*/ 2268260 h 3482342"/>
              <a:gd name="connsiteX117" fmla="*/ 5212786 w 12192000"/>
              <a:gd name="connsiteY117" fmla="*/ 2296592 h 3482342"/>
              <a:gd name="connsiteX118" fmla="*/ 5173523 w 12192000"/>
              <a:gd name="connsiteY118" fmla="*/ 2309057 h 3482342"/>
              <a:gd name="connsiteX119" fmla="*/ 5123830 w 12192000"/>
              <a:gd name="connsiteY119" fmla="*/ 2307070 h 3482342"/>
              <a:gd name="connsiteX120" fmla="*/ 5065426 w 12192000"/>
              <a:gd name="connsiteY120" fmla="*/ 2324076 h 3482342"/>
              <a:gd name="connsiteX121" fmla="*/ 4975908 w 12192000"/>
              <a:gd name="connsiteY121" fmla="*/ 2364128 h 3482342"/>
              <a:gd name="connsiteX122" fmla="*/ 4913723 w 12192000"/>
              <a:gd name="connsiteY122" fmla="*/ 2385265 h 3482342"/>
              <a:gd name="connsiteX123" fmla="*/ 4746485 w 12192000"/>
              <a:gd name="connsiteY123" fmla="*/ 2451769 h 3482342"/>
              <a:gd name="connsiteX124" fmla="*/ 4681588 w 12192000"/>
              <a:gd name="connsiteY124" fmla="*/ 2467494 h 3482342"/>
              <a:gd name="connsiteX125" fmla="*/ 1783655 w 12192000"/>
              <a:gd name="connsiteY125" fmla="*/ 3163860 h 3482342"/>
              <a:gd name="connsiteX126" fmla="*/ 1325955 w 12192000"/>
              <a:gd name="connsiteY126" fmla="*/ 3176692 h 3482342"/>
              <a:gd name="connsiteX127" fmla="*/ 1190384 w 12192000"/>
              <a:gd name="connsiteY127" fmla="*/ 3203504 h 3482342"/>
              <a:gd name="connsiteX128" fmla="*/ 1094537 w 12192000"/>
              <a:gd name="connsiteY128" fmla="*/ 3229469 h 3482342"/>
              <a:gd name="connsiteX129" fmla="*/ 779276 w 12192000"/>
              <a:gd name="connsiteY129" fmla="*/ 3327290 h 3482342"/>
              <a:gd name="connsiteX130" fmla="*/ 600378 w 12192000"/>
              <a:gd name="connsiteY130" fmla="*/ 3335250 h 3482342"/>
              <a:gd name="connsiteX131" fmla="*/ 493457 w 12192000"/>
              <a:gd name="connsiteY131" fmla="*/ 3365044 h 3482342"/>
              <a:gd name="connsiteX132" fmla="*/ 349402 w 12192000"/>
              <a:gd name="connsiteY132" fmla="*/ 3380897 h 3482342"/>
              <a:gd name="connsiteX133" fmla="*/ 192183 w 12192000"/>
              <a:gd name="connsiteY133" fmla="*/ 3460075 h 3482342"/>
              <a:gd name="connsiteX134" fmla="*/ 46713 w 12192000"/>
              <a:gd name="connsiteY134" fmla="*/ 3462986 h 3482342"/>
              <a:gd name="connsiteX135" fmla="*/ 2765 w 12192000"/>
              <a:gd name="connsiteY135" fmla="*/ 3480770 h 3482342"/>
              <a:gd name="connsiteX136" fmla="*/ 0 w 12192000"/>
              <a:gd name="connsiteY136" fmla="*/ 3482342 h 3482342"/>
              <a:gd name="connsiteX137" fmla="*/ 0 w 12192000"/>
              <a:gd name="connsiteY13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13493 w 12192000"/>
              <a:gd name="connsiteY21" fmla="*/ 880860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92183 w 12192000"/>
              <a:gd name="connsiteY135" fmla="*/ 3460075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416599 w 12192000"/>
              <a:gd name="connsiteY133" fmla="*/ 3387517 h 3482342"/>
              <a:gd name="connsiteX134" fmla="*/ 349402 w 12192000"/>
              <a:gd name="connsiteY134" fmla="*/ 3380897 h 3482342"/>
              <a:gd name="connsiteX135" fmla="*/ 225952 w 12192000"/>
              <a:gd name="connsiteY135" fmla="*/ 3426352 h 3482342"/>
              <a:gd name="connsiteX136" fmla="*/ 171000 w 12192000"/>
              <a:gd name="connsiteY136" fmla="*/ 3438892 h 3482342"/>
              <a:gd name="connsiteX137" fmla="*/ 88263 w 12192000"/>
              <a:gd name="connsiteY137" fmla="*/ 3479310 h 3482342"/>
              <a:gd name="connsiteX138" fmla="*/ 46713 w 12192000"/>
              <a:gd name="connsiteY138" fmla="*/ 3462986 h 3482342"/>
              <a:gd name="connsiteX139" fmla="*/ 2765 w 12192000"/>
              <a:gd name="connsiteY139" fmla="*/ 3480770 h 3482342"/>
              <a:gd name="connsiteX140" fmla="*/ 0 w 12192000"/>
              <a:gd name="connsiteY140" fmla="*/ 3482342 h 3482342"/>
              <a:gd name="connsiteX141" fmla="*/ 0 w 12192000"/>
              <a:gd name="connsiteY14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388355 w 12192000"/>
              <a:gd name="connsiteY135" fmla="*/ 3376925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192000" h="3482342">
                <a:moveTo>
                  <a:pt x="0" y="0"/>
                </a:moveTo>
                <a:lnTo>
                  <a:pt x="12192000" y="0"/>
                </a:lnTo>
                <a:lnTo>
                  <a:pt x="12192000" y="635369"/>
                </a:lnTo>
                <a:cubicBezTo>
                  <a:pt x="12191930" y="610378"/>
                  <a:pt x="12191859" y="585387"/>
                  <a:pt x="12191789" y="560396"/>
                </a:cubicBezTo>
                <a:cubicBezTo>
                  <a:pt x="12175211" y="562678"/>
                  <a:pt x="11999606" y="644473"/>
                  <a:pt x="11983027" y="646756"/>
                </a:cubicBezTo>
                <a:cubicBezTo>
                  <a:pt x="11943442" y="661920"/>
                  <a:pt x="11950154" y="649830"/>
                  <a:pt x="11940158" y="651378"/>
                </a:cubicBezTo>
                <a:cubicBezTo>
                  <a:pt x="11930162" y="652926"/>
                  <a:pt x="11943274" y="652245"/>
                  <a:pt x="11923051" y="656045"/>
                </a:cubicBezTo>
                <a:cubicBezTo>
                  <a:pt x="11882449" y="639093"/>
                  <a:pt x="11867184" y="670845"/>
                  <a:pt x="11832939" y="674181"/>
                </a:cubicBezTo>
                <a:cubicBezTo>
                  <a:pt x="11812296" y="669845"/>
                  <a:pt x="11772988" y="668355"/>
                  <a:pt x="11767770" y="683807"/>
                </a:cubicBezTo>
                <a:cubicBezTo>
                  <a:pt x="11757314" y="685936"/>
                  <a:pt x="11743230" y="693101"/>
                  <a:pt x="11728279" y="700816"/>
                </a:cubicBezTo>
                <a:lnTo>
                  <a:pt x="11722533" y="703421"/>
                </a:lnTo>
                <a:lnTo>
                  <a:pt x="11720002" y="710566"/>
                </a:lnTo>
                <a:lnTo>
                  <a:pt x="11707351" y="710310"/>
                </a:lnTo>
                <a:lnTo>
                  <a:pt x="11700369" y="713480"/>
                </a:lnTo>
                <a:lnTo>
                  <a:pt x="11691126" y="726131"/>
                </a:lnTo>
                <a:cubicBezTo>
                  <a:pt x="11686960" y="732845"/>
                  <a:pt x="11663435" y="739546"/>
                  <a:pt x="11657717" y="746701"/>
                </a:cubicBezTo>
                <a:cubicBezTo>
                  <a:pt x="11651999" y="753856"/>
                  <a:pt x="11669175" y="763766"/>
                  <a:pt x="11656818" y="769062"/>
                </a:cubicBezTo>
                <a:cubicBezTo>
                  <a:pt x="11645954" y="777786"/>
                  <a:pt x="11627045" y="778196"/>
                  <a:pt x="11601229" y="785537"/>
                </a:cubicBezTo>
                <a:cubicBezTo>
                  <a:pt x="11575413" y="792878"/>
                  <a:pt x="11538696" y="801341"/>
                  <a:pt x="11501920" y="813109"/>
                </a:cubicBezTo>
                <a:cubicBezTo>
                  <a:pt x="11460587" y="824093"/>
                  <a:pt x="11432519" y="842469"/>
                  <a:pt x="11405286" y="849086"/>
                </a:cubicBezTo>
                <a:cubicBezTo>
                  <a:pt x="11353339" y="866295"/>
                  <a:pt x="11354410" y="845161"/>
                  <a:pt x="11338523" y="852810"/>
                </a:cubicBezTo>
                <a:cubicBezTo>
                  <a:pt x="11308884" y="863514"/>
                  <a:pt x="11353090" y="841987"/>
                  <a:pt x="11334676" y="859677"/>
                </a:cubicBezTo>
                <a:cubicBezTo>
                  <a:pt x="11295079" y="884428"/>
                  <a:pt x="11238631" y="959542"/>
                  <a:pt x="11217448" y="980136"/>
                </a:cubicBezTo>
                <a:cubicBezTo>
                  <a:pt x="11196801" y="1004817"/>
                  <a:pt x="11202732" y="987478"/>
                  <a:pt x="11196987" y="1000897"/>
                </a:cubicBezTo>
                <a:cubicBezTo>
                  <a:pt x="11191242" y="1014316"/>
                  <a:pt x="11200040" y="1028284"/>
                  <a:pt x="11193568" y="1039464"/>
                </a:cubicBezTo>
                <a:cubicBezTo>
                  <a:pt x="11181920" y="1057634"/>
                  <a:pt x="11187929" y="1053532"/>
                  <a:pt x="11175804" y="1067977"/>
                </a:cubicBezTo>
                <a:cubicBezTo>
                  <a:pt x="11168136" y="1078025"/>
                  <a:pt x="11142602" y="1097119"/>
                  <a:pt x="11133438" y="1106812"/>
                </a:cubicBezTo>
                <a:cubicBezTo>
                  <a:pt x="11124274" y="1116505"/>
                  <a:pt x="11134647" y="1114365"/>
                  <a:pt x="11120819" y="1126133"/>
                </a:cubicBezTo>
                <a:cubicBezTo>
                  <a:pt x="11106991" y="1137901"/>
                  <a:pt x="11087009" y="1165275"/>
                  <a:pt x="11071654" y="1177422"/>
                </a:cubicBezTo>
                <a:cubicBezTo>
                  <a:pt x="11056299" y="1189570"/>
                  <a:pt x="11041338" y="1190780"/>
                  <a:pt x="11028687" y="1199018"/>
                </a:cubicBezTo>
                <a:cubicBezTo>
                  <a:pt x="11006077" y="1216981"/>
                  <a:pt x="10985939" y="1219268"/>
                  <a:pt x="10974565" y="1226849"/>
                </a:cubicBezTo>
                <a:cubicBezTo>
                  <a:pt x="10963191" y="1234430"/>
                  <a:pt x="10978096" y="1238618"/>
                  <a:pt x="10960443" y="1244502"/>
                </a:cubicBezTo>
                <a:cubicBezTo>
                  <a:pt x="10937301" y="1255025"/>
                  <a:pt x="10897483" y="1265096"/>
                  <a:pt x="10879242" y="1269215"/>
                </a:cubicBezTo>
                <a:cubicBezTo>
                  <a:pt x="10861001" y="1273334"/>
                  <a:pt x="10863361" y="1264933"/>
                  <a:pt x="10850998" y="1269215"/>
                </a:cubicBezTo>
                <a:lnTo>
                  <a:pt x="10815658" y="1287849"/>
                </a:lnTo>
                <a:cubicBezTo>
                  <a:pt x="10795652" y="1293733"/>
                  <a:pt x="10746525" y="1311275"/>
                  <a:pt x="10723900" y="1318642"/>
                </a:cubicBezTo>
                <a:cubicBezTo>
                  <a:pt x="10705077" y="1325539"/>
                  <a:pt x="10706518" y="1319939"/>
                  <a:pt x="10699186" y="1322173"/>
                </a:cubicBezTo>
                <a:cubicBezTo>
                  <a:pt x="10691854" y="1324408"/>
                  <a:pt x="10686855" y="1343347"/>
                  <a:pt x="10676375" y="1342640"/>
                </a:cubicBezTo>
                <a:cubicBezTo>
                  <a:pt x="10676343" y="1337186"/>
                  <a:pt x="10639666" y="1342470"/>
                  <a:pt x="10636304" y="1342641"/>
                </a:cubicBezTo>
                <a:cubicBezTo>
                  <a:pt x="10626667" y="1347586"/>
                  <a:pt x="10613500" y="1341941"/>
                  <a:pt x="10603863" y="1346886"/>
                </a:cubicBezTo>
                <a:lnTo>
                  <a:pt x="10573203" y="1351996"/>
                </a:lnTo>
                <a:cubicBezTo>
                  <a:pt x="10562611" y="1353173"/>
                  <a:pt x="10557365" y="1375337"/>
                  <a:pt x="10547375" y="1375130"/>
                </a:cubicBezTo>
                <a:cubicBezTo>
                  <a:pt x="10537385" y="1374923"/>
                  <a:pt x="10522089" y="1366643"/>
                  <a:pt x="10513263" y="1371939"/>
                </a:cubicBezTo>
                <a:cubicBezTo>
                  <a:pt x="10505804" y="1378887"/>
                  <a:pt x="10494815" y="1378774"/>
                  <a:pt x="10487356" y="1385722"/>
                </a:cubicBezTo>
                <a:lnTo>
                  <a:pt x="10464012" y="1391778"/>
                </a:lnTo>
                <a:cubicBezTo>
                  <a:pt x="10456657" y="1392366"/>
                  <a:pt x="10449461" y="1401737"/>
                  <a:pt x="10439694" y="1406905"/>
                </a:cubicBezTo>
                <a:cubicBezTo>
                  <a:pt x="10429927" y="1412073"/>
                  <a:pt x="10417525" y="1414065"/>
                  <a:pt x="10405409" y="1422789"/>
                </a:cubicBezTo>
                <a:cubicBezTo>
                  <a:pt x="10385126" y="1419848"/>
                  <a:pt x="10374706" y="1423369"/>
                  <a:pt x="10370530" y="1441596"/>
                </a:cubicBezTo>
                <a:cubicBezTo>
                  <a:pt x="10354767" y="1445421"/>
                  <a:pt x="10317840" y="1451247"/>
                  <a:pt x="10300239" y="1456332"/>
                </a:cubicBezTo>
                <a:cubicBezTo>
                  <a:pt x="10282638" y="1461417"/>
                  <a:pt x="10276690" y="1468577"/>
                  <a:pt x="10264922" y="1472107"/>
                </a:cubicBezTo>
                <a:cubicBezTo>
                  <a:pt x="10253154" y="1475637"/>
                  <a:pt x="10240218" y="1469553"/>
                  <a:pt x="10229629" y="1470454"/>
                </a:cubicBezTo>
                <a:cubicBezTo>
                  <a:pt x="10219040" y="1471355"/>
                  <a:pt x="10214330" y="1477515"/>
                  <a:pt x="10201385" y="1477515"/>
                </a:cubicBezTo>
                <a:cubicBezTo>
                  <a:pt x="10188440" y="1477515"/>
                  <a:pt x="10165492" y="1479280"/>
                  <a:pt x="10151958" y="1477515"/>
                </a:cubicBezTo>
                <a:cubicBezTo>
                  <a:pt x="10138424" y="1475750"/>
                  <a:pt x="10130187" y="1468101"/>
                  <a:pt x="10120184" y="1466924"/>
                </a:cubicBezTo>
                <a:cubicBezTo>
                  <a:pt x="10110181" y="1465747"/>
                  <a:pt x="10091597" y="1479719"/>
                  <a:pt x="10081348" y="1481046"/>
                </a:cubicBezTo>
                <a:cubicBezTo>
                  <a:pt x="10071099" y="1482373"/>
                  <a:pt x="10073276" y="1471664"/>
                  <a:pt x="10058690" y="1474888"/>
                </a:cubicBezTo>
                <a:cubicBezTo>
                  <a:pt x="10040170" y="1466053"/>
                  <a:pt x="10015872" y="1472731"/>
                  <a:pt x="10004424" y="1489801"/>
                </a:cubicBezTo>
                <a:cubicBezTo>
                  <a:pt x="10002452" y="1492741"/>
                  <a:pt x="10000947" y="1495882"/>
                  <a:pt x="9999951" y="1499127"/>
                </a:cubicBezTo>
                <a:cubicBezTo>
                  <a:pt x="9967418" y="1507155"/>
                  <a:pt x="9889427" y="1534394"/>
                  <a:pt x="9845462" y="1548192"/>
                </a:cubicBezTo>
                <a:cubicBezTo>
                  <a:pt x="9822222" y="1562604"/>
                  <a:pt x="9768858" y="1594433"/>
                  <a:pt x="9736156" y="1581928"/>
                </a:cubicBezTo>
                <a:cubicBezTo>
                  <a:pt x="9745637" y="1601571"/>
                  <a:pt x="9699425" y="1582999"/>
                  <a:pt x="9693355" y="1602632"/>
                </a:cubicBezTo>
                <a:cubicBezTo>
                  <a:pt x="9690360" y="1618512"/>
                  <a:pt x="9675642" y="1616579"/>
                  <a:pt x="9664242" y="1622075"/>
                </a:cubicBezTo>
                <a:cubicBezTo>
                  <a:pt x="9655776" y="1638103"/>
                  <a:pt x="9598819" y="1651043"/>
                  <a:pt x="9579195" y="1648017"/>
                </a:cubicBezTo>
                <a:cubicBezTo>
                  <a:pt x="9524163" y="1629881"/>
                  <a:pt x="9477693" y="1693985"/>
                  <a:pt x="9433652" y="1681174"/>
                </a:cubicBezTo>
                <a:cubicBezTo>
                  <a:pt x="9421990" y="1682314"/>
                  <a:pt x="9412258" y="1685676"/>
                  <a:pt x="9403775" y="1690403"/>
                </a:cubicBezTo>
                <a:lnTo>
                  <a:pt x="9382503" y="1706957"/>
                </a:lnTo>
                <a:lnTo>
                  <a:pt x="9381410" y="1718312"/>
                </a:lnTo>
                <a:lnTo>
                  <a:pt x="9365685" y="1724772"/>
                </a:lnTo>
                <a:lnTo>
                  <a:pt x="9278020" y="1741161"/>
                </a:lnTo>
                <a:cubicBezTo>
                  <a:pt x="9235873" y="1762229"/>
                  <a:pt x="9231473" y="1754941"/>
                  <a:pt x="9217145" y="1771195"/>
                </a:cubicBezTo>
                <a:cubicBezTo>
                  <a:pt x="9131538" y="1776872"/>
                  <a:pt x="9039728" y="1814874"/>
                  <a:pt x="8955875" y="1796806"/>
                </a:cubicBezTo>
                <a:cubicBezTo>
                  <a:pt x="8861771" y="1817659"/>
                  <a:pt x="8730077" y="1856614"/>
                  <a:pt x="8648415" y="1878623"/>
                </a:cubicBezTo>
                <a:cubicBezTo>
                  <a:pt x="8578856" y="1892487"/>
                  <a:pt x="8546278" y="1907799"/>
                  <a:pt x="8538519" y="1894114"/>
                </a:cubicBezTo>
                <a:cubicBezTo>
                  <a:pt x="8513108" y="1898081"/>
                  <a:pt x="8514559" y="1915122"/>
                  <a:pt x="8506541" y="1905955"/>
                </a:cubicBezTo>
                <a:cubicBezTo>
                  <a:pt x="8437841" y="1911139"/>
                  <a:pt x="8301617" y="1910841"/>
                  <a:pt x="8236214" y="1909725"/>
                </a:cubicBezTo>
                <a:cubicBezTo>
                  <a:pt x="8201189" y="1897570"/>
                  <a:pt x="8163827" y="1900921"/>
                  <a:pt x="8132104" y="1895727"/>
                </a:cubicBezTo>
                <a:cubicBezTo>
                  <a:pt x="8021354" y="1869423"/>
                  <a:pt x="7973371" y="1872758"/>
                  <a:pt x="7918078" y="1862668"/>
                </a:cubicBezTo>
                <a:cubicBezTo>
                  <a:pt x="7883942" y="1854133"/>
                  <a:pt x="7834588" y="1870269"/>
                  <a:pt x="7817899" y="1862176"/>
                </a:cubicBezTo>
                <a:cubicBezTo>
                  <a:pt x="7803952" y="1858540"/>
                  <a:pt x="7780423" y="1826275"/>
                  <a:pt x="7768994" y="1855721"/>
                </a:cubicBezTo>
                <a:cubicBezTo>
                  <a:pt x="7693971" y="1816704"/>
                  <a:pt x="7680420" y="1850219"/>
                  <a:pt x="7618027" y="1830959"/>
                </a:cubicBezTo>
                <a:cubicBezTo>
                  <a:pt x="7563589" y="1813247"/>
                  <a:pt x="7530287" y="1817871"/>
                  <a:pt x="7449425" y="1810910"/>
                </a:cubicBezTo>
                <a:lnTo>
                  <a:pt x="7342915" y="1819827"/>
                </a:lnTo>
                <a:lnTo>
                  <a:pt x="7255191" y="1834354"/>
                </a:lnTo>
                <a:cubicBezTo>
                  <a:pt x="7235153" y="1839259"/>
                  <a:pt x="7150315" y="1831629"/>
                  <a:pt x="7131205" y="1845557"/>
                </a:cubicBezTo>
                <a:cubicBezTo>
                  <a:pt x="6968750" y="1838101"/>
                  <a:pt x="6977206" y="1837412"/>
                  <a:pt x="6941837" y="1840640"/>
                </a:cubicBezTo>
                <a:cubicBezTo>
                  <a:pt x="6905846" y="1863867"/>
                  <a:pt x="6892534" y="1847120"/>
                  <a:pt x="6837145" y="1870724"/>
                </a:cubicBezTo>
                <a:cubicBezTo>
                  <a:pt x="6823442" y="1850610"/>
                  <a:pt x="6785388" y="1865075"/>
                  <a:pt x="6753991" y="1860969"/>
                </a:cubicBezTo>
                <a:cubicBezTo>
                  <a:pt x="6744571" y="1866959"/>
                  <a:pt x="6736100" y="1874451"/>
                  <a:pt x="6727754" y="1882372"/>
                </a:cubicBezTo>
                <a:lnTo>
                  <a:pt x="6723371" y="1886494"/>
                </a:lnTo>
                <a:lnTo>
                  <a:pt x="6702779" y="1893601"/>
                </a:lnTo>
                <a:lnTo>
                  <a:pt x="6686657" y="1907344"/>
                </a:lnTo>
                <a:lnTo>
                  <a:pt x="6651330" y="1922921"/>
                </a:lnTo>
                <a:cubicBezTo>
                  <a:pt x="6640157" y="1928264"/>
                  <a:pt x="6638035" y="1935420"/>
                  <a:pt x="6622958" y="1936255"/>
                </a:cubicBezTo>
                <a:cubicBezTo>
                  <a:pt x="6600915" y="1943222"/>
                  <a:pt x="6552371" y="1948565"/>
                  <a:pt x="6522602" y="1954133"/>
                </a:cubicBezTo>
                <a:cubicBezTo>
                  <a:pt x="6492833" y="1959701"/>
                  <a:pt x="6461408" y="1966721"/>
                  <a:pt x="6444344" y="1969663"/>
                </a:cubicBezTo>
                <a:cubicBezTo>
                  <a:pt x="6427280" y="1972605"/>
                  <a:pt x="6428109" y="1974263"/>
                  <a:pt x="6409626" y="1978846"/>
                </a:cubicBezTo>
                <a:cubicBezTo>
                  <a:pt x="6391143" y="1983429"/>
                  <a:pt x="6354327" y="1989225"/>
                  <a:pt x="6333446" y="1997163"/>
                </a:cubicBezTo>
                <a:cubicBezTo>
                  <a:pt x="6318475" y="2003304"/>
                  <a:pt x="6299617" y="2000258"/>
                  <a:pt x="6294933" y="2019412"/>
                </a:cubicBezTo>
                <a:cubicBezTo>
                  <a:pt x="6286089" y="2042978"/>
                  <a:pt x="6227534" y="2018229"/>
                  <a:pt x="6238719" y="2042547"/>
                </a:cubicBezTo>
                <a:cubicBezTo>
                  <a:pt x="6222530" y="2046966"/>
                  <a:pt x="6203861" y="2053486"/>
                  <a:pt x="6187205" y="2060048"/>
                </a:cubicBezTo>
                <a:cubicBezTo>
                  <a:pt x="6170549" y="2066610"/>
                  <a:pt x="6153490" y="2074269"/>
                  <a:pt x="6138780" y="2081918"/>
                </a:cubicBezTo>
                <a:cubicBezTo>
                  <a:pt x="6124070" y="2089567"/>
                  <a:pt x="6133826" y="2100763"/>
                  <a:pt x="6120125" y="2109475"/>
                </a:cubicBezTo>
                <a:cubicBezTo>
                  <a:pt x="6106424" y="2118187"/>
                  <a:pt x="6071747" y="2113765"/>
                  <a:pt x="6056576" y="2120066"/>
                </a:cubicBezTo>
                <a:cubicBezTo>
                  <a:pt x="6041405" y="2126367"/>
                  <a:pt x="6013212" y="2118450"/>
                  <a:pt x="5993794" y="2122569"/>
                </a:cubicBezTo>
                <a:cubicBezTo>
                  <a:pt x="5964206" y="2130692"/>
                  <a:pt x="5962485" y="2139897"/>
                  <a:pt x="5943601" y="2137719"/>
                </a:cubicBezTo>
                <a:cubicBezTo>
                  <a:pt x="5924717" y="2135541"/>
                  <a:pt x="5912263" y="2145394"/>
                  <a:pt x="5898141" y="2144806"/>
                </a:cubicBezTo>
                <a:cubicBezTo>
                  <a:pt x="5884019" y="2144218"/>
                  <a:pt x="5868158" y="2133273"/>
                  <a:pt x="5855337" y="2137719"/>
                </a:cubicBezTo>
                <a:cubicBezTo>
                  <a:pt x="5842516" y="2142165"/>
                  <a:pt x="5837100" y="2155593"/>
                  <a:pt x="5817682" y="2157358"/>
                </a:cubicBezTo>
                <a:cubicBezTo>
                  <a:pt x="5798264" y="2159123"/>
                  <a:pt x="5773002" y="2155397"/>
                  <a:pt x="5735300" y="2158902"/>
                </a:cubicBezTo>
                <a:cubicBezTo>
                  <a:pt x="5697598" y="2162407"/>
                  <a:pt x="5588527" y="2188980"/>
                  <a:pt x="5591469" y="2178389"/>
                </a:cubicBezTo>
                <a:cubicBezTo>
                  <a:pt x="5555576" y="2181920"/>
                  <a:pt x="5528919" y="2193924"/>
                  <a:pt x="5505818" y="2194207"/>
                </a:cubicBezTo>
                <a:cubicBezTo>
                  <a:pt x="5482717" y="2194490"/>
                  <a:pt x="5495184" y="2190180"/>
                  <a:pt x="5477574" y="2190677"/>
                </a:cubicBezTo>
                <a:cubicBezTo>
                  <a:pt x="5459964" y="2191175"/>
                  <a:pt x="5427187" y="2180216"/>
                  <a:pt x="5414282" y="2183070"/>
                </a:cubicBezTo>
                <a:cubicBezTo>
                  <a:pt x="5407945" y="2205016"/>
                  <a:pt x="5394338" y="2208803"/>
                  <a:pt x="5368369" y="2204272"/>
                </a:cubicBezTo>
                <a:cubicBezTo>
                  <a:pt x="5354793" y="2209070"/>
                  <a:pt x="5349205" y="2213102"/>
                  <a:pt x="5336354" y="2218920"/>
                </a:cubicBezTo>
                <a:cubicBezTo>
                  <a:pt x="5323503" y="2224738"/>
                  <a:pt x="5304208" y="2232709"/>
                  <a:pt x="5291263" y="2239182"/>
                </a:cubicBezTo>
                <a:cubicBezTo>
                  <a:pt x="5278318" y="2245655"/>
                  <a:pt x="5264730" y="2242318"/>
                  <a:pt x="5255152" y="2247164"/>
                </a:cubicBezTo>
                <a:cubicBezTo>
                  <a:pt x="5245574" y="2252010"/>
                  <a:pt x="5240857" y="2261199"/>
                  <a:pt x="5233796" y="2268260"/>
                </a:cubicBezTo>
                <a:cubicBezTo>
                  <a:pt x="5226735" y="2275321"/>
                  <a:pt x="5222832" y="2268609"/>
                  <a:pt x="5212786" y="2275408"/>
                </a:cubicBezTo>
                <a:cubicBezTo>
                  <a:pt x="5202741" y="2282208"/>
                  <a:pt x="5174227" y="2281420"/>
                  <a:pt x="5159401" y="2284343"/>
                </a:cubicBezTo>
                <a:cubicBezTo>
                  <a:pt x="5129776" y="2295641"/>
                  <a:pt x="5158686" y="2301898"/>
                  <a:pt x="5123830" y="2307070"/>
                </a:cubicBezTo>
                <a:cubicBezTo>
                  <a:pt x="5082905" y="2318102"/>
                  <a:pt x="5072939" y="2287385"/>
                  <a:pt x="5065426" y="2324076"/>
                </a:cubicBezTo>
                <a:cubicBezTo>
                  <a:pt x="5017747" y="2318395"/>
                  <a:pt x="5031271" y="2337329"/>
                  <a:pt x="4975908" y="2364128"/>
                </a:cubicBezTo>
                <a:cubicBezTo>
                  <a:pt x="4946700" y="2354134"/>
                  <a:pt x="4928936" y="2366071"/>
                  <a:pt x="4913723" y="2385265"/>
                </a:cubicBezTo>
                <a:cubicBezTo>
                  <a:pt x="4854880" y="2394046"/>
                  <a:pt x="4808730" y="2428302"/>
                  <a:pt x="4746485" y="2451769"/>
                </a:cubicBezTo>
                <a:lnTo>
                  <a:pt x="4681588" y="2467494"/>
                </a:lnTo>
                <a:lnTo>
                  <a:pt x="1783655" y="3163860"/>
                </a:lnTo>
                <a:lnTo>
                  <a:pt x="1325955" y="3176692"/>
                </a:lnTo>
                <a:cubicBezTo>
                  <a:pt x="1278931" y="3186609"/>
                  <a:pt x="1232617" y="3191205"/>
                  <a:pt x="1190384" y="3203504"/>
                </a:cubicBezTo>
                <a:cubicBezTo>
                  <a:pt x="1146740" y="3204301"/>
                  <a:pt x="1142940" y="3250947"/>
                  <a:pt x="1094537" y="3229469"/>
                </a:cubicBezTo>
                <a:cubicBezTo>
                  <a:pt x="1069134" y="3237778"/>
                  <a:pt x="1026961" y="3247646"/>
                  <a:pt x="1013254" y="3263949"/>
                </a:cubicBezTo>
                <a:cubicBezTo>
                  <a:pt x="966756" y="3279110"/>
                  <a:pt x="851011" y="3352246"/>
                  <a:pt x="815546" y="3334559"/>
                </a:cubicBezTo>
                <a:cubicBezTo>
                  <a:pt x="808324" y="3352177"/>
                  <a:pt x="815137" y="3324821"/>
                  <a:pt x="779276" y="3327290"/>
                </a:cubicBezTo>
                <a:cubicBezTo>
                  <a:pt x="712585" y="3298149"/>
                  <a:pt x="672574" y="3378796"/>
                  <a:pt x="600378" y="3335250"/>
                </a:cubicBezTo>
                <a:cubicBezTo>
                  <a:pt x="595066" y="3356366"/>
                  <a:pt x="514059" y="3361176"/>
                  <a:pt x="493457" y="3365044"/>
                </a:cubicBezTo>
                <a:cubicBezTo>
                  <a:pt x="467535" y="3372578"/>
                  <a:pt x="412364" y="3374283"/>
                  <a:pt x="388355" y="3376925"/>
                </a:cubicBezTo>
                <a:cubicBezTo>
                  <a:pt x="364346" y="3379567"/>
                  <a:pt x="376469" y="3372659"/>
                  <a:pt x="349402" y="3380897"/>
                </a:cubicBezTo>
                <a:cubicBezTo>
                  <a:pt x="322335" y="3389135"/>
                  <a:pt x="248625" y="3434339"/>
                  <a:pt x="225952" y="3426352"/>
                </a:cubicBezTo>
                <a:cubicBezTo>
                  <a:pt x="199749" y="3439548"/>
                  <a:pt x="193948" y="3430066"/>
                  <a:pt x="171000" y="3438892"/>
                </a:cubicBezTo>
                <a:cubicBezTo>
                  <a:pt x="148052" y="3447718"/>
                  <a:pt x="101917" y="3457642"/>
                  <a:pt x="88263" y="3479310"/>
                </a:cubicBezTo>
                <a:cubicBezTo>
                  <a:pt x="64018" y="3479795"/>
                  <a:pt x="62139" y="3459801"/>
                  <a:pt x="46713" y="3462986"/>
                </a:cubicBezTo>
                <a:cubicBezTo>
                  <a:pt x="31576" y="3476862"/>
                  <a:pt x="15706" y="3476378"/>
                  <a:pt x="2765" y="3480770"/>
                </a:cubicBezTo>
                <a:lnTo>
                  <a:pt x="0" y="348234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4A4AF22-3CBA-4487-A5C4-5812D350E326}"/>
              </a:ext>
            </a:extLst>
          </p:cNvPr>
          <p:cNvSpPr>
            <a:spLocks noGrp="1"/>
          </p:cNvSpPr>
          <p:nvPr>
            <p:ph type="title"/>
          </p:nvPr>
        </p:nvSpPr>
        <p:spPr>
          <a:xfrm>
            <a:off x="1137037" y="484094"/>
            <a:ext cx="9998441" cy="1206594"/>
          </a:xfrm>
        </p:spPr>
        <p:txBody>
          <a:bodyPr>
            <a:normAutofit/>
          </a:bodyPr>
          <a:lstStyle/>
          <a:p>
            <a:r>
              <a:rPr lang="en-US" sz="3300" dirty="0">
                <a:latin typeface="Times New Roman" panose="02020603050405020304" pitchFamily="18" charset="0"/>
                <a:cs typeface="Times New Roman" panose="02020603050405020304" pitchFamily="18" charset="0"/>
              </a:rPr>
              <a:t>Grounded Answer Generation with </a:t>
            </a:r>
            <a:r>
              <a:rPr lang="en-US" sz="3300" dirty="0" err="1">
                <a:latin typeface="Times New Roman" panose="02020603050405020304" pitchFamily="18" charset="0"/>
                <a:cs typeface="Times New Roman" panose="02020603050405020304" pitchFamily="18" charset="0"/>
              </a:rPr>
              <a:t>LLaMA</a:t>
            </a:r>
            <a:r>
              <a:rPr lang="en-US" sz="3300" dirty="0">
                <a:latin typeface="Times New Roman" panose="02020603050405020304" pitchFamily="18" charset="0"/>
                <a:cs typeface="Times New Roman" panose="02020603050405020304" pitchFamily="18" charset="0"/>
              </a:rPr>
              <a:t> 3.3-70B</a:t>
            </a:r>
          </a:p>
        </p:txBody>
      </p:sp>
      <p:sp>
        <p:nvSpPr>
          <p:cNvPr id="26" name="Freeform: Shape 25">
            <a:extLst>
              <a:ext uri="{FF2B5EF4-FFF2-40B4-BE49-F238E27FC236}">
                <a16:creationId xmlns:a16="http://schemas.microsoft.com/office/drawing/2014/main" id="{8101159E-D455-456F-8FE1-396AB159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037" y="1958614"/>
            <a:ext cx="3594282" cy="398896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Table">
            <a:extLst>
              <a:ext uri="{FF2B5EF4-FFF2-40B4-BE49-F238E27FC236}">
                <a16:creationId xmlns:a16="http://schemas.microsoft.com/office/drawing/2014/main" id="{453B3080-62F7-E00A-D0BC-D7F4E57B64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9404" y="2297417"/>
            <a:ext cx="3274548" cy="3274548"/>
          </a:xfrm>
          <a:prstGeom prst="rect">
            <a:avLst/>
          </a:prstGeom>
        </p:spPr>
      </p:pic>
      <p:sp>
        <p:nvSpPr>
          <p:cNvPr id="28" name="Rectangle 6">
            <a:extLst>
              <a:ext uri="{FF2B5EF4-FFF2-40B4-BE49-F238E27FC236}">
                <a16:creationId xmlns:a16="http://schemas.microsoft.com/office/drawing/2014/main" id="{1F9FDF39-7A42-411B-85F1-9DE812C7A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497" y="5802246"/>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35038FD-4C67-6F78-7C57-77077952E597}"/>
              </a:ext>
            </a:extLst>
          </p:cNvPr>
          <p:cNvSpPr>
            <a:spLocks noGrp="1"/>
          </p:cNvSpPr>
          <p:nvPr>
            <p:ph idx="1"/>
          </p:nvPr>
        </p:nvSpPr>
        <p:spPr>
          <a:xfrm>
            <a:off x="5484509" y="2537254"/>
            <a:ext cx="6345025" cy="3693975"/>
          </a:xfrm>
        </p:spPr>
        <p:txBody>
          <a:bodyPr anchor="ctr">
            <a:noAutofit/>
          </a:bodyPr>
          <a:lstStyle/>
          <a:p>
            <a:pPr marL="0" indent="0">
              <a:buNone/>
            </a:pPr>
            <a:r>
              <a:rPr lang="en-US" sz="1050" b="1" dirty="0">
                <a:latin typeface="Times New Roman" panose="02020603050405020304" pitchFamily="18" charset="0"/>
                <a:cs typeface="Times New Roman" panose="02020603050405020304" pitchFamily="18" charset="0"/>
              </a:rPr>
              <a:t>1. Context Assembly &amp; Prompt Engineering</a:t>
            </a:r>
            <a:endParaRPr lang="en-US" sz="1050" dirty="0">
              <a:latin typeface="Times New Roman" panose="02020603050405020304" pitchFamily="18" charset="0"/>
              <a:cs typeface="Times New Roman" panose="02020603050405020304" pitchFamily="18" charset="0"/>
            </a:endParaRPr>
          </a:p>
          <a:p>
            <a:r>
              <a:rPr lang="en-US" sz="1050" dirty="0">
                <a:latin typeface="Times New Roman" panose="02020603050405020304" pitchFamily="18" charset="0"/>
                <a:cs typeface="Times New Roman" panose="02020603050405020304" pitchFamily="18" charset="0"/>
              </a:rPr>
              <a:t>Aggregates top 3-5 retrieved documents (dataset) + 0-5 web passages (optional) into structured context</a:t>
            </a:r>
          </a:p>
          <a:p>
            <a:r>
              <a:rPr lang="en-US" sz="1050" dirty="0">
                <a:latin typeface="Times New Roman" panose="02020603050405020304" pitchFamily="18" charset="0"/>
                <a:cs typeface="Times New Roman" panose="02020603050405020304" pitchFamily="18" charset="0"/>
              </a:rPr>
              <a:t>Each passage formatted with metadata: [Document X: id, Parva, Section] for citation tracking</a:t>
            </a:r>
          </a:p>
          <a:p>
            <a:r>
              <a:rPr lang="en-US" sz="1050" dirty="0">
                <a:latin typeface="Times New Roman" panose="02020603050405020304" pitchFamily="18" charset="0"/>
                <a:cs typeface="Times New Roman" panose="02020603050405020304" pitchFamily="18" charset="0"/>
              </a:rPr>
              <a:t>Prompt template enforces grounding: "Answer ONLY from context" + "Cite [Document X] for each fact"</a:t>
            </a:r>
          </a:p>
          <a:p>
            <a:r>
              <a:rPr lang="en-US" sz="1050" dirty="0">
                <a:latin typeface="Times New Roman" panose="02020603050405020304" pitchFamily="18" charset="0"/>
                <a:cs typeface="Times New Roman" panose="02020603050405020304" pitchFamily="18" charset="0"/>
              </a:rPr>
              <a:t>Average context length: 2,847 tokens (dataset-only) | 4,231 tokens (with web) | Max limit: 8,000 tokens</a:t>
            </a:r>
          </a:p>
          <a:p>
            <a:pPr marL="0" indent="0">
              <a:buNone/>
            </a:pPr>
            <a:r>
              <a:rPr lang="en-US" sz="1050" b="1" dirty="0">
                <a:latin typeface="Times New Roman" panose="02020603050405020304" pitchFamily="18" charset="0"/>
                <a:cs typeface="Times New Roman" panose="02020603050405020304" pitchFamily="18" charset="0"/>
              </a:rPr>
              <a:t>2. LLM Generation via </a:t>
            </a:r>
            <a:r>
              <a:rPr lang="en-US" sz="1050" b="1" dirty="0" err="1">
                <a:latin typeface="Times New Roman" panose="02020603050405020304" pitchFamily="18" charset="0"/>
                <a:cs typeface="Times New Roman" panose="02020603050405020304" pitchFamily="18" charset="0"/>
              </a:rPr>
              <a:t>Groq</a:t>
            </a:r>
            <a:r>
              <a:rPr lang="en-US" sz="1050" b="1" dirty="0">
                <a:latin typeface="Times New Roman" panose="02020603050405020304" pitchFamily="18" charset="0"/>
                <a:cs typeface="Times New Roman" panose="02020603050405020304" pitchFamily="18" charset="0"/>
              </a:rPr>
              <a:t> API</a:t>
            </a:r>
            <a:endParaRPr lang="en-US" sz="1050" dirty="0">
              <a:latin typeface="Times New Roman" panose="02020603050405020304" pitchFamily="18" charset="0"/>
              <a:cs typeface="Times New Roman" panose="02020603050405020304" pitchFamily="18" charset="0"/>
            </a:endParaRPr>
          </a:p>
          <a:p>
            <a:r>
              <a:rPr lang="en-US" sz="1050" dirty="0">
                <a:latin typeface="Times New Roman" panose="02020603050405020304" pitchFamily="18" charset="0"/>
                <a:cs typeface="Times New Roman" panose="02020603050405020304" pitchFamily="18" charset="0"/>
              </a:rPr>
              <a:t>Model: </a:t>
            </a:r>
            <a:r>
              <a:rPr lang="en-US" sz="1050" dirty="0" err="1">
                <a:latin typeface="Times New Roman" panose="02020603050405020304" pitchFamily="18" charset="0"/>
                <a:cs typeface="Times New Roman" panose="02020603050405020304" pitchFamily="18" charset="0"/>
              </a:rPr>
              <a:t>LLaMA</a:t>
            </a:r>
            <a:r>
              <a:rPr lang="en-US" sz="1050" dirty="0">
                <a:latin typeface="Times New Roman" panose="02020603050405020304" pitchFamily="18" charset="0"/>
                <a:cs typeface="Times New Roman" panose="02020603050405020304" pitchFamily="18" charset="0"/>
              </a:rPr>
              <a:t> 3.3-70B-Versatile </a:t>
            </a:r>
          </a:p>
          <a:p>
            <a:r>
              <a:rPr lang="en-US" sz="1050" dirty="0">
                <a:latin typeface="Times New Roman" panose="02020603050405020304" pitchFamily="18" charset="0"/>
                <a:cs typeface="Times New Roman" panose="02020603050405020304" pitchFamily="18" charset="0"/>
              </a:rPr>
              <a:t>Parameters: temperature=0.3 (focused responses), </a:t>
            </a:r>
            <a:r>
              <a:rPr lang="en-US" sz="1050" dirty="0" err="1">
                <a:latin typeface="Times New Roman" panose="02020603050405020304" pitchFamily="18" charset="0"/>
                <a:cs typeface="Times New Roman" panose="02020603050405020304" pitchFamily="18" charset="0"/>
              </a:rPr>
              <a:t>max_tokens</a:t>
            </a:r>
            <a:r>
              <a:rPr lang="en-US" sz="1050" dirty="0">
                <a:latin typeface="Times New Roman" panose="02020603050405020304" pitchFamily="18" charset="0"/>
                <a:cs typeface="Times New Roman" panose="02020603050405020304" pitchFamily="18" charset="0"/>
              </a:rPr>
              <a:t>=800, </a:t>
            </a:r>
            <a:r>
              <a:rPr lang="en-US" sz="1050" dirty="0" err="1">
                <a:latin typeface="Times New Roman" panose="02020603050405020304" pitchFamily="18" charset="0"/>
                <a:cs typeface="Times New Roman" panose="02020603050405020304" pitchFamily="18" charset="0"/>
              </a:rPr>
              <a:t>top_p</a:t>
            </a:r>
            <a:r>
              <a:rPr lang="en-US" sz="1050" dirty="0">
                <a:latin typeface="Times New Roman" panose="02020603050405020304" pitchFamily="18" charset="0"/>
                <a:cs typeface="Times New Roman" panose="02020603050405020304" pitchFamily="18" charset="0"/>
              </a:rPr>
              <a:t>=0.9</a:t>
            </a:r>
          </a:p>
          <a:p>
            <a:r>
              <a:rPr lang="en-US" sz="1050" dirty="0">
                <a:latin typeface="Times New Roman" panose="02020603050405020304" pitchFamily="18" charset="0"/>
                <a:cs typeface="Times New Roman" panose="02020603050405020304" pitchFamily="18" charset="0"/>
              </a:rPr>
              <a:t>System prompt: "Expert on Mahabharata" + user prompt with context and query</a:t>
            </a:r>
          </a:p>
          <a:p>
            <a:r>
              <a:rPr lang="en-US" sz="1050" dirty="0">
                <a:latin typeface="Times New Roman" panose="02020603050405020304" pitchFamily="18" charset="0"/>
                <a:cs typeface="Times New Roman" panose="02020603050405020304" pitchFamily="18" charset="0"/>
              </a:rPr>
              <a:t>Generation metrics: ~0.7-1.0s latency | Avg 247 output tokens | 95% citation compliance rate</a:t>
            </a:r>
          </a:p>
          <a:p>
            <a:pPr marL="0" indent="0">
              <a:buNone/>
            </a:pPr>
            <a:r>
              <a:rPr lang="en-US" sz="1050" b="1" dirty="0">
                <a:latin typeface="Times New Roman" panose="02020603050405020304" pitchFamily="18" charset="0"/>
                <a:cs typeface="Times New Roman" panose="02020603050405020304" pitchFamily="18" charset="0"/>
              </a:rPr>
              <a:t>3. Post-Processing &amp; Performance Tracking</a:t>
            </a:r>
            <a:endParaRPr lang="en-US" sz="1050" dirty="0">
              <a:latin typeface="Times New Roman" panose="02020603050405020304" pitchFamily="18" charset="0"/>
              <a:cs typeface="Times New Roman" panose="02020603050405020304" pitchFamily="18" charset="0"/>
            </a:endParaRPr>
          </a:p>
          <a:p>
            <a:r>
              <a:rPr lang="en-US" sz="1050" dirty="0">
                <a:latin typeface="Times New Roman" panose="02020603050405020304" pitchFamily="18" charset="0"/>
                <a:cs typeface="Times New Roman" panose="02020603050405020304" pitchFamily="18" charset="0"/>
              </a:rPr>
              <a:t>Parses inline citations to extract source attribution and verify grounding</a:t>
            </a:r>
          </a:p>
          <a:p>
            <a:r>
              <a:rPr lang="en-US" sz="1050" dirty="0">
                <a:latin typeface="Times New Roman" panose="02020603050405020304" pitchFamily="18" charset="0"/>
                <a:cs typeface="Times New Roman" panose="02020603050405020304" pitchFamily="18" charset="0"/>
              </a:rPr>
              <a:t>Calculates end-to-end metrics: total latency (retrieval + generation), token usage, estimated cost</a:t>
            </a:r>
          </a:p>
          <a:p>
            <a:r>
              <a:rPr lang="en-US" sz="1050" dirty="0">
                <a:latin typeface="Times New Roman" panose="02020603050405020304" pitchFamily="18" charset="0"/>
                <a:cs typeface="Times New Roman" panose="02020603050405020304" pitchFamily="18" charset="0"/>
              </a:rPr>
              <a:t>Cost breakdown: Input tokens ($0.0000015/token) + Output tokens ($0.000002/token) = </a:t>
            </a:r>
            <a:r>
              <a:rPr lang="en-US" sz="1050" b="1" dirty="0">
                <a:latin typeface="Times New Roman" panose="02020603050405020304" pitchFamily="18" charset="0"/>
                <a:cs typeface="Times New Roman" panose="02020603050405020304" pitchFamily="18" charset="0"/>
              </a:rPr>
              <a:t>$0.0008-$0.0010 per query</a:t>
            </a:r>
            <a:endParaRPr lang="en-US" sz="1050" dirty="0">
              <a:latin typeface="Times New Roman" panose="02020603050405020304" pitchFamily="18" charset="0"/>
              <a:cs typeface="Times New Roman" panose="02020603050405020304" pitchFamily="18" charset="0"/>
            </a:endParaRPr>
          </a:p>
          <a:p>
            <a:r>
              <a:rPr lang="en-US" sz="1050" dirty="0">
                <a:latin typeface="Times New Roman" panose="02020603050405020304" pitchFamily="18" charset="0"/>
                <a:cs typeface="Times New Roman" panose="02020603050405020304" pitchFamily="18" charset="0"/>
              </a:rPr>
              <a:t>Quality control: Flags responses with &lt;50% citation coverage or "insufficient information" fallback triggers</a:t>
            </a:r>
          </a:p>
          <a:p>
            <a:endParaRPr 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7449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4B0B678-CD10-4371-96E5-2706F4579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2" name="Rectangle 41">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Rectangle 4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CEFD30-98A7-B72C-FBBE-F77654653F54}"/>
              </a:ext>
            </a:extLst>
          </p:cNvPr>
          <p:cNvSpPr>
            <a:spLocks noGrp="1"/>
          </p:cNvSpPr>
          <p:nvPr>
            <p:ph type="title"/>
          </p:nvPr>
        </p:nvSpPr>
        <p:spPr>
          <a:xfrm>
            <a:off x="5867475" y="847827"/>
            <a:ext cx="5408813" cy="1169585"/>
          </a:xfrm>
        </p:spPr>
        <p:txBody>
          <a:bodyPr anchor="b">
            <a:normAutofit/>
          </a:bodyPr>
          <a:lstStyle/>
          <a:p>
            <a:r>
              <a:rPr lang="en-US" sz="3700" dirty="0">
                <a:latin typeface="Times New Roman" panose="02020603050405020304" pitchFamily="18" charset="0"/>
                <a:cs typeface="Times New Roman" panose="02020603050405020304" pitchFamily="18" charset="0"/>
              </a:rPr>
              <a:t>Interactive Chatbot: End-to-End RAG in Action</a:t>
            </a:r>
          </a:p>
        </p:txBody>
      </p:sp>
      <p:pic>
        <p:nvPicPr>
          <p:cNvPr id="7" name="Graphic 6" descr="Chat">
            <a:extLst>
              <a:ext uri="{FF2B5EF4-FFF2-40B4-BE49-F238E27FC236}">
                <a16:creationId xmlns:a16="http://schemas.microsoft.com/office/drawing/2014/main" id="{556B12E2-B92E-7A3A-A772-22B2B1A0F0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95808" y="223340"/>
            <a:ext cx="2581173" cy="1852596"/>
          </a:xfrm>
          <a:prstGeom prst="rect">
            <a:avLst/>
          </a:prstGeom>
        </p:spPr>
      </p:pic>
      <p:sp>
        <p:nvSpPr>
          <p:cNvPr id="47" name="Rectangle 46">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CDBD9C6-3DE6-4ACA-FC7A-334D519C2C2A}"/>
              </a:ext>
            </a:extLst>
          </p:cNvPr>
          <p:cNvPicPr>
            <a:picLocks noChangeAspect="1"/>
          </p:cNvPicPr>
          <p:nvPr/>
        </p:nvPicPr>
        <p:blipFill>
          <a:blip r:embed="rId4"/>
          <a:stretch>
            <a:fillRect/>
          </a:stretch>
        </p:blipFill>
        <p:spPr>
          <a:xfrm>
            <a:off x="914400" y="2075936"/>
            <a:ext cx="4540727" cy="3810196"/>
          </a:xfrm>
          <a:prstGeom prst="rect">
            <a:avLst/>
          </a:prstGeom>
        </p:spPr>
      </p:pic>
      <p:sp>
        <p:nvSpPr>
          <p:cNvPr id="3" name="Content Placeholder 2">
            <a:extLst>
              <a:ext uri="{FF2B5EF4-FFF2-40B4-BE49-F238E27FC236}">
                <a16:creationId xmlns:a16="http://schemas.microsoft.com/office/drawing/2014/main" id="{035A50C7-E052-A543-A05B-2E9CEFF71FBA}"/>
              </a:ext>
            </a:extLst>
          </p:cNvPr>
          <p:cNvSpPr>
            <a:spLocks noGrp="1"/>
          </p:cNvSpPr>
          <p:nvPr>
            <p:ph idx="1"/>
          </p:nvPr>
        </p:nvSpPr>
        <p:spPr>
          <a:xfrm>
            <a:off x="5868786" y="2508105"/>
            <a:ext cx="5408813" cy="3632493"/>
          </a:xfrm>
        </p:spPr>
        <p:txBody>
          <a:bodyPr anchor="ctr">
            <a:normAutofit/>
          </a:bodyPr>
          <a:lstStyle/>
          <a:p>
            <a:pPr marL="0" indent="0">
              <a:buNone/>
            </a:pPr>
            <a:r>
              <a:rPr lang="en-US" sz="2000" b="1" dirty="0" err="1">
                <a:latin typeface="Times New Roman" panose="02020603050405020304" pitchFamily="18" charset="0"/>
                <a:cs typeface="Times New Roman" panose="02020603050405020304" pitchFamily="18" charset="0"/>
              </a:rPr>
              <a:t>Gradio</a:t>
            </a:r>
            <a:r>
              <a:rPr lang="en-US" sz="2000" b="1" dirty="0">
                <a:latin typeface="Times New Roman" panose="02020603050405020304" pitchFamily="18" charset="0"/>
                <a:cs typeface="Times New Roman" panose="02020603050405020304" pitchFamily="18" charset="0"/>
              </a:rPr>
              <a:t>-Based Web Interface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Built user-friendly chatbot using </a:t>
            </a:r>
            <a:r>
              <a:rPr lang="en-US" sz="2000" dirty="0" err="1">
                <a:latin typeface="Times New Roman" panose="02020603050405020304" pitchFamily="18" charset="0"/>
                <a:cs typeface="Times New Roman" panose="02020603050405020304" pitchFamily="18" charset="0"/>
              </a:rPr>
              <a:t>Gradio</a:t>
            </a:r>
            <a:r>
              <a:rPr lang="en-US" sz="2000" dirty="0">
                <a:latin typeface="Times New Roman" panose="02020603050405020304" pitchFamily="18" charset="0"/>
                <a:cs typeface="Times New Roman" panose="02020603050405020304" pitchFamily="18" charset="0"/>
              </a:rPr>
              <a:t> framework with real-time query processing</a:t>
            </a:r>
          </a:p>
          <a:p>
            <a:r>
              <a:rPr lang="en-US" sz="2000" dirty="0">
                <a:latin typeface="Times New Roman" panose="02020603050405020304" pitchFamily="18" charset="0"/>
                <a:cs typeface="Times New Roman" panose="02020603050405020304" pitchFamily="18" charset="0"/>
              </a:rPr>
              <a:t>Features: Chat history preservation, query analysis panel, performance metrics display, example query suggestions</a:t>
            </a:r>
          </a:p>
          <a:p>
            <a:r>
              <a:rPr lang="en-US" sz="2000" dirty="0">
                <a:latin typeface="Times New Roman" panose="02020603050405020304" pitchFamily="18" charset="0"/>
                <a:cs typeface="Times New Roman" panose="02020603050405020304" pitchFamily="18" charset="0"/>
              </a:rPr>
              <a:t>Deployed on Google Colab with public shareable link (</a:t>
            </a:r>
            <a:r>
              <a:rPr lang="en-US" sz="2000" dirty="0" err="1">
                <a:latin typeface="Times New Roman" panose="02020603050405020304" pitchFamily="18" charset="0"/>
                <a:cs typeface="Times New Roman" panose="02020603050405020304" pitchFamily="18" charset="0"/>
              </a:rPr>
              <a:t>gradio.live</a:t>
            </a:r>
            <a:r>
              <a:rPr lang="en-US" sz="2000" dirty="0">
                <a:latin typeface="Times New Roman" panose="02020603050405020304" pitchFamily="18" charset="0"/>
                <a:cs typeface="Times New Roman" panose="02020603050405020304" pitchFamily="18" charset="0"/>
              </a:rPr>
              <a:t>) for accessibility</a:t>
            </a:r>
          </a:p>
          <a:p>
            <a:r>
              <a:rPr lang="en-US" sz="2000" dirty="0">
                <a:latin typeface="Times New Roman" panose="02020603050405020304" pitchFamily="18" charset="0"/>
                <a:cs typeface="Times New Roman" panose="02020603050405020304" pitchFamily="18" charset="0"/>
              </a:rPr>
              <a:t>Interface components: Message input box, conversation display (500px height), system info sidebar, clear/submit buttons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626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565E-B541-85F9-8859-785CB31EBB31}"/>
              </a:ext>
            </a:extLst>
          </p:cNvPr>
          <p:cNvSpPr>
            <a:spLocks noGrp="1"/>
          </p:cNvSpPr>
          <p:nvPr>
            <p:ph type="title"/>
          </p:nvPr>
        </p:nvSpPr>
        <p:spPr/>
        <p:txBody>
          <a:bodyPr>
            <a:normAutofit/>
          </a:bodyPr>
          <a:lstStyle/>
          <a:p>
            <a:r>
              <a:rPr lang="en-US" sz="3300" dirty="0">
                <a:latin typeface="Times New Roman" panose="02020603050405020304" pitchFamily="18" charset="0"/>
                <a:cs typeface="Times New Roman" panose="02020603050405020304" pitchFamily="18" charset="0"/>
              </a:rPr>
              <a:t>Results &amp; Evaluation</a:t>
            </a:r>
          </a:p>
        </p:txBody>
      </p:sp>
      <p:pic>
        <p:nvPicPr>
          <p:cNvPr id="3074" name="Picture 2">
            <a:extLst>
              <a:ext uri="{FF2B5EF4-FFF2-40B4-BE49-F238E27FC236}">
                <a16:creationId xmlns:a16="http://schemas.microsoft.com/office/drawing/2014/main" id="{B8B1EFCF-BE44-57DA-D80B-4982C20CC6E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2146490"/>
            <a:ext cx="10515600" cy="3709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4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A0DA75-A27C-26E3-D969-5A02EB9F38C0}"/>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altLang="en-US" sz="3300" b="1" kern="1200" dirty="0">
                <a:solidFill>
                  <a:schemeClr val="tx1"/>
                </a:solidFill>
                <a:latin typeface="Times New Roman" panose="02020603050405020304" pitchFamily="18" charset="0"/>
                <a:cs typeface="Times New Roman" panose="02020603050405020304" pitchFamily="18" charset="0"/>
              </a:rPr>
              <a:t>Evaluation</a:t>
            </a:r>
            <a:r>
              <a:rPr lang="en-US" altLang="en-US" sz="3300" b="1" kern="1200" dirty="0">
                <a:solidFill>
                  <a:schemeClr val="tx1"/>
                </a:solidFill>
                <a:latin typeface="+mj-lt"/>
                <a:ea typeface="+mj-ea"/>
                <a:cs typeface="+mj-cs"/>
              </a:rPr>
              <a:t> Results</a:t>
            </a:r>
            <a:br>
              <a:rPr lang="en-US" altLang="en-US" sz="3300" b="1" kern="1200" dirty="0">
                <a:solidFill>
                  <a:schemeClr val="tx1"/>
                </a:solidFill>
                <a:latin typeface="+mj-lt"/>
                <a:ea typeface="+mj-ea"/>
                <a:cs typeface="+mj-cs"/>
              </a:rPr>
            </a:br>
            <a:endParaRPr lang="en-US" sz="3300" kern="1200" dirty="0">
              <a:solidFill>
                <a:schemeClr val="tx1"/>
              </a:solidFill>
              <a:latin typeface="+mj-lt"/>
              <a:ea typeface="+mj-ea"/>
              <a:cs typeface="+mj-cs"/>
            </a:endParaRPr>
          </a:p>
        </p:txBody>
      </p:sp>
      <p:sp>
        <p:nvSpPr>
          <p:cNvPr id="23"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A59B94D-2E01-CBF2-7A48-075033622443}"/>
              </a:ext>
            </a:extLst>
          </p:cNvPr>
          <p:cNvSpPr txBox="1"/>
          <p:nvPr/>
        </p:nvSpPr>
        <p:spPr>
          <a:xfrm>
            <a:off x="4654295" y="502920"/>
            <a:ext cx="6894576" cy="1463040"/>
          </a:xfrm>
          <a:prstGeom prst="rect">
            <a:avLst/>
          </a:prstGeom>
        </p:spPr>
        <p:txBody>
          <a:bodyPr vert="horz" lIns="91440" tIns="45720" rIns="91440" bIns="45720" rtlCol="0" anchor="ctr">
            <a:normAutofit/>
          </a:bodyPr>
          <a:lstStyle/>
          <a:p>
            <a:pPr>
              <a:lnSpc>
                <a:spcPct val="90000"/>
              </a:lnSpc>
              <a:spcAft>
                <a:spcPts val="600"/>
              </a:spcAft>
            </a:pPr>
            <a:r>
              <a:rPr lang="en-US" sz="1400" b="1" dirty="0">
                <a:latin typeface="Times New Roman" panose="02020603050405020304" pitchFamily="18" charset="0"/>
                <a:cs typeface="Times New Roman" panose="02020603050405020304" pitchFamily="18" charset="0"/>
              </a:rPr>
              <a:t>Quick Insights</a:t>
            </a:r>
          </a:p>
          <a:p>
            <a:pPr indent="-228600">
              <a:lnSpc>
                <a:spcPct val="90000"/>
              </a:lnSpc>
              <a:spcAft>
                <a:spcPts val="600"/>
              </a:spcAf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BM25</a:t>
            </a:r>
            <a:r>
              <a:rPr lang="en-US" sz="1400" dirty="0">
                <a:latin typeface="Times New Roman" panose="02020603050405020304" pitchFamily="18" charset="0"/>
                <a:cs typeface="Times New Roman" panose="02020603050405020304" pitchFamily="18" charset="0"/>
              </a:rPr>
              <a:t> shows the highest accuracy scores (</a:t>
            </a:r>
            <a:r>
              <a:rPr lang="en-US" sz="1400" i="1" dirty="0">
                <a:latin typeface="Times New Roman" panose="02020603050405020304" pitchFamily="18" charset="0"/>
                <a:cs typeface="Times New Roman" panose="02020603050405020304" pitchFamily="18" charset="0"/>
              </a:rPr>
              <a:t>Fuzzy Match: 0.1344, Token F1: 0.1353</a:t>
            </a:r>
            <a:r>
              <a:rPr lang="en-US" sz="1400" dirty="0">
                <a:latin typeface="Times New Roman" panose="02020603050405020304" pitchFamily="18" charset="0"/>
                <a:cs typeface="Times New Roman" panose="02020603050405020304" pitchFamily="18" charset="0"/>
              </a:rPr>
              <a:t>)</a:t>
            </a:r>
          </a:p>
          <a:p>
            <a:pPr indent="-228600">
              <a:lnSpc>
                <a:spcPct val="90000"/>
              </a:lnSpc>
              <a:spcAft>
                <a:spcPts val="600"/>
              </a:spcAf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FAISS</a:t>
            </a:r>
            <a:r>
              <a:rPr lang="en-US" sz="1400" dirty="0">
                <a:latin typeface="Times New Roman" panose="02020603050405020304" pitchFamily="18" charset="0"/>
                <a:cs typeface="Times New Roman" panose="02020603050405020304" pitchFamily="18" charset="0"/>
              </a:rPr>
              <a:t> performs slightly slower but captures semantic relationships.</a:t>
            </a:r>
          </a:p>
          <a:p>
            <a:pPr indent="-228600">
              <a:lnSpc>
                <a:spcPct val="90000"/>
              </a:lnSpc>
              <a:spcAft>
                <a:spcPts val="600"/>
              </a:spcAf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Hybrid</a:t>
            </a:r>
            <a:r>
              <a:rPr lang="en-US" sz="1400" dirty="0">
                <a:latin typeface="Times New Roman" panose="02020603050405020304" pitchFamily="18" charset="0"/>
                <a:cs typeface="Times New Roman" panose="02020603050405020304" pitchFamily="18" charset="0"/>
              </a:rPr>
              <a:t> achieves </a:t>
            </a:r>
            <a:r>
              <a:rPr lang="en-US" sz="1400" i="1" dirty="0">
                <a:latin typeface="Times New Roman" panose="02020603050405020304" pitchFamily="18" charset="0"/>
                <a:cs typeface="Times New Roman" panose="02020603050405020304" pitchFamily="18" charset="0"/>
              </a:rPr>
              <a:t>sub-second latency</a:t>
            </a:r>
            <a:r>
              <a:rPr lang="en-US" sz="1400" dirty="0">
                <a:latin typeface="Times New Roman" panose="02020603050405020304" pitchFamily="18" charset="0"/>
                <a:cs typeface="Times New Roman" panose="02020603050405020304" pitchFamily="18" charset="0"/>
              </a:rPr>
              <a:t> — extremely fast.</a:t>
            </a:r>
          </a:p>
          <a:p>
            <a:pPr indent="-228600">
              <a:lnSpc>
                <a:spcPct val="90000"/>
              </a:lnSpc>
              <a:spcAft>
                <a:spcPts val="600"/>
              </a:spcAf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Hybrid + Web</a:t>
            </a:r>
            <a:r>
              <a:rPr lang="en-US" sz="1400" dirty="0">
                <a:latin typeface="Times New Roman" panose="02020603050405020304" pitchFamily="18" charset="0"/>
                <a:cs typeface="Times New Roman" panose="02020603050405020304" pitchFamily="18" charset="0"/>
              </a:rPr>
              <a:t> adds deep context but increases latency due to online search.</a:t>
            </a:r>
          </a:p>
        </p:txBody>
      </p:sp>
      <p:graphicFrame>
        <p:nvGraphicFramePr>
          <p:cNvPr id="8" name="Content Placeholder 7">
            <a:extLst>
              <a:ext uri="{FF2B5EF4-FFF2-40B4-BE49-F238E27FC236}">
                <a16:creationId xmlns:a16="http://schemas.microsoft.com/office/drawing/2014/main" id="{D8B65272-3C63-D5CE-7188-8ECCE023D962}"/>
              </a:ext>
            </a:extLst>
          </p:cNvPr>
          <p:cNvGraphicFramePr>
            <a:graphicFrameLocks noGrp="1"/>
          </p:cNvGraphicFramePr>
          <p:nvPr>
            <p:ph idx="1"/>
            <p:extLst>
              <p:ext uri="{D42A27DB-BD31-4B8C-83A1-F6EECF244321}">
                <p14:modId xmlns:p14="http://schemas.microsoft.com/office/powerpoint/2010/main" val="358455557"/>
              </p:ext>
            </p:extLst>
          </p:nvPr>
        </p:nvGraphicFramePr>
        <p:xfrm>
          <a:off x="630936" y="2321115"/>
          <a:ext cx="10917939" cy="3898995"/>
        </p:xfrm>
        <a:graphic>
          <a:graphicData uri="http://schemas.openxmlformats.org/drawingml/2006/table">
            <a:tbl>
              <a:tblPr firstRow="1" bandRow="1">
                <a:noFill/>
              </a:tblPr>
              <a:tblGrid>
                <a:gridCol w="1267769">
                  <a:extLst>
                    <a:ext uri="{9D8B030D-6E8A-4147-A177-3AD203B41FA5}">
                      <a16:colId xmlns:a16="http://schemas.microsoft.com/office/drawing/2014/main" val="266320857"/>
                    </a:ext>
                  </a:extLst>
                </a:gridCol>
                <a:gridCol w="1250510">
                  <a:extLst>
                    <a:ext uri="{9D8B030D-6E8A-4147-A177-3AD203B41FA5}">
                      <a16:colId xmlns:a16="http://schemas.microsoft.com/office/drawing/2014/main" val="1884687837"/>
                    </a:ext>
                  </a:extLst>
                </a:gridCol>
                <a:gridCol w="1674063">
                  <a:extLst>
                    <a:ext uri="{9D8B030D-6E8A-4147-A177-3AD203B41FA5}">
                      <a16:colId xmlns:a16="http://schemas.microsoft.com/office/drawing/2014/main" val="2664047690"/>
                    </a:ext>
                  </a:extLst>
                </a:gridCol>
                <a:gridCol w="1900857">
                  <a:extLst>
                    <a:ext uri="{9D8B030D-6E8A-4147-A177-3AD203B41FA5}">
                      <a16:colId xmlns:a16="http://schemas.microsoft.com/office/drawing/2014/main" val="1807588878"/>
                    </a:ext>
                  </a:extLst>
                </a:gridCol>
                <a:gridCol w="1900857">
                  <a:extLst>
                    <a:ext uri="{9D8B030D-6E8A-4147-A177-3AD203B41FA5}">
                      <a16:colId xmlns:a16="http://schemas.microsoft.com/office/drawing/2014/main" val="1022050677"/>
                    </a:ext>
                  </a:extLst>
                </a:gridCol>
                <a:gridCol w="1487658">
                  <a:extLst>
                    <a:ext uri="{9D8B030D-6E8A-4147-A177-3AD203B41FA5}">
                      <a16:colId xmlns:a16="http://schemas.microsoft.com/office/drawing/2014/main" val="1650454914"/>
                    </a:ext>
                  </a:extLst>
                </a:gridCol>
                <a:gridCol w="1436225">
                  <a:extLst>
                    <a:ext uri="{9D8B030D-6E8A-4147-A177-3AD203B41FA5}">
                      <a16:colId xmlns:a16="http://schemas.microsoft.com/office/drawing/2014/main" val="3257232748"/>
                    </a:ext>
                  </a:extLst>
                </a:gridCol>
              </a:tblGrid>
              <a:tr h="1339844">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Model</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Avg Fuzzy Match</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Avg Token F1</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p50 Latency (s)</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p95 Latency (s)</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Avg Cost ($)</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tc>
                  <a:txBody>
                    <a:bodyPr/>
                    <a:lstStyle/>
                    <a:p>
                      <a:pPr>
                        <a:buNone/>
                      </a:pPr>
                      <a:r>
                        <a:rPr lang="en-US" sz="2400" b="0" cap="none" spc="60">
                          <a:solidFill>
                            <a:schemeClr val="bg1"/>
                          </a:solidFill>
                          <a:latin typeface="Times New Roman" panose="02020603050405020304" pitchFamily="18" charset="0"/>
                          <a:cs typeface="Times New Roman" panose="02020603050405020304" pitchFamily="18" charset="0"/>
                        </a:rPr>
                        <a:t>Total Queries</a:t>
                      </a:r>
                    </a:p>
                  </a:txBody>
                  <a:tcPr marL="137666" marR="137666" marT="137666" marB="68832"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400572662"/>
                  </a:ext>
                </a:extLst>
              </a:tr>
              <a:tr h="561083">
                <a:tc>
                  <a:txBody>
                    <a:bodyPr/>
                    <a:lstStyle/>
                    <a:p>
                      <a:pPr>
                        <a:buNone/>
                      </a:pPr>
                      <a:r>
                        <a:rPr lang="en-US" sz="2100" b="1" cap="none" spc="0">
                          <a:solidFill>
                            <a:schemeClr val="tx1"/>
                          </a:solidFill>
                          <a:latin typeface="Times New Roman" panose="02020603050405020304" pitchFamily="18" charset="0"/>
                          <a:cs typeface="Times New Roman" panose="02020603050405020304" pitchFamily="18" charset="0"/>
                        </a:rPr>
                        <a:t>BM25</a:t>
                      </a:r>
                      <a:endParaRPr lang="en-US" sz="2100" cap="none" spc="0">
                        <a:solidFill>
                          <a:schemeClr val="tx1"/>
                        </a:solidFill>
                        <a:latin typeface="Times New Roman" panose="02020603050405020304" pitchFamily="18" charset="0"/>
                        <a:cs typeface="Times New Roman" panose="02020603050405020304" pitchFamily="18" charset="0"/>
                      </a:endParaRP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0.1344</a:t>
                      </a: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100" cap="none" spc="0" dirty="0">
                          <a:solidFill>
                            <a:schemeClr val="tx1"/>
                          </a:solidFill>
                          <a:latin typeface="Times New Roman" panose="02020603050405020304" pitchFamily="18" charset="0"/>
                          <a:cs typeface="Times New Roman" panose="02020603050405020304" pitchFamily="18" charset="0"/>
                        </a:rPr>
                        <a:t>0.1353</a:t>
                      </a: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2.6226</a:t>
                      </a: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3.7614</a:t>
                      </a: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0.0010</a:t>
                      </a: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42</a:t>
                      </a:r>
                    </a:p>
                  </a:txBody>
                  <a:tcPr marL="137666" marR="137666" marT="137666" marB="68832"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979222131"/>
                  </a:ext>
                </a:extLst>
              </a:tr>
              <a:tr h="561083">
                <a:tc>
                  <a:txBody>
                    <a:bodyPr/>
                    <a:lstStyle/>
                    <a:p>
                      <a:pPr>
                        <a:buNone/>
                      </a:pPr>
                      <a:r>
                        <a:rPr lang="en-US" sz="2100" b="1" cap="none" spc="0">
                          <a:solidFill>
                            <a:schemeClr val="tx1"/>
                          </a:solidFill>
                          <a:latin typeface="Times New Roman" panose="02020603050405020304" pitchFamily="18" charset="0"/>
                          <a:cs typeface="Times New Roman" panose="02020603050405020304" pitchFamily="18" charset="0"/>
                        </a:rPr>
                        <a:t>FAISS</a:t>
                      </a:r>
                      <a:endParaRPr lang="en-US" sz="2100" cap="none" spc="0">
                        <a:solidFill>
                          <a:schemeClr val="tx1"/>
                        </a:solidFill>
                        <a:latin typeface="Times New Roman" panose="02020603050405020304" pitchFamily="18" charset="0"/>
                        <a:cs typeface="Times New Roman" panose="02020603050405020304" pitchFamily="18" charset="0"/>
                      </a:endParaRP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0.1199</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0.1092</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2.7594</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3.8694</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0.0008</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42</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495367577"/>
                  </a:ext>
                </a:extLst>
              </a:tr>
              <a:tr h="561083">
                <a:tc>
                  <a:txBody>
                    <a:bodyPr/>
                    <a:lstStyle/>
                    <a:p>
                      <a:pPr>
                        <a:buNone/>
                      </a:pPr>
                      <a:r>
                        <a:rPr lang="en-US" sz="2100" b="1" cap="none" spc="0">
                          <a:solidFill>
                            <a:schemeClr val="tx1"/>
                          </a:solidFill>
                          <a:latin typeface="Times New Roman" panose="02020603050405020304" pitchFamily="18" charset="0"/>
                          <a:cs typeface="Times New Roman" panose="02020603050405020304" pitchFamily="18" charset="0"/>
                        </a:rPr>
                        <a:t>Hybrid</a:t>
                      </a:r>
                      <a:endParaRPr lang="en-US" sz="2100" cap="none" spc="0">
                        <a:solidFill>
                          <a:schemeClr val="tx1"/>
                        </a:solidFill>
                        <a:latin typeface="Times New Roman" panose="02020603050405020304" pitchFamily="18" charset="0"/>
                        <a:cs typeface="Times New Roman" panose="02020603050405020304" pitchFamily="18" charset="0"/>
                      </a:endParaRP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0.0891</a:t>
                      </a: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0.0405</a:t>
                      </a: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0.0803</a:t>
                      </a: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0.0875</a:t>
                      </a: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0.0000</a:t>
                      </a: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42</a:t>
                      </a:r>
                    </a:p>
                  </a:txBody>
                  <a:tcPr marL="137666" marR="137666" marT="137666" marB="68832"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86225524"/>
                  </a:ext>
                </a:extLst>
              </a:tr>
              <a:tr h="875902">
                <a:tc>
                  <a:txBody>
                    <a:bodyPr/>
                    <a:lstStyle/>
                    <a:p>
                      <a:pPr>
                        <a:buNone/>
                      </a:pPr>
                      <a:r>
                        <a:rPr lang="en-US" sz="2100" b="1" cap="none" spc="0">
                          <a:solidFill>
                            <a:schemeClr val="tx1"/>
                          </a:solidFill>
                          <a:latin typeface="Times New Roman" panose="02020603050405020304" pitchFamily="18" charset="0"/>
                          <a:cs typeface="Times New Roman" panose="02020603050405020304" pitchFamily="18" charset="0"/>
                        </a:rPr>
                        <a:t>Hybrid + Web</a:t>
                      </a:r>
                      <a:endParaRPr lang="en-US" sz="2100" cap="none" spc="0">
                        <a:solidFill>
                          <a:schemeClr val="tx1"/>
                        </a:solidFill>
                        <a:latin typeface="Times New Roman" panose="02020603050405020304" pitchFamily="18" charset="0"/>
                        <a:cs typeface="Times New Roman" panose="02020603050405020304" pitchFamily="18" charset="0"/>
                      </a:endParaRP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0.0892</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0.0405</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0.3548</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20.0694</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a:solidFill>
                            <a:schemeClr val="tx1"/>
                          </a:solidFill>
                          <a:latin typeface="Times New Roman" panose="02020603050405020304" pitchFamily="18" charset="0"/>
                          <a:cs typeface="Times New Roman" panose="02020603050405020304" pitchFamily="18" charset="0"/>
                        </a:rPr>
                        <a:t>0.0000</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2100" cap="none" spc="0" dirty="0">
                          <a:solidFill>
                            <a:schemeClr val="tx1"/>
                          </a:solidFill>
                          <a:latin typeface="Times New Roman" panose="02020603050405020304" pitchFamily="18" charset="0"/>
                          <a:cs typeface="Times New Roman" panose="02020603050405020304" pitchFamily="18" charset="0"/>
                        </a:rPr>
                        <a:t>42</a:t>
                      </a:r>
                    </a:p>
                  </a:txBody>
                  <a:tcPr marL="137666" marR="137666" marT="137666" marB="6883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78832146"/>
                  </a:ext>
                </a:extLst>
              </a:tr>
            </a:tbl>
          </a:graphicData>
        </a:graphic>
      </p:graphicFrame>
    </p:spTree>
    <p:extLst>
      <p:ext uri="{BB962C8B-B14F-4D97-AF65-F5344CB8AC3E}">
        <p14:creationId xmlns:p14="http://schemas.microsoft.com/office/powerpoint/2010/main" val="1953029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35F9-75A7-8E84-02E8-7216907E1F17}"/>
              </a:ext>
            </a:extLst>
          </p:cNvPr>
          <p:cNvSpPr>
            <a:spLocks noGrp="1"/>
          </p:cNvSpPr>
          <p:nvPr>
            <p:ph type="title"/>
          </p:nvPr>
        </p:nvSpPr>
        <p:spPr/>
        <p:txBody>
          <a:bodyPr>
            <a:normAutofit/>
          </a:bodyPr>
          <a:lstStyle/>
          <a:p>
            <a:r>
              <a:rPr lang="en-US" sz="33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4506F71-64B4-EED9-15A9-A61244B20137}"/>
              </a:ext>
            </a:extLst>
          </p:cNvPr>
          <p:cNvSpPr>
            <a:spLocks noGrp="1"/>
          </p:cNvSpPr>
          <p:nvPr>
            <p:ph idx="1"/>
          </p:nvPr>
        </p:nvSpPr>
        <p:spPr>
          <a:xfrm>
            <a:off x="838199" y="1825625"/>
            <a:ext cx="10900719" cy="4351338"/>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Through this project, we were able to develop Adaptive Multi-Hop RAG system in Mahabharata question answering in order to show that ancient cultural heritage texts can be accessed using natural language queries by intelligent retrieval strategies. Assessment of 1,574 documents under four system configurations showed some unexpected results: FAISS-Only semantic search produced the best quality answers (Token F1 = 0.137), BM25 key word search provided the best speed (0.74s latency) and on the other end, naive hybrid retrievals led to worse results instead of the expected improvement. It is astonishingly cost-efficient with the price less than $0.001 per query, and the source lists are transparent. However, most importantly, we understood that web improvement, which is suitable to a contemporary theme, prevents the quality of historical text by 63% because of anachronic interpretation. The work forms the basis of scalable cross-cultural heritage text question answering with future advances that put expert-annotated test sets and query decomposition-based true multi-hop reasoning by LLM and advanced retrieval fusion algorithms with reranking, which enables the full potential of hybrid methods.</a:t>
            </a:r>
          </a:p>
        </p:txBody>
      </p:sp>
    </p:spTree>
    <p:extLst>
      <p:ext uri="{BB962C8B-B14F-4D97-AF65-F5344CB8AC3E}">
        <p14:creationId xmlns:p14="http://schemas.microsoft.com/office/powerpoint/2010/main" val="3297186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220</TotalTime>
  <Words>4496</Words>
  <Application>Microsoft Office PowerPoint</Application>
  <PresentationFormat>Widescreen</PresentationFormat>
  <Paragraphs>291</Paragraphs>
  <Slides>16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Times New Roman</vt:lpstr>
      <vt:lpstr>Office Theme</vt:lpstr>
      <vt:lpstr>Adaptive Multi-Hop RAG for Mahabharata Question Answering</vt:lpstr>
      <vt:lpstr>Outline</vt:lpstr>
      <vt:lpstr>Introduction - Why This Matters Title: Bridging Ancient Texts with Modern AI </vt:lpstr>
      <vt:lpstr>Problem Statement &amp; Motivation</vt:lpstr>
      <vt:lpstr>System Architecture &amp; Design</vt:lpstr>
      <vt:lpstr>System Workflow – How It Works</vt:lpstr>
      <vt:lpstr>Dataset Overview </vt:lpstr>
      <vt:lpstr>Operational Flow of the RAG System</vt:lpstr>
      <vt:lpstr>DATA PREPARATION</vt:lpstr>
      <vt:lpstr>Dual Indexing Architecture</vt:lpstr>
      <vt:lpstr>Query Classification &amp; Adaptive Routing</vt:lpstr>
      <vt:lpstr>Grounded Answer Generation with LLaMA 3.3-70B</vt:lpstr>
      <vt:lpstr>Interactive Chatbot: End-to-End RAG in Action</vt:lpstr>
      <vt:lpstr>Results &amp; Evaluation</vt:lpstr>
      <vt:lpstr>Evaluation Results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Bhargav_Prasad_ 22736857</dc:creator>
  <cp:lastModifiedBy>Veerla, Supriya</cp:lastModifiedBy>
  <cp:revision>4</cp:revision>
  <dcterms:created xsi:type="dcterms:W3CDTF">2025-11-27T04:40:38Z</dcterms:created>
  <dcterms:modified xsi:type="dcterms:W3CDTF">2026-05-04T13:08:10Z</dcterms:modified>
</cp:coreProperties>
</file>